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3714750" cy="8039100"/>
  <p:notesSz cx="3714750" cy="803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714750" cy="80391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714750" cy="59055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200025"/>
            <a:ext cx="27075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en-US" sz="11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2876550" y="304800"/>
            <a:ext cx="28575" cy="38100"/>
          </a:xfrm>
          <a:prstGeom prst="roundRect">
            <a:avLst>
              <a:gd name="adj" fmla="val 33333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2924175" y="285750"/>
            <a:ext cx="28575" cy="57150"/>
          </a:xfrm>
          <a:prstGeom prst="roundRect">
            <a:avLst>
              <a:gd name="adj" fmla="val 33333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971800" y="261938"/>
            <a:ext cx="28575" cy="80963"/>
          </a:xfrm>
          <a:prstGeom prst="roundRect">
            <a:avLst>
              <a:gd name="adj" fmla="val 33333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3019425" y="238125"/>
            <a:ext cx="28575" cy="104775"/>
          </a:xfrm>
          <a:prstGeom prst="roundRect">
            <a:avLst>
              <a:gd name="adj" fmla="val 33333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3107290" y="258842"/>
            <a:ext cx="71920" cy="26673"/>
          </a:xfrm>
          <a:custGeom>
            <a:avLst/>
            <a:gdLst/>
            <a:ahLst/>
            <a:cxnLst/>
            <a:rect l="0" t="0" r="r" b="b"/>
            <a:pathLst>
              <a:path w="71920" h="26673">
                <a:moveTo>
                  <a:pt x="2622" y="13964"/>
                </a:moveTo>
                <a:quadBezTo>
                  <a:pt x="18229" y="0"/>
                  <a:pt x="35960" y="0"/>
                </a:quadBezTo>
                <a:quadBezTo>
                  <a:pt x="53691" y="0"/>
                  <a:pt x="69298" y="13964"/>
                </a:quadBezTo>
                <a:quadBezTo>
                  <a:pt x="71588" y="15897"/>
                  <a:pt x="71668" y="18892"/>
                </a:quadBezTo>
                <a:quadBezTo>
                  <a:pt x="71920" y="21877"/>
                  <a:pt x="69859" y="24052"/>
                </a:quadBezTo>
                <a:quadBezTo>
                  <a:pt x="67926" y="26341"/>
                  <a:pt x="64931" y="26421"/>
                </a:quadBezTo>
                <a:quadBezTo>
                  <a:pt x="61946" y="26673"/>
                  <a:pt x="59772" y="24612"/>
                </a:quadBezTo>
                <a:quadBezTo>
                  <a:pt x="48232" y="14288"/>
                  <a:pt x="35960" y="14288"/>
                </a:quadBezTo>
                <a:quadBezTo>
                  <a:pt x="23687" y="14288"/>
                  <a:pt x="12148" y="24612"/>
                </a:quadBezTo>
                <a:quadBezTo>
                  <a:pt x="9974" y="26673"/>
                  <a:pt x="6989" y="26421"/>
                </a:quadBezTo>
                <a:quadBezTo>
                  <a:pt x="3994" y="26341"/>
                  <a:pt x="2061" y="24052"/>
                </a:quadBezTo>
                <a:quadBezTo>
                  <a:pt x="0" y="21877"/>
                  <a:pt x="252" y="18892"/>
                </a:quadBezTo>
                <a:quadBezTo>
                  <a:pt x="332" y="15897"/>
                  <a:pt x="2622" y="13964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3126332" y="285611"/>
            <a:ext cx="38599" cy="27535"/>
          </a:xfrm>
          <a:custGeom>
            <a:avLst/>
            <a:gdLst/>
            <a:ahLst/>
            <a:cxnLst/>
            <a:rect l="0" t="0" r="r" b="b"/>
            <a:pathLst>
              <a:path w="38599" h="27535">
                <a:moveTo>
                  <a:pt x="2647" y="14802"/>
                </a:moveTo>
                <a:quadBezTo>
                  <a:pt x="19300" y="0"/>
                  <a:pt x="35952" y="14802"/>
                </a:quadBezTo>
                <a:quadBezTo>
                  <a:pt x="38247" y="16727"/>
                  <a:pt x="38337" y="19722"/>
                </a:quadBezTo>
                <a:quadBezTo>
                  <a:pt x="38599" y="22706"/>
                  <a:pt x="36545" y="24887"/>
                </a:quadBezTo>
                <a:quadBezTo>
                  <a:pt x="34620" y="27183"/>
                  <a:pt x="31625" y="27273"/>
                </a:quadBezTo>
                <a:quadBezTo>
                  <a:pt x="28641" y="27535"/>
                  <a:pt x="26460" y="25481"/>
                </a:quadBezTo>
                <a:quadBezTo>
                  <a:pt x="22060" y="21570"/>
                  <a:pt x="19300" y="21570"/>
                </a:quadBezTo>
                <a:quadBezTo>
                  <a:pt x="16539" y="21570"/>
                  <a:pt x="12139" y="25481"/>
                </a:quadBezTo>
                <a:quadBezTo>
                  <a:pt x="9958" y="27535"/>
                  <a:pt x="6974" y="27273"/>
                </a:quadBezTo>
                <a:quadBezTo>
                  <a:pt x="3979" y="27183"/>
                  <a:pt x="2054" y="24887"/>
                </a:quadBezTo>
                <a:quadBezTo>
                  <a:pt x="0" y="22706"/>
                  <a:pt x="262" y="19722"/>
                </a:quadBezTo>
                <a:quadBezTo>
                  <a:pt x="352" y="16727"/>
                  <a:pt x="2647" y="14802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3135630" y="320040"/>
            <a:ext cx="19050" cy="19050"/>
          </a:xfrm>
          <a:prstGeom prst="ellipse">
            <a:avLst/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3248025" y="247650"/>
            <a:ext cx="219075" cy="95250"/>
          </a:xfrm>
          <a:prstGeom prst="roundRect">
            <a:avLst>
              <a:gd name="adj" fmla="val 25999"/>
            </a:avLst>
          </a:prstGeom>
          <a:noFill/>
          <a:ln w="12382">
            <a:solidFill>
              <a:srgbClr val="211A15">
                <a:alpha val="4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3263265" y="262890"/>
            <a:ext cx="138113" cy="64770"/>
          </a:xfrm>
          <a:prstGeom prst="roundRect">
            <a:avLst>
              <a:gd name="adj" fmla="val 20588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3478920" y="274710"/>
            <a:ext cx="14460" cy="41130"/>
          </a:xfrm>
          <a:custGeom>
            <a:avLst/>
            <a:gdLst/>
            <a:ahLst/>
            <a:cxnLst/>
            <a:rect l="0" t="0" r="r" b="b"/>
            <a:pathLst>
              <a:path w="14460" h="41130">
                <a:moveTo>
                  <a:pt x="14374" y="7230"/>
                </a:moveTo>
                <a:lnTo>
                  <a:pt x="14374" y="33900"/>
                </a:lnTo>
                <a:quadBezTo>
                  <a:pt x="14460" y="36895"/>
                  <a:pt x="12281" y="38951"/>
                </a:quadBezTo>
                <a:quadBezTo>
                  <a:pt x="10225" y="41130"/>
                  <a:pt x="7230" y="41044"/>
                </a:quadBezTo>
                <a:quadBezTo>
                  <a:pt x="4235" y="41130"/>
                  <a:pt x="2179" y="38951"/>
                </a:quadBezTo>
                <a:quadBezTo>
                  <a:pt x="0" y="36895"/>
                  <a:pt x="86" y="33900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quadBezTo>
                  <a:pt x="14460" y="4235"/>
                  <a:pt x="14374" y="7230"/>
                </a:quadBezTo>
                <a:close/>
              </a:path>
            </a:pathLst>
          </a:custGeom>
          <a:solidFill>
            <a:srgbClr val="211A15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14313" y="671513"/>
            <a:ext cx="123825" cy="142875"/>
          </a:xfrm>
          <a:prstGeom prst="roundRect">
            <a:avLst>
              <a:gd name="adj" fmla="val 18461"/>
            </a:avLst>
          </a:prstGeom>
          <a:noFill/>
          <a:ln w="16193">
            <a:solidFill>
              <a:srgbClr val="B45309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244219" y="639591"/>
            <a:ext cx="140213" cy="126793"/>
          </a:xfrm>
          <a:custGeom>
            <a:avLst/>
            <a:gdLst/>
            <a:ahLst/>
            <a:cxnLst/>
            <a:rect l="0" t="0" r="r" b="b"/>
            <a:pathLst>
              <a:path w="140213" h="126793">
                <a:moveTo>
                  <a:pt x="98" y="31922"/>
                </a:moveTo>
                <a:lnTo>
                  <a:pt x="98" y="23349"/>
                </a:lnTo>
                <a:quadBezTo>
                  <a:pt x="98" y="13683"/>
                  <a:pt x="6933" y="6848"/>
                </a:quadBezTo>
                <a:quadBezTo>
                  <a:pt x="13768" y="13"/>
                  <a:pt x="23434" y="13"/>
                </a:quadBezTo>
                <a:lnTo>
                  <a:pt x="112016" y="13"/>
                </a:lnTo>
                <a:quadBezTo>
                  <a:pt x="123265" y="0"/>
                  <a:pt x="131418" y="7764"/>
                </a:quadBezTo>
                <a:quadBezTo>
                  <a:pt x="139570" y="15528"/>
                  <a:pt x="140106" y="26774"/>
                </a:quadBezTo>
                <a:lnTo>
                  <a:pt x="140115" y="26966"/>
                </a:lnTo>
                <a:lnTo>
                  <a:pt x="140115" y="118599"/>
                </a:lnTo>
                <a:quadBezTo>
                  <a:pt x="140213" y="121993"/>
                  <a:pt x="137744" y="124324"/>
                </a:quadBezTo>
                <a:quadBezTo>
                  <a:pt x="135413" y="126793"/>
                  <a:pt x="132019" y="126695"/>
                </a:quadBezTo>
                <a:quadBezTo>
                  <a:pt x="128625" y="126793"/>
                  <a:pt x="126294" y="124324"/>
                </a:quadBezTo>
                <a:quadBezTo>
                  <a:pt x="123825" y="121993"/>
                  <a:pt x="123923" y="118599"/>
                </a:quadBezTo>
                <a:lnTo>
                  <a:pt x="123923" y="27374"/>
                </a:lnTo>
                <a:quadBezTo>
                  <a:pt x="123643" y="22721"/>
                  <a:pt x="120250" y="19490"/>
                </a:quadBezTo>
                <a:quadBezTo>
                  <a:pt x="116796" y="16200"/>
                  <a:pt x="112016" y="16205"/>
                </a:quadBezTo>
                <a:lnTo>
                  <a:pt x="23434" y="16205"/>
                </a:lnTo>
                <a:quadBezTo>
                  <a:pt x="20475" y="16205"/>
                  <a:pt x="18383" y="18298"/>
                </a:quadBezTo>
                <a:quadBezTo>
                  <a:pt x="16290" y="20390"/>
                  <a:pt x="16290" y="23349"/>
                </a:quadBezTo>
                <a:lnTo>
                  <a:pt x="16290" y="31922"/>
                </a:lnTo>
                <a:quadBezTo>
                  <a:pt x="16388" y="35316"/>
                  <a:pt x="13919" y="37646"/>
                </a:quadBezTo>
                <a:quadBezTo>
                  <a:pt x="11588" y="40115"/>
                  <a:pt x="8194" y="40018"/>
                </a:quadBezTo>
                <a:quadBezTo>
                  <a:pt x="4800" y="40115"/>
                  <a:pt x="2469" y="37646"/>
                </a:quadBezTo>
                <a:quadBezTo>
                  <a:pt x="0" y="35316"/>
                  <a:pt x="98" y="31922"/>
                </a:quadBez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239456" y="710944"/>
            <a:ext cx="73538" cy="49725"/>
          </a:xfrm>
          <a:custGeom>
            <a:avLst/>
            <a:gdLst/>
            <a:ahLst/>
            <a:cxnLst/>
            <a:rect l="0" t="0" r="r" b="b"/>
            <a:pathLst>
              <a:path w="73538" h="49725">
                <a:moveTo>
                  <a:pt x="8194" y="98"/>
                </a:moveTo>
                <a:lnTo>
                  <a:pt x="65344" y="98"/>
                </a:lnTo>
                <a:quadBezTo>
                  <a:pt x="68738" y="0"/>
                  <a:pt x="71069" y="2469"/>
                </a:quadBezTo>
                <a:quadBezTo>
                  <a:pt x="73538" y="4800"/>
                  <a:pt x="73440" y="8194"/>
                </a:quadBezTo>
                <a:quadBezTo>
                  <a:pt x="73538" y="11588"/>
                  <a:pt x="71069" y="13919"/>
                </a:quadBezTo>
                <a:quadBezTo>
                  <a:pt x="68738" y="16388"/>
                  <a:pt x="65344" y="16290"/>
                </a:quadBezTo>
                <a:lnTo>
                  <a:pt x="8194" y="16290"/>
                </a:lnTo>
                <a:quadBezTo>
                  <a:pt x="4800" y="16388"/>
                  <a:pt x="2469" y="13919"/>
                </a:quadBezTo>
                <a:quadBezTo>
                  <a:pt x="0" y="11588"/>
                  <a:pt x="98" y="8194"/>
                </a:quadBezTo>
                <a:quadBezTo>
                  <a:pt x="0" y="4800"/>
                  <a:pt x="2469" y="2469"/>
                </a:quadBezTo>
                <a:quadBezTo>
                  <a:pt x="4800" y="0"/>
                  <a:pt x="8194" y="98"/>
                </a:quadBezTo>
                <a:close/>
                <a:moveTo>
                  <a:pt x="8194" y="33435"/>
                </a:moveTo>
                <a:lnTo>
                  <a:pt x="46294" y="33435"/>
                </a:lnTo>
                <a:quadBezTo>
                  <a:pt x="49688" y="33338"/>
                  <a:pt x="52019" y="35807"/>
                </a:quadBezTo>
                <a:quadBezTo>
                  <a:pt x="54488" y="38137"/>
                  <a:pt x="54390" y="41531"/>
                </a:quadBezTo>
                <a:quadBezTo>
                  <a:pt x="54488" y="44925"/>
                  <a:pt x="52019" y="47256"/>
                </a:quadBezTo>
                <a:quadBezTo>
                  <a:pt x="49688" y="49725"/>
                  <a:pt x="46294" y="49628"/>
                </a:quadBezTo>
                <a:lnTo>
                  <a:pt x="8194" y="49628"/>
                </a:lnTo>
                <a:quadBezTo>
                  <a:pt x="4800" y="49725"/>
                  <a:pt x="2469" y="47256"/>
                </a:quadBezTo>
                <a:quadBezTo>
                  <a:pt x="0" y="44925"/>
                  <a:pt x="98" y="41531"/>
                </a:quadBezTo>
                <a:quadBezTo>
                  <a:pt x="0" y="38137"/>
                  <a:pt x="2469" y="35807"/>
                </a:quadBezTo>
                <a:quadBezTo>
                  <a:pt x="4800" y="33338"/>
                  <a:pt x="8194" y="33435"/>
                </a:quadBez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476250" y="628650"/>
            <a:ext cx="1143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1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安全生产知识题库</a:t>
            </a:r>
          </a:p>
        </p:txBody>
      </p:sp>
      <p:sp>
        <p:nvSpPr>
          <p:cNvPr id="19" name="Path"/>
          <p:cNvSpPr/>
          <p:nvPr/>
        </p:nvSpPr>
        <p:spPr>
          <a:xfrm>
            <a:off x="1734399" y="705699"/>
            <a:ext cx="93552" cy="55452"/>
          </a:xfrm>
          <a:custGeom>
            <a:avLst/>
            <a:gdLst/>
            <a:ahLst/>
            <a:cxnLst/>
            <a:rect l="0" t="0" r="r" b="b"/>
            <a:pathLst>
              <a:path w="93552" h="55452">
                <a:moveTo>
                  <a:pt x="14738" y="2614"/>
                </a:moveTo>
                <a:lnTo>
                  <a:pt x="46776" y="34653"/>
                </a:lnTo>
                <a:lnTo>
                  <a:pt x="78814" y="2614"/>
                </a:lnTo>
                <a:quadBezTo>
                  <a:pt x="81282" y="0"/>
                  <a:pt x="84876" y="103"/>
                </a:quadBezTo>
                <a:quadBezTo>
                  <a:pt x="88470" y="0"/>
                  <a:pt x="90938" y="2614"/>
                </a:quadBezTo>
                <a:quadBezTo>
                  <a:pt x="93552" y="5082"/>
                  <a:pt x="93448" y="8676"/>
                </a:quadBezTo>
                <a:quadBezTo>
                  <a:pt x="93552" y="12270"/>
                  <a:pt x="90938" y="14738"/>
                </a:quadBezTo>
                <a:lnTo>
                  <a:pt x="52838" y="52838"/>
                </a:lnTo>
                <a:quadBezTo>
                  <a:pt x="50370" y="55452"/>
                  <a:pt x="46776" y="55348"/>
                </a:quadBezTo>
                <a:quadBezTo>
                  <a:pt x="43182" y="55452"/>
                  <a:pt x="40714" y="52838"/>
                </a:quadBezTo>
                <a:lnTo>
                  <a:pt x="2614" y="14738"/>
                </a:lnTo>
                <a:quadBezTo>
                  <a:pt x="0" y="12270"/>
                  <a:pt x="103" y="8676"/>
                </a:quadBezTo>
                <a:quadBezTo>
                  <a:pt x="0" y="5082"/>
                  <a:pt x="2614" y="2614"/>
                </a:quadBezTo>
                <a:quadBezTo>
                  <a:pt x="5082" y="0"/>
                  <a:pt x="8676" y="103"/>
                </a:quadBezTo>
                <a:quadBezTo>
                  <a:pt x="12270" y="0"/>
                  <a:pt x="14738" y="2614"/>
                </a:quadBez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90500" y="1000125"/>
            <a:ext cx="1087803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10 月 9 日 · 星期五</a:t>
            </a:r>
          </a:p>
        </p:txBody>
      </p:sp>
      <p:sp>
        <p:nvSpPr>
          <p:cNvPr id="21" name="Rectangle"/>
          <p:cNvSpPr/>
          <p:nvPr/>
        </p:nvSpPr>
        <p:spPr>
          <a:xfrm>
            <a:off x="2762250" y="971550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2857500" y="1019175"/>
            <a:ext cx="5692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本周 3/5 天</a:t>
            </a:r>
          </a:p>
        </p:txBody>
      </p:sp>
      <p:sp>
        <p:nvSpPr>
          <p:cNvPr id="23" name="Rectangle"/>
          <p:cNvSpPr/>
          <p:nvPr/>
        </p:nvSpPr>
        <p:spPr>
          <a:xfrm>
            <a:off x="190500" y="1352550"/>
            <a:ext cx="3333750" cy="2457450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381000" y="1571625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6F6862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今日任务</a:t>
            </a:r>
          </a:p>
        </p:txBody>
      </p:sp>
      <p:sp>
        <p:nvSpPr>
          <p:cNvPr id="25" name="Rectangle"/>
          <p:cNvSpPr/>
          <p:nvPr/>
        </p:nvSpPr>
        <p:spPr>
          <a:xfrm>
            <a:off x="2390775" y="1543050"/>
            <a:ext cx="942975" cy="24765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2486025" y="1590675"/>
            <a:ext cx="7495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900">
                <a:solidFill>
                  <a:srgbClr val="6F6862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每日目标 20 题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381000" y="1924050"/>
            <a:ext cx="480064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200"/>
              </a:lnSpc>
            </a:pPr>
            <a:r>
              <a:rPr lang="en-US" sz="3900">
                <a:solidFill>
                  <a:srgbClr val="211A15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Inter Tight Bold"/>
                <a:ea typeface="Inter Tight Bold"/>
                <a:cs typeface="Inter Tight Bold"/>
              </a:rPr>
              <a:t>12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942975" y="1924050"/>
            <a:ext cx="428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6F6862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题待学</a:t>
            </a:r>
          </a:p>
        </p:txBody>
      </p:sp>
      <p:sp>
        <p:nvSpPr>
          <p:cNvPr id="29" name="Rectangle"/>
          <p:cNvSpPr/>
          <p:nvPr/>
        </p:nvSpPr>
        <p:spPr>
          <a:xfrm>
            <a:off x="381000" y="2590800"/>
            <a:ext cx="2952750" cy="76200"/>
          </a:xfrm>
          <a:prstGeom prst="roundRect">
            <a:avLst>
              <a:gd name="adj" fmla="val 50000"/>
            </a:avLst>
          </a:prstGeom>
          <a:solidFill>
            <a:srgbClr val="EFE9E0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381000" y="2590800"/>
            <a:ext cx="1266825" cy="76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381000" y="2800350"/>
            <a:ext cx="111553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57504A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已学 8 题 · 剩 12 题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2705100" y="2800350"/>
            <a:ext cx="61949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8A827B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预计 6 分钟</a:t>
            </a:r>
          </a:p>
        </p:txBody>
      </p:sp>
      <p:sp>
        <p:nvSpPr>
          <p:cNvPr id="33" name="Rectangle"/>
          <p:cNvSpPr/>
          <p:nvPr/>
        </p:nvSpPr>
        <p:spPr>
          <a:xfrm>
            <a:off x="381000" y="3124200"/>
            <a:ext cx="2952750" cy="49530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552575" y="3267075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开始学习</a:t>
            </a:r>
          </a:p>
        </p:txBody>
      </p:sp>
      <p:sp>
        <p:nvSpPr>
          <p:cNvPr id="35" name="Rectangle"/>
          <p:cNvSpPr/>
          <p:nvPr/>
        </p:nvSpPr>
        <p:spPr>
          <a:xfrm>
            <a:off x="190500" y="3943350"/>
            <a:ext cx="3333750" cy="666750"/>
          </a:xfrm>
          <a:prstGeom prst="roundRect">
            <a:avLst>
              <a:gd name="adj" fmla="val 22857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Ellipse"/>
          <p:cNvSpPr/>
          <p:nvPr/>
        </p:nvSpPr>
        <p:spPr>
          <a:xfrm>
            <a:off x="342900" y="4200525"/>
            <a:ext cx="152400" cy="152400"/>
          </a:xfrm>
          <a:prstGeom prst="ellipse">
            <a:avLst/>
          </a:prstGeom>
          <a:noFill/>
          <a:ln w="15240">
            <a:solidFill>
              <a:srgbClr val="8A3D09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7" name="Path"/>
          <p:cNvSpPr/>
          <p:nvPr/>
        </p:nvSpPr>
        <p:spPr>
          <a:xfrm>
            <a:off x="411388" y="4227103"/>
            <a:ext cx="44543" cy="75023"/>
          </a:xfrm>
          <a:custGeom>
            <a:avLst/>
            <a:gdLst/>
            <a:ahLst/>
            <a:cxnLst/>
            <a:rect l="0" t="0" r="r" b="b"/>
            <a:pathLst>
              <a:path w="44543" h="75023">
                <a:moveTo>
                  <a:pt x="15332" y="7712"/>
                </a:moveTo>
                <a:lnTo>
                  <a:pt x="15332" y="45308"/>
                </a:lnTo>
                <a:lnTo>
                  <a:pt x="40207" y="60233"/>
                </a:lnTo>
                <a:quadBezTo>
                  <a:pt x="42994" y="61798"/>
                  <a:pt x="43679" y="64919"/>
                </a:quadBezTo>
                <a:quadBezTo>
                  <a:pt x="44543" y="67996"/>
                  <a:pt x="42821" y="70687"/>
                </a:quadBezTo>
                <a:quadBezTo>
                  <a:pt x="41256" y="73474"/>
                  <a:pt x="38135" y="74159"/>
                </a:quadBezTo>
                <a:quadBezTo>
                  <a:pt x="35058" y="75023"/>
                  <a:pt x="32366" y="73301"/>
                </a:quadBezTo>
                <a:lnTo>
                  <a:pt x="3791" y="56156"/>
                </a:lnTo>
                <a:quadBezTo>
                  <a:pt x="2058" y="55135"/>
                  <a:pt x="1081" y="53376"/>
                </a:quadBezTo>
                <a:quadBezTo>
                  <a:pt x="75" y="51634"/>
                  <a:pt x="92" y="49622"/>
                </a:quadBezTo>
                <a:lnTo>
                  <a:pt x="92" y="7712"/>
                </a:lnTo>
                <a:quadBezTo>
                  <a:pt x="0" y="4518"/>
                  <a:pt x="2324" y="2324"/>
                </a:quadBezTo>
                <a:quadBezTo>
                  <a:pt x="4518" y="0"/>
                  <a:pt x="7712" y="92"/>
                </a:quadBezTo>
                <a:quadBezTo>
                  <a:pt x="10906" y="0"/>
                  <a:pt x="13100" y="2324"/>
                </a:quadBezTo>
                <a:quadBezTo>
                  <a:pt x="15424" y="4518"/>
                  <a:pt x="15332" y="7712"/>
                </a:quadBezTo>
                <a:close/>
              </a:path>
            </a:pathLst>
          </a:custGeom>
          <a:solidFill>
            <a:srgbClr val="8A3D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628650" y="4076700"/>
            <a:ext cx="9334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5E2806"/>
                </a:solidFill>
                <a:latin typeface="Noto Sans SC Bold"/>
                <a:ea typeface="Noto Sans SC Bold"/>
                <a:cs typeface="Noto Sans SC Bold"/>
              </a:rPr>
              <a:t>继续上次的练习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628650" y="4305300"/>
            <a:ext cx="117580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2 小时前 · 第 18/30 题</a:t>
            </a:r>
          </a:p>
        </p:txBody>
      </p:sp>
      <p:sp>
        <p:nvSpPr>
          <p:cNvPr id="40" name="Rectangle"/>
          <p:cNvSpPr/>
          <p:nvPr/>
        </p:nvSpPr>
        <p:spPr>
          <a:xfrm>
            <a:off x="2781300" y="4086225"/>
            <a:ext cx="609600" cy="38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2952750" y="4181475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继续</a:t>
            </a:r>
          </a:p>
        </p:txBody>
      </p:sp>
      <p:sp>
        <p:nvSpPr>
          <p:cNvPr id="42" name="Rectangle"/>
          <p:cNvSpPr/>
          <p:nvPr/>
        </p:nvSpPr>
        <p:spPr>
          <a:xfrm>
            <a:off x="190500" y="4743450"/>
            <a:ext cx="3333750" cy="16764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361950" y="4914900"/>
            <a:ext cx="804367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近 7 天学习量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2495550" y="494347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750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柱高＝当天学习题数</a:t>
            </a:r>
          </a:p>
        </p:txBody>
      </p:sp>
      <p:sp>
        <p:nvSpPr>
          <p:cNvPr id="45" name="Rectangle"/>
          <p:cNvSpPr/>
          <p:nvPr/>
        </p:nvSpPr>
        <p:spPr>
          <a:xfrm>
            <a:off x="361950" y="5524500"/>
            <a:ext cx="427264" cy="533400"/>
          </a:xfrm>
          <a:prstGeom prst="roundRect">
            <a:avLst>
              <a:gd name="adj" fmla="val 8917"/>
            </a:avLst>
          </a:prstGeom>
          <a:solidFill>
            <a:srgbClr val="E893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476250" y="6115050"/>
            <a:ext cx="19592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9A938C"/>
                </a:solidFill>
                <a:latin typeface="Noto Sans SC"/>
                <a:ea typeface="Noto Sans SC"/>
                <a:cs typeface="Noto Sans SC"/>
              </a:rPr>
              <a:t>10/3</a:t>
            </a:r>
          </a:p>
        </p:txBody>
      </p:sp>
      <p:sp>
        <p:nvSpPr>
          <p:cNvPr id="47" name="Rectangle"/>
          <p:cNvSpPr/>
          <p:nvPr/>
        </p:nvSpPr>
        <p:spPr>
          <a:xfrm>
            <a:off x="790575" y="5257800"/>
            <a:ext cx="427264" cy="800100"/>
          </a:xfrm>
          <a:prstGeom prst="roundRect">
            <a:avLst>
              <a:gd name="adj" fmla="val 8917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"/>
          <p:cNvSpPr txBox="1"/>
          <p:nvPr/>
        </p:nvSpPr>
        <p:spPr>
          <a:xfrm>
            <a:off x="904875" y="6115050"/>
            <a:ext cx="19592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9A938C"/>
                </a:solidFill>
                <a:latin typeface="Noto Sans SC"/>
                <a:ea typeface="Noto Sans SC"/>
                <a:cs typeface="Noto Sans SC"/>
              </a:rPr>
              <a:t>10/4</a:t>
            </a:r>
          </a:p>
        </p:txBody>
      </p:sp>
      <p:sp>
        <p:nvSpPr>
          <p:cNvPr id="49" name="Rectangle"/>
          <p:cNvSpPr/>
          <p:nvPr/>
        </p:nvSpPr>
        <p:spPr>
          <a:xfrm>
            <a:off x="1219200" y="6019800"/>
            <a:ext cx="427264" cy="38100"/>
          </a:xfrm>
          <a:prstGeom prst="roundRect">
            <a:avLst>
              <a:gd name="adj" fmla="val 50000"/>
            </a:avLst>
          </a:prstGeom>
          <a:solidFill>
            <a:srgbClr val="DED8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1333500" y="6115050"/>
            <a:ext cx="19592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9A938C"/>
                </a:solidFill>
                <a:latin typeface="Noto Sans SC"/>
                <a:ea typeface="Noto Sans SC"/>
                <a:cs typeface="Noto Sans SC"/>
              </a:rPr>
              <a:t>10/5</a:t>
            </a:r>
          </a:p>
        </p:txBody>
      </p:sp>
      <p:sp>
        <p:nvSpPr>
          <p:cNvPr id="51" name="Rectangle"/>
          <p:cNvSpPr/>
          <p:nvPr/>
        </p:nvSpPr>
        <p:spPr>
          <a:xfrm>
            <a:off x="1647825" y="5353050"/>
            <a:ext cx="427264" cy="704850"/>
          </a:xfrm>
          <a:prstGeom prst="roundRect">
            <a:avLst>
              <a:gd name="adj" fmla="val 8917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"/>
          <p:cNvSpPr txBox="1"/>
          <p:nvPr/>
        </p:nvSpPr>
        <p:spPr>
          <a:xfrm>
            <a:off x="1762125" y="6115050"/>
            <a:ext cx="19592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9A938C"/>
                </a:solidFill>
                <a:latin typeface="Noto Sans SC"/>
                <a:ea typeface="Noto Sans SC"/>
                <a:cs typeface="Noto Sans SC"/>
              </a:rPr>
              <a:t>10/6</a:t>
            </a:r>
          </a:p>
        </p:txBody>
      </p:sp>
      <p:sp>
        <p:nvSpPr>
          <p:cNvPr id="53" name="Rectangle"/>
          <p:cNvSpPr/>
          <p:nvPr/>
        </p:nvSpPr>
        <p:spPr>
          <a:xfrm>
            <a:off x="2066925" y="5181600"/>
            <a:ext cx="427264" cy="876300"/>
          </a:xfrm>
          <a:prstGeom prst="roundRect">
            <a:avLst>
              <a:gd name="adj" fmla="val 8917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2181225" y="6115050"/>
            <a:ext cx="19592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9A938C"/>
                </a:solidFill>
                <a:latin typeface="Noto Sans SC"/>
                <a:ea typeface="Noto Sans SC"/>
                <a:cs typeface="Noto Sans SC"/>
              </a:rPr>
              <a:t>10/7</a:t>
            </a:r>
          </a:p>
        </p:txBody>
      </p:sp>
      <p:sp>
        <p:nvSpPr>
          <p:cNvPr id="55" name="Rectangle"/>
          <p:cNvSpPr/>
          <p:nvPr/>
        </p:nvSpPr>
        <p:spPr>
          <a:xfrm>
            <a:off x="2495550" y="5257800"/>
            <a:ext cx="427264" cy="800100"/>
          </a:xfrm>
          <a:prstGeom prst="roundRect">
            <a:avLst>
              <a:gd name="adj" fmla="val 8917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2609850" y="6115050"/>
            <a:ext cx="19592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9A938C"/>
                </a:solidFill>
                <a:latin typeface="Noto Sans SC"/>
                <a:ea typeface="Noto Sans SC"/>
                <a:cs typeface="Noto Sans SC"/>
              </a:rPr>
              <a:t>10/8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3048000" y="58102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今天</a:t>
            </a:r>
          </a:p>
        </p:txBody>
      </p:sp>
      <p:sp>
        <p:nvSpPr>
          <p:cNvPr id="58" name="Rectangle"/>
          <p:cNvSpPr/>
          <p:nvPr/>
        </p:nvSpPr>
        <p:spPr>
          <a:xfrm>
            <a:off x="2924175" y="6000750"/>
            <a:ext cx="427264" cy="247650"/>
          </a:xfrm>
          <a:prstGeom prst="roundRect">
            <a:avLst>
              <a:gd name="adj" fmla="val 15384"/>
            </a:avLst>
          </a:prstGeom>
          <a:solidFill>
            <a:srgbClr val="E893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3105150" y="6057900"/>
            <a:ext cx="6389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825">
                <a:solidFill>
                  <a:srgbClr val="FFFFFF"/>
                </a:solidFill>
                <a:latin typeface="Inter Tight Bold"/>
                <a:ea typeface="Inter Tight Bold"/>
                <a:cs typeface="Inter Tight Bold"/>
              </a:rPr>
              <a:t>8</a:t>
            </a:r>
          </a:p>
        </p:txBody>
      </p:sp>
      <p:sp>
        <p:nvSpPr>
          <p:cNvPr id="60" name="Rectangle"/>
          <p:cNvSpPr/>
          <p:nvPr/>
        </p:nvSpPr>
        <p:spPr>
          <a:xfrm>
            <a:off x="195263" y="4748213"/>
            <a:ext cx="3324225" cy="1666875"/>
          </a:xfrm>
          <a:prstGeom prst="roundRect">
            <a:avLst>
              <a:gd name="adj" fmla="val 8857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"/>
          <p:cNvSpPr/>
          <p:nvPr/>
        </p:nvSpPr>
        <p:spPr>
          <a:xfrm>
            <a:off x="190500" y="6553200"/>
            <a:ext cx="33337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"/>
          <p:cNvSpPr txBox="1"/>
          <p:nvPr/>
        </p:nvSpPr>
        <p:spPr>
          <a:xfrm>
            <a:off x="361950" y="6724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记忆进度</a:t>
            </a:r>
          </a:p>
        </p:txBody>
      </p:sp>
      <p:sp>
        <p:nvSpPr>
          <p:cNvPr id="63" name="TextBox"/>
          <p:cNvSpPr txBox="1"/>
          <p:nvPr/>
        </p:nvSpPr>
        <p:spPr>
          <a:xfrm>
            <a:off x="2352675" y="6743700"/>
            <a:ext cx="99109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110 题 · 已掌握 34</a:t>
            </a:r>
          </a:p>
        </p:txBody>
      </p:sp>
      <p:sp>
        <p:nvSpPr>
          <p:cNvPr id="64" name="Rectangle"/>
          <p:cNvSpPr/>
          <p:nvPr/>
        </p:nvSpPr>
        <p:spPr>
          <a:xfrm>
            <a:off x="361950" y="7067550"/>
            <a:ext cx="2990850" cy="95250"/>
          </a:xfrm>
          <a:prstGeom prst="roundRect">
            <a:avLst>
              <a:gd name="adj" fmla="val 50000"/>
            </a:avLst>
          </a:prstGeom>
          <a:solidFill>
            <a:srgbClr val="EFE9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"/>
          <p:cNvSpPr/>
          <p:nvPr/>
        </p:nvSpPr>
        <p:spPr>
          <a:xfrm>
            <a:off x="361950" y="7067550"/>
            <a:ext cx="1276350" cy="95250"/>
          </a:xfrm>
          <a:prstGeom prst="roundRect">
            <a:avLst>
              <a:gd name="adj" fmla="val 50000"/>
            </a:avLst>
          </a:prstGeom>
          <a:solidFill>
            <a:srgbClr val="CEC7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"/>
          <p:cNvSpPr/>
          <p:nvPr/>
        </p:nvSpPr>
        <p:spPr>
          <a:xfrm>
            <a:off x="1657350" y="7067550"/>
            <a:ext cx="371475" cy="95250"/>
          </a:xfrm>
          <a:prstGeom prst="rect">
            <a:avLst/>
          </a:prstGeom>
          <a:solidFill>
            <a:srgbClr val="E893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"/>
          <p:cNvSpPr/>
          <p:nvPr/>
        </p:nvSpPr>
        <p:spPr>
          <a:xfrm>
            <a:off x="2047875" y="7067550"/>
            <a:ext cx="371475" cy="95250"/>
          </a:xfrm>
          <a:prstGeom prst="rect">
            <a:avLst/>
          </a:prstGeom>
          <a:solidFill>
            <a:srgbClr val="2F6B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"/>
          <p:cNvSpPr/>
          <p:nvPr/>
        </p:nvSpPr>
        <p:spPr>
          <a:xfrm>
            <a:off x="2438400" y="7067550"/>
            <a:ext cx="904875" cy="95250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"/>
          <p:cNvSpPr/>
          <p:nvPr/>
        </p:nvSpPr>
        <p:spPr>
          <a:xfrm>
            <a:off x="361950" y="7296150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447675" y="7381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EC7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"/>
          <p:cNvSpPr txBox="1"/>
          <p:nvPr/>
        </p:nvSpPr>
        <p:spPr>
          <a:xfrm>
            <a:off x="581025" y="7343775"/>
            <a:ext cx="3810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新题 48</a:t>
            </a:r>
          </a:p>
        </p:txBody>
      </p:sp>
      <p:sp>
        <p:nvSpPr>
          <p:cNvPr id="72" name="Rectangle"/>
          <p:cNvSpPr/>
          <p:nvPr/>
        </p:nvSpPr>
        <p:spPr>
          <a:xfrm>
            <a:off x="1162050" y="72961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"/>
          <p:cNvSpPr/>
          <p:nvPr/>
        </p:nvSpPr>
        <p:spPr>
          <a:xfrm>
            <a:off x="1247775" y="7381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Box"/>
          <p:cNvSpPr txBox="1"/>
          <p:nvPr/>
        </p:nvSpPr>
        <p:spPr>
          <a:xfrm>
            <a:off x="1381125" y="7343775"/>
            <a:ext cx="4953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学习中 14</a:t>
            </a:r>
          </a:p>
        </p:txBody>
      </p:sp>
      <p:sp>
        <p:nvSpPr>
          <p:cNvPr id="75" name="Rectangle"/>
          <p:cNvSpPr/>
          <p:nvPr/>
        </p:nvSpPr>
        <p:spPr>
          <a:xfrm>
            <a:off x="2076450" y="72961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"/>
          <p:cNvSpPr/>
          <p:nvPr/>
        </p:nvSpPr>
        <p:spPr>
          <a:xfrm>
            <a:off x="2162175" y="7381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2295525" y="7343775"/>
            <a:ext cx="4953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900">
                <a:solidFill>
                  <a:srgbClr val="1B4A99"/>
                </a:solidFill>
                <a:latin typeface="Noto Sans SC"/>
                <a:ea typeface="Noto Sans SC"/>
                <a:cs typeface="Noto Sans SC"/>
              </a:rPr>
              <a:t>需复习 14</a:t>
            </a:r>
          </a:p>
        </p:txBody>
      </p:sp>
      <p:sp>
        <p:nvSpPr>
          <p:cNvPr id="78" name="Rectangle"/>
          <p:cNvSpPr/>
          <p:nvPr/>
        </p:nvSpPr>
        <p:spPr>
          <a:xfrm>
            <a:off x="361950" y="76390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"/>
          <p:cNvSpPr/>
          <p:nvPr/>
        </p:nvSpPr>
        <p:spPr>
          <a:xfrm>
            <a:off x="447675" y="7724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"/>
          <p:cNvSpPr txBox="1"/>
          <p:nvPr/>
        </p:nvSpPr>
        <p:spPr>
          <a:xfrm>
            <a:off x="581025" y="7686675"/>
            <a:ext cx="4953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900">
                <a:solidFill>
                  <a:srgbClr val="14602D"/>
                </a:solidFill>
                <a:latin typeface="Noto Sans SC"/>
                <a:ea typeface="Noto Sans SC"/>
                <a:cs typeface="Noto Sans SC"/>
              </a:rPr>
              <a:t>已掌握 34</a:t>
            </a:r>
          </a:p>
        </p:txBody>
      </p:sp>
      <p:sp>
        <p:nvSpPr>
          <p:cNvPr id="81" name="Rectangle"/>
          <p:cNvSpPr/>
          <p:nvPr/>
        </p:nvSpPr>
        <p:spPr>
          <a:xfrm>
            <a:off x="361950" y="8020050"/>
            <a:ext cx="2990850" cy="361950"/>
          </a:xfrm>
          <a:prstGeom prst="roundRect">
            <a:avLst>
              <a:gd name="adj" fmla="val 26315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Box"/>
          <p:cNvSpPr txBox="1"/>
          <p:nvPr/>
        </p:nvSpPr>
        <p:spPr>
          <a:xfrm>
            <a:off x="457200" y="8115300"/>
            <a:ext cx="250294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今日到期 26 题 · 含新题 12、学习中 8、需复习 6</a:t>
            </a:r>
          </a:p>
        </p:txBody>
      </p:sp>
      <p:sp>
        <p:nvSpPr>
          <p:cNvPr id="83" name="Rectangle"/>
          <p:cNvSpPr/>
          <p:nvPr/>
        </p:nvSpPr>
        <p:spPr>
          <a:xfrm>
            <a:off x="195263" y="6557963"/>
            <a:ext cx="3324225" cy="1990725"/>
          </a:xfrm>
          <a:prstGeom prst="roundRect">
            <a:avLst>
              <a:gd name="adj" fmla="val 7416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"/>
          <p:cNvSpPr/>
          <p:nvPr/>
        </p:nvSpPr>
        <p:spPr>
          <a:xfrm>
            <a:off x="190500" y="8686800"/>
            <a:ext cx="3333750" cy="25336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"/>
          <p:cNvSpPr txBox="1"/>
          <p:nvPr/>
        </p:nvSpPr>
        <p:spPr>
          <a:xfrm>
            <a:off x="361950" y="88582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薄弱项</a:t>
            </a:r>
          </a:p>
        </p:txBody>
      </p:sp>
      <p:sp>
        <p:nvSpPr>
          <p:cNvPr id="86" name="TextBox"/>
          <p:cNvSpPr txBox="1"/>
          <p:nvPr/>
        </p:nvSpPr>
        <p:spPr>
          <a:xfrm>
            <a:off x="2314575" y="8877300"/>
            <a:ext cx="102938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错题本 23 题 · 全局</a:t>
            </a:r>
          </a:p>
        </p:txBody>
      </p:sp>
      <p:sp>
        <p:nvSpPr>
          <p:cNvPr id="87" name="Rectangle"/>
          <p:cNvSpPr/>
          <p:nvPr/>
        </p:nvSpPr>
        <p:spPr>
          <a:xfrm>
            <a:off x="361950" y="9201150"/>
            <a:ext cx="690563" cy="590550"/>
          </a:xfrm>
          <a:prstGeom prst="roundRect">
            <a:avLst>
              <a:gd name="adj" fmla="val 16129"/>
            </a:avLst>
          </a:prstGeom>
          <a:solidFill>
            <a:srgbClr val="FCEB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"/>
          <p:cNvSpPr txBox="1"/>
          <p:nvPr/>
        </p:nvSpPr>
        <p:spPr>
          <a:xfrm>
            <a:off x="457200" y="9296400"/>
            <a:ext cx="1392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425">
                <a:solidFill>
                  <a:srgbClr val="C22E27"/>
                </a:solidFill>
                <a:latin typeface="Inter Tight Bold"/>
                <a:ea typeface="Inter Tight Bold"/>
                <a:cs typeface="Inter Tight Bold"/>
              </a:rPr>
              <a:t>11</a:t>
            </a:r>
          </a:p>
        </p:txBody>
      </p:sp>
      <p:sp>
        <p:nvSpPr>
          <p:cNvPr id="89" name="TextBox"/>
          <p:cNvSpPr txBox="1"/>
          <p:nvPr/>
        </p:nvSpPr>
        <p:spPr>
          <a:xfrm>
            <a:off x="457200" y="9544050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E3A34"/>
                </a:solidFill>
                <a:latin typeface="Noto Sans SC"/>
                <a:ea typeface="Noto Sans SC"/>
                <a:cs typeface="Noto Sans SC"/>
              </a:rPr>
              <a:t>新错</a:t>
            </a:r>
          </a:p>
        </p:txBody>
      </p:sp>
      <p:sp>
        <p:nvSpPr>
          <p:cNvPr id="90" name="Rectangle"/>
          <p:cNvSpPr/>
          <p:nvPr/>
        </p:nvSpPr>
        <p:spPr>
          <a:xfrm>
            <a:off x="1133475" y="9201150"/>
            <a:ext cx="690563" cy="590550"/>
          </a:xfrm>
          <a:prstGeom prst="roundRect">
            <a:avLst>
              <a:gd name="adj" fmla="val 16129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"/>
          <p:cNvSpPr txBox="1"/>
          <p:nvPr/>
        </p:nvSpPr>
        <p:spPr>
          <a:xfrm>
            <a:off x="1228725" y="9296400"/>
            <a:ext cx="107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425">
                <a:solidFill>
                  <a:srgbClr val="2F6BD4"/>
                </a:solidFill>
                <a:latin typeface="Inter Tight Bold"/>
                <a:ea typeface="Inter Tight Bold"/>
                <a:cs typeface="Inter Tight Bold"/>
              </a:rPr>
              <a:t>5</a:t>
            </a:r>
          </a:p>
        </p:txBody>
      </p:sp>
      <p:sp>
        <p:nvSpPr>
          <p:cNvPr id="92" name="TextBox"/>
          <p:cNvSpPr txBox="1"/>
          <p:nvPr/>
        </p:nvSpPr>
        <p:spPr>
          <a:xfrm>
            <a:off x="1228725" y="9544050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巩固中</a:t>
            </a:r>
          </a:p>
        </p:txBody>
      </p:sp>
      <p:sp>
        <p:nvSpPr>
          <p:cNvPr id="93" name="Rectangle"/>
          <p:cNvSpPr/>
          <p:nvPr/>
        </p:nvSpPr>
        <p:spPr>
          <a:xfrm>
            <a:off x="1895475" y="9201150"/>
            <a:ext cx="690563" cy="590550"/>
          </a:xfrm>
          <a:prstGeom prst="roundRect">
            <a:avLst>
              <a:gd name="adj" fmla="val 16129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"/>
          <p:cNvSpPr txBox="1"/>
          <p:nvPr/>
        </p:nvSpPr>
        <p:spPr>
          <a:xfrm>
            <a:off x="1990725" y="9296400"/>
            <a:ext cx="1119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425">
                <a:solidFill>
                  <a:srgbClr val="B45309"/>
                </a:solidFill>
                <a:latin typeface="Inter Tight Bold"/>
                <a:ea typeface="Inter Tight Bold"/>
                <a:cs typeface="Inter Tight Bold"/>
              </a:rPr>
              <a:t>4</a:t>
            </a:r>
          </a:p>
        </p:txBody>
      </p:sp>
      <p:sp>
        <p:nvSpPr>
          <p:cNvPr id="95" name="TextBox"/>
          <p:cNvSpPr txBox="1"/>
          <p:nvPr/>
        </p:nvSpPr>
        <p:spPr>
          <a:xfrm>
            <a:off x="1990725" y="9544050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模糊</a:t>
            </a:r>
          </a:p>
        </p:txBody>
      </p:sp>
      <p:sp>
        <p:nvSpPr>
          <p:cNvPr id="96" name="Rectangle"/>
          <p:cNvSpPr/>
          <p:nvPr/>
        </p:nvSpPr>
        <p:spPr>
          <a:xfrm>
            <a:off x="2667000" y="9201150"/>
            <a:ext cx="690563" cy="590550"/>
          </a:xfrm>
          <a:prstGeom prst="roundRect">
            <a:avLst>
              <a:gd name="adj" fmla="val 16129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"/>
          <p:cNvSpPr txBox="1"/>
          <p:nvPr/>
        </p:nvSpPr>
        <p:spPr>
          <a:xfrm>
            <a:off x="2762250" y="9296400"/>
            <a:ext cx="1111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425">
                <a:solidFill>
                  <a:srgbClr val="1E7A3C"/>
                </a:solidFill>
                <a:latin typeface="Inter Tight Bold"/>
                <a:ea typeface="Inter Tight Bold"/>
                <a:cs typeface="Inter Tight Bold"/>
              </a:rPr>
              <a:t>3</a:t>
            </a:r>
          </a:p>
        </p:txBody>
      </p:sp>
      <p:sp>
        <p:nvSpPr>
          <p:cNvPr id="98" name="TextBox"/>
          <p:cNvSpPr txBox="1"/>
          <p:nvPr/>
        </p:nvSpPr>
        <p:spPr>
          <a:xfrm>
            <a:off x="2762250" y="9544050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14602D"/>
                </a:solidFill>
                <a:latin typeface="Noto Sans SC"/>
                <a:ea typeface="Noto Sans SC"/>
                <a:cs typeface="Noto Sans SC"/>
              </a:rPr>
              <a:t>已攻克</a:t>
            </a:r>
          </a:p>
        </p:txBody>
      </p:sp>
      <p:sp>
        <p:nvSpPr>
          <p:cNvPr id="99" name="Rectangle"/>
          <p:cNvSpPr/>
          <p:nvPr/>
        </p:nvSpPr>
        <p:spPr>
          <a:xfrm>
            <a:off x="361950" y="9925050"/>
            <a:ext cx="2990850" cy="533400"/>
          </a:xfrm>
          <a:prstGeom prst="roundRect">
            <a:avLst>
              <a:gd name="adj" fmla="val 17857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"/>
          <p:cNvSpPr txBox="1"/>
          <p:nvPr/>
        </p:nvSpPr>
        <p:spPr>
          <a:xfrm>
            <a:off x="457200" y="10020300"/>
            <a:ext cx="273051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错题本跨全部题库统计，与上方「110 题」不同口径。连对 3 次自动移出。</a:t>
            </a:r>
          </a:p>
        </p:txBody>
      </p:sp>
      <p:sp>
        <p:nvSpPr>
          <p:cNvPr id="101" name="Rectangle"/>
          <p:cNvSpPr/>
          <p:nvPr/>
        </p:nvSpPr>
        <p:spPr>
          <a:xfrm>
            <a:off x="361950" y="10591800"/>
            <a:ext cx="2990850" cy="4572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"/>
          <p:cNvSpPr txBox="1"/>
          <p:nvPr/>
        </p:nvSpPr>
        <p:spPr>
          <a:xfrm>
            <a:off x="1228725" y="10725150"/>
            <a:ext cx="126272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1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攻克薄弱项 · 23 题</a:t>
            </a:r>
          </a:p>
        </p:txBody>
      </p:sp>
      <p:sp>
        <p:nvSpPr>
          <p:cNvPr id="103" name="Rectangle"/>
          <p:cNvSpPr/>
          <p:nvPr/>
        </p:nvSpPr>
        <p:spPr>
          <a:xfrm>
            <a:off x="195263" y="8691563"/>
            <a:ext cx="3324225" cy="2524125"/>
          </a:xfrm>
          <a:prstGeom prst="roundRect">
            <a:avLst>
              <a:gd name="adj" fmla="val 5849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0" y="7248525"/>
            <a:ext cx="3714750" cy="790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"/>
          <p:cNvSpPr/>
          <p:nvPr/>
        </p:nvSpPr>
        <p:spPr>
          <a:xfrm>
            <a:off x="76200" y="7286625"/>
            <a:ext cx="890588" cy="400050"/>
          </a:xfrm>
          <a:prstGeom prst="roundRect">
            <a:avLst>
              <a:gd name="adj" fmla="val 33333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Path"/>
          <p:cNvSpPr/>
          <p:nvPr/>
        </p:nvSpPr>
        <p:spPr>
          <a:xfrm>
            <a:off x="449090" y="7329930"/>
            <a:ext cx="149571" cy="159101"/>
          </a:xfrm>
          <a:custGeom>
            <a:avLst/>
            <a:gdLst/>
            <a:ahLst/>
            <a:cxnLst/>
            <a:rect l="0" t="0" r="r" b="b"/>
            <a:pathLst>
              <a:path w="149571" h="159101">
                <a:moveTo>
                  <a:pt x="70207" y="1452"/>
                </a:moveTo>
                <a:quadBezTo>
                  <a:pt x="72266" y="0"/>
                  <a:pt x="74785" y="33"/>
                </a:quadBezTo>
                <a:quadBezTo>
                  <a:pt x="77305" y="0"/>
                  <a:pt x="79364" y="1452"/>
                </a:quadBezTo>
                <a:lnTo>
                  <a:pt x="146039" y="47172"/>
                </a:lnTo>
                <a:quadBezTo>
                  <a:pt x="147701" y="48295"/>
                  <a:pt x="148623" y="50076"/>
                </a:quadBezTo>
                <a:quadBezTo>
                  <a:pt x="149571" y="51844"/>
                  <a:pt x="149557" y="53850"/>
                </a:quadBezTo>
                <a:lnTo>
                  <a:pt x="149557" y="137670"/>
                </a:lnTo>
                <a:quadBezTo>
                  <a:pt x="149557" y="146547"/>
                  <a:pt x="143279" y="152824"/>
                </a:quadBezTo>
                <a:quadBezTo>
                  <a:pt x="137002" y="159101"/>
                  <a:pt x="128125" y="159101"/>
                </a:quadBezTo>
                <a:lnTo>
                  <a:pt x="21445" y="159101"/>
                </a:lnTo>
                <a:quadBezTo>
                  <a:pt x="12568" y="159101"/>
                  <a:pt x="6291" y="152824"/>
                </a:quadBezTo>
                <a:quadBezTo>
                  <a:pt x="14" y="146547"/>
                  <a:pt x="14" y="137670"/>
                </a:quadBezTo>
                <a:lnTo>
                  <a:pt x="14" y="53850"/>
                </a:lnTo>
                <a:quadBezTo>
                  <a:pt x="0" y="51844"/>
                  <a:pt x="947" y="50076"/>
                </a:quadBezTo>
                <a:quadBezTo>
                  <a:pt x="1870" y="48295"/>
                  <a:pt x="3532" y="47172"/>
                </a:quadBezTo>
                <a:lnTo>
                  <a:pt x="70207" y="1452"/>
                </a:lnTo>
                <a:close/>
                <a:moveTo>
                  <a:pt x="16207" y="58115"/>
                </a:moveTo>
                <a:lnTo>
                  <a:pt x="16207" y="137670"/>
                </a:lnTo>
                <a:quadBezTo>
                  <a:pt x="16207" y="139840"/>
                  <a:pt x="17741" y="141374"/>
                </a:quadBezTo>
                <a:quadBezTo>
                  <a:pt x="19275" y="142908"/>
                  <a:pt x="21445" y="142908"/>
                </a:quadBezTo>
                <a:lnTo>
                  <a:pt x="128125" y="142908"/>
                </a:lnTo>
                <a:quadBezTo>
                  <a:pt x="130295" y="142908"/>
                  <a:pt x="131830" y="141374"/>
                </a:quadBezTo>
                <a:quadBezTo>
                  <a:pt x="133364" y="139840"/>
                  <a:pt x="133364" y="137670"/>
                </a:quadBezTo>
                <a:lnTo>
                  <a:pt x="133364" y="58115"/>
                </a:lnTo>
                <a:lnTo>
                  <a:pt x="74785" y="17946"/>
                </a:lnTo>
                <a:lnTo>
                  <a:pt x="16207" y="581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Path"/>
          <p:cNvSpPr/>
          <p:nvPr/>
        </p:nvSpPr>
        <p:spPr>
          <a:xfrm>
            <a:off x="492821" y="7428926"/>
            <a:ext cx="62108" cy="52009"/>
          </a:xfrm>
          <a:custGeom>
            <a:avLst/>
            <a:gdLst/>
            <a:ahLst/>
            <a:cxnLst/>
            <a:rect l="0" t="0" r="r" b="b"/>
            <a:pathLst>
              <a:path w="62108" h="52009">
                <a:moveTo>
                  <a:pt x="98" y="52009"/>
                </a:moveTo>
                <a:lnTo>
                  <a:pt x="98" y="8194"/>
                </a:lnTo>
                <a:quadBezTo>
                  <a:pt x="0" y="4800"/>
                  <a:pt x="2469" y="2469"/>
                </a:quadBezTo>
                <a:quadBezTo>
                  <a:pt x="4800" y="0"/>
                  <a:pt x="8194" y="98"/>
                </a:quadBezTo>
                <a:lnTo>
                  <a:pt x="53914" y="98"/>
                </a:lnTo>
                <a:quadBezTo>
                  <a:pt x="57308" y="0"/>
                  <a:pt x="59639" y="2469"/>
                </a:quadBezTo>
                <a:quadBezTo>
                  <a:pt x="62108" y="4800"/>
                  <a:pt x="62010" y="8194"/>
                </a:quadBezTo>
                <a:lnTo>
                  <a:pt x="62010" y="52009"/>
                </a:lnTo>
                <a:lnTo>
                  <a:pt x="45818" y="52009"/>
                </a:lnTo>
                <a:lnTo>
                  <a:pt x="45818" y="16290"/>
                </a:lnTo>
                <a:lnTo>
                  <a:pt x="16290" y="16290"/>
                </a:lnTo>
                <a:lnTo>
                  <a:pt x="16290" y="52009"/>
                </a:lnTo>
                <a:lnTo>
                  <a:pt x="98" y="520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"/>
          <p:cNvSpPr txBox="1"/>
          <p:nvPr/>
        </p:nvSpPr>
        <p:spPr>
          <a:xfrm>
            <a:off x="428625" y="75247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今日</a:t>
            </a:r>
          </a:p>
        </p:txBody>
      </p:sp>
      <p:sp>
        <p:nvSpPr>
          <p:cNvPr id="109" name="Rectangle"/>
          <p:cNvSpPr/>
          <p:nvPr/>
        </p:nvSpPr>
        <p:spPr>
          <a:xfrm>
            <a:off x="971550" y="7286625"/>
            <a:ext cx="890588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angle"/>
          <p:cNvSpPr/>
          <p:nvPr/>
        </p:nvSpPr>
        <p:spPr>
          <a:xfrm>
            <a:off x="1348740" y="7347585"/>
            <a:ext cx="140970" cy="125730"/>
          </a:xfrm>
          <a:prstGeom prst="roundRect">
            <a:avLst>
              <a:gd name="adj" fmla="val 18181"/>
            </a:avLst>
          </a:prstGeom>
          <a:noFill/>
          <a:ln w="16193">
            <a:solidFill>
              <a:srgbClr val="7A736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1" name="Path"/>
          <p:cNvSpPr/>
          <p:nvPr/>
        </p:nvSpPr>
        <p:spPr>
          <a:xfrm>
            <a:off x="1378646" y="7362251"/>
            <a:ext cx="81158" cy="61155"/>
          </a:xfrm>
          <a:custGeom>
            <a:avLst/>
            <a:gdLst/>
            <a:ahLst/>
            <a:cxnLst/>
            <a:rect l="0" t="0" r="r" b="b"/>
            <a:pathLst>
              <a:path w="81158" h="61155">
                <a:moveTo>
                  <a:pt x="13919" y="27234"/>
                </a:moveTo>
                <a:lnTo>
                  <a:pt x="28196" y="41512"/>
                </a:lnTo>
                <a:lnTo>
                  <a:pt x="67239" y="2469"/>
                </a:lnTo>
                <a:quadBezTo>
                  <a:pt x="69570" y="0"/>
                  <a:pt x="72964" y="98"/>
                </a:quadBezTo>
                <a:quadBezTo>
                  <a:pt x="76358" y="0"/>
                  <a:pt x="78689" y="2469"/>
                </a:quadBezTo>
                <a:quadBezTo>
                  <a:pt x="81158" y="4800"/>
                  <a:pt x="81060" y="8194"/>
                </a:quadBezTo>
                <a:quadBezTo>
                  <a:pt x="81158" y="11588"/>
                  <a:pt x="78689" y="13919"/>
                </a:quadBezTo>
                <a:lnTo>
                  <a:pt x="33921" y="58686"/>
                </a:lnTo>
                <a:quadBezTo>
                  <a:pt x="31590" y="61155"/>
                  <a:pt x="28196" y="61058"/>
                </a:quadBezTo>
                <a:quadBezTo>
                  <a:pt x="24802" y="61155"/>
                  <a:pt x="22472" y="58686"/>
                </a:quadBezTo>
                <a:lnTo>
                  <a:pt x="2469" y="38684"/>
                </a:lnTo>
                <a:quadBezTo>
                  <a:pt x="0" y="36353"/>
                  <a:pt x="98" y="32959"/>
                </a:quadBezTo>
                <a:quadBezTo>
                  <a:pt x="0" y="29565"/>
                  <a:pt x="2469" y="27234"/>
                </a:quadBezTo>
                <a:quadBezTo>
                  <a:pt x="4800" y="24765"/>
                  <a:pt x="8194" y="24863"/>
                </a:quadBezTo>
                <a:quadBezTo>
                  <a:pt x="11588" y="24765"/>
                  <a:pt x="13919" y="27234"/>
                </a:quadBezTo>
                <a:close/>
              </a:path>
            </a:pathLst>
          </a:custGeom>
          <a:solidFill>
            <a:srgbClr val="7A73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"/>
          <p:cNvSpPr txBox="1"/>
          <p:nvPr/>
        </p:nvSpPr>
        <p:spPr>
          <a:xfrm>
            <a:off x="1323975" y="75247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7A736C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113" name="Rectangle"/>
          <p:cNvSpPr/>
          <p:nvPr/>
        </p:nvSpPr>
        <p:spPr>
          <a:xfrm>
            <a:off x="1857375" y="7286625"/>
            <a:ext cx="890588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Path"/>
          <p:cNvSpPr/>
          <p:nvPr/>
        </p:nvSpPr>
        <p:spPr>
          <a:xfrm>
            <a:off x="2235896" y="7337584"/>
            <a:ext cx="138211" cy="155990"/>
          </a:xfrm>
          <a:custGeom>
            <a:avLst/>
            <a:gdLst/>
            <a:ahLst/>
            <a:cxnLst/>
            <a:rect l="0" t="0" r="r" b="b"/>
            <a:pathLst>
              <a:path w="138211" h="155990">
                <a:moveTo>
                  <a:pt x="116779" y="0"/>
                </a:moveTo>
                <a:quadBezTo>
                  <a:pt x="125656" y="0"/>
                  <a:pt x="131933" y="6277"/>
                </a:quadBezTo>
                <a:quadBezTo>
                  <a:pt x="138210" y="12554"/>
                  <a:pt x="138210" y="21431"/>
                </a:quadBezTo>
                <a:lnTo>
                  <a:pt x="138210" y="147161"/>
                </a:lnTo>
                <a:quadBezTo>
                  <a:pt x="138211" y="148155"/>
                  <a:pt x="137970" y="149118"/>
                </a:quadBezTo>
                <a:quadBezTo>
                  <a:pt x="137731" y="150083"/>
                  <a:pt x="137264" y="150960"/>
                </a:quadBezTo>
                <a:quadBezTo>
                  <a:pt x="135758" y="154003"/>
                  <a:pt x="132484" y="154903"/>
                </a:quadBezTo>
                <a:quadBezTo>
                  <a:pt x="129267" y="155990"/>
                  <a:pt x="126316" y="154311"/>
                </a:quadBezTo>
                <a:lnTo>
                  <a:pt x="69154" y="123944"/>
                </a:lnTo>
                <a:lnTo>
                  <a:pt x="11992" y="154311"/>
                </a:lnTo>
                <a:quadBezTo>
                  <a:pt x="11115" y="154778"/>
                  <a:pt x="10151" y="155017"/>
                </a:quadBezTo>
                <a:quadBezTo>
                  <a:pt x="9187" y="155258"/>
                  <a:pt x="8194" y="155257"/>
                </a:quadBezTo>
                <a:quadBezTo>
                  <a:pt x="4800" y="155355"/>
                  <a:pt x="2469" y="152886"/>
                </a:quadBezTo>
                <a:quadBezTo>
                  <a:pt x="0" y="150555"/>
                  <a:pt x="98" y="147161"/>
                </a:quadBezTo>
                <a:lnTo>
                  <a:pt x="98" y="21431"/>
                </a:lnTo>
                <a:quadBezTo>
                  <a:pt x="98" y="12554"/>
                  <a:pt x="6375" y="6277"/>
                </a:quadBezTo>
                <a:quadBezTo>
                  <a:pt x="12652" y="0"/>
                  <a:pt x="21529" y="0"/>
                </a:quadBezTo>
                <a:lnTo>
                  <a:pt x="116779" y="0"/>
                </a:lnTo>
                <a:close/>
                <a:moveTo>
                  <a:pt x="116779" y="16193"/>
                </a:moveTo>
                <a:lnTo>
                  <a:pt x="21529" y="16193"/>
                </a:lnTo>
                <a:quadBezTo>
                  <a:pt x="19359" y="16193"/>
                  <a:pt x="17825" y="17727"/>
                </a:quadBezTo>
                <a:quadBezTo>
                  <a:pt x="16290" y="19261"/>
                  <a:pt x="16290" y="21431"/>
                </a:quadBezTo>
                <a:lnTo>
                  <a:pt x="16290" y="133692"/>
                </a:lnTo>
                <a:lnTo>
                  <a:pt x="65356" y="107626"/>
                </a:lnTo>
                <a:quadBezTo>
                  <a:pt x="67133" y="106666"/>
                  <a:pt x="69154" y="106680"/>
                </a:quadBezTo>
                <a:quadBezTo>
                  <a:pt x="71175" y="106666"/>
                  <a:pt x="72952" y="107626"/>
                </a:quadBezTo>
                <a:lnTo>
                  <a:pt x="122018" y="133692"/>
                </a:lnTo>
                <a:lnTo>
                  <a:pt x="122018" y="21431"/>
                </a:lnTo>
                <a:quadBezTo>
                  <a:pt x="122018" y="19261"/>
                  <a:pt x="120483" y="17727"/>
                </a:quadBezTo>
                <a:quadBezTo>
                  <a:pt x="118949" y="16193"/>
                  <a:pt x="116779" y="16193"/>
                </a:quadBezTo>
                <a:close/>
              </a:path>
            </a:pathLst>
          </a:custGeom>
          <a:solidFill>
            <a:srgbClr val="7A73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"/>
          <p:cNvSpPr txBox="1"/>
          <p:nvPr/>
        </p:nvSpPr>
        <p:spPr>
          <a:xfrm>
            <a:off x="2162175" y="752475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7A736C"/>
                </a:solidFill>
                <a:latin typeface="Noto Sans SC"/>
                <a:ea typeface="Noto Sans SC"/>
                <a:cs typeface="Noto Sans SC"/>
              </a:rPr>
              <a:t>错题本</a:t>
            </a:r>
          </a:p>
        </p:txBody>
      </p:sp>
      <p:sp>
        <p:nvSpPr>
          <p:cNvPr id="116" name="Rectangle"/>
          <p:cNvSpPr/>
          <p:nvPr/>
        </p:nvSpPr>
        <p:spPr>
          <a:xfrm>
            <a:off x="2752725" y="7286625"/>
            <a:ext cx="890588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Path"/>
          <p:cNvSpPr/>
          <p:nvPr/>
        </p:nvSpPr>
        <p:spPr>
          <a:xfrm>
            <a:off x="3129439" y="7341393"/>
            <a:ext cx="77250" cy="142020"/>
          </a:xfrm>
          <a:custGeom>
            <a:avLst/>
            <a:gdLst/>
            <a:ahLst/>
            <a:cxnLst/>
            <a:rect l="0" t="0" r="r" b="b"/>
            <a:pathLst>
              <a:path w="77250" h="142020">
                <a:moveTo>
                  <a:pt x="23336" y="0"/>
                </a:moveTo>
                <a:lnTo>
                  <a:pt x="53816" y="0"/>
                </a:lnTo>
                <a:quadBezTo>
                  <a:pt x="63599" y="0"/>
                  <a:pt x="70376" y="6777"/>
                </a:quadBezTo>
                <a:quadBezTo>
                  <a:pt x="77153" y="13553"/>
                  <a:pt x="77153" y="23336"/>
                </a:quadBezTo>
                <a:lnTo>
                  <a:pt x="77153" y="133826"/>
                </a:lnTo>
                <a:quadBezTo>
                  <a:pt x="77250" y="137220"/>
                  <a:pt x="74781" y="139551"/>
                </a:quadBezTo>
                <a:quadBezTo>
                  <a:pt x="72450" y="142020"/>
                  <a:pt x="69056" y="141922"/>
                </a:quadBezTo>
                <a:quadBezTo>
                  <a:pt x="65662" y="142020"/>
                  <a:pt x="63331" y="139551"/>
                </a:quadBezTo>
                <a:quadBezTo>
                  <a:pt x="60862" y="137220"/>
                  <a:pt x="60960" y="133826"/>
                </a:quadBezTo>
                <a:quadBezTo>
                  <a:pt x="60960" y="130493"/>
                  <a:pt x="56674" y="130493"/>
                </a:quadBezTo>
                <a:lnTo>
                  <a:pt x="23336" y="130493"/>
                </a:lnTo>
                <a:quadBezTo>
                  <a:pt x="13553" y="130493"/>
                  <a:pt x="6777" y="123716"/>
                </a:quadBezTo>
                <a:quadBezTo>
                  <a:pt x="0" y="116939"/>
                  <a:pt x="0" y="107156"/>
                </a:quadBezTo>
                <a:lnTo>
                  <a:pt x="0" y="23336"/>
                </a:lnTo>
                <a:quadBezTo>
                  <a:pt x="0" y="13553"/>
                  <a:pt x="6777" y="6777"/>
                </a:quadBezTo>
                <a:quadBezTo>
                  <a:pt x="13553" y="0"/>
                  <a:pt x="23336" y="0"/>
                </a:quadBezTo>
                <a:close/>
                <a:moveTo>
                  <a:pt x="60960" y="23336"/>
                </a:moveTo>
                <a:quadBezTo>
                  <a:pt x="60960" y="20260"/>
                  <a:pt x="58926" y="18226"/>
                </a:quadBezTo>
                <a:quadBezTo>
                  <a:pt x="56892" y="16193"/>
                  <a:pt x="53816" y="16193"/>
                </a:quadBezTo>
                <a:lnTo>
                  <a:pt x="23336" y="16193"/>
                </a:lnTo>
                <a:quadBezTo>
                  <a:pt x="20260" y="16193"/>
                  <a:pt x="18226" y="18226"/>
                </a:quadBezTo>
                <a:quadBezTo>
                  <a:pt x="16193" y="20260"/>
                  <a:pt x="16193" y="23336"/>
                </a:quadBezTo>
                <a:lnTo>
                  <a:pt x="16193" y="107156"/>
                </a:lnTo>
                <a:quadBezTo>
                  <a:pt x="16193" y="110232"/>
                  <a:pt x="18226" y="112266"/>
                </a:quadBezTo>
                <a:quadBezTo>
                  <a:pt x="20260" y="114300"/>
                  <a:pt x="23336" y="114300"/>
                </a:quadBezTo>
                <a:lnTo>
                  <a:pt x="56674" y="114300"/>
                </a:lnTo>
                <a:quadBezTo>
                  <a:pt x="58902" y="114300"/>
                  <a:pt x="60960" y="114690"/>
                </a:quadBezTo>
                <a:lnTo>
                  <a:pt x="60960" y="23336"/>
                </a:lnTo>
                <a:close/>
              </a:path>
            </a:pathLst>
          </a:custGeom>
          <a:solidFill>
            <a:srgbClr val="7A73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Path"/>
          <p:cNvSpPr/>
          <p:nvPr/>
        </p:nvSpPr>
        <p:spPr>
          <a:xfrm>
            <a:off x="3194111" y="7341393"/>
            <a:ext cx="77250" cy="142020"/>
          </a:xfrm>
          <a:custGeom>
            <a:avLst/>
            <a:gdLst/>
            <a:ahLst/>
            <a:cxnLst/>
            <a:rect l="0" t="0" r="r" b="b"/>
            <a:pathLst>
              <a:path w="77250" h="142020">
                <a:moveTo>
                  <a:pt x="53914" y="0"/>
                </a:moveTo>
                <a:quadBezTo>
                  <a:pt x="63697" y="0"/>
                  <a:pt x="70474" y="6777"/>
                </a:quadBezTo>
                <a:quadBezTo>
                  <a:pt x="77250" y="13553"/>
                  <a:pt x="77250" y="23336"/>
                </a:quadBezTo>
                <a:lnTo>
                  <a:pt x="77250" y="107156"/>
                </a:lnTo>
                <a:quadBezTo>
                  <a:pt x="77250" y="116939"/>
                  <a:pt x="70474" y="123716"/>
                </a:quadBezTo>
                <a:quadBezTo>
                  <a:pt x="63697" y="130493"/>
                  <a:pt x="53914" y="130493"/>
                </a:quadBezTo>
                <a:lnTo>
                  <a:pt x="20576" y="130493"/>
                </a:lnTo>
                <a:quadBezTo>
                  <a:pt x="16290" y="130493"/>
                  <a:pt x="16290" y="133826"/>
                </a:quadBezTo>
                <a:quadBezTo>
                  <a:pt x="16388" y="137220"/>
                  <a:pt x="13919" y="139551"/>
                </a:quadBezTo>
                <a:quadBezTo>
                  <a:pt x="11588" y="142020"/>
                  <a:pt x="8194" y="141922"/>
                </a:quadBezTo>
                <a:quadBezTo>
                  <a:pt x="4800" y="142020"/>
                  <a:pt x="2469" y="139551"/>
                </a:quadBezTo>
                <a:quadBezTo>
                  <a:pt x="0" y="137220"/>
                  <a:pt x="98" y="133826"/>
                </a:quadBezTo>
                <a:lnTo>
                  <a:pt x="98" y="23336"/>
                </a:lnTo>
                <a:quadBezTo>
                  <a:pt x="98" y="13553"/>
                  <a:pt x="6874" y="6777"/>
                </a:quadBezTo>
                <a:quadBezTo>
                  <a:pt x="13651" y="0"/>
                  <a:pt x="23434" y="0"/>
                </a:quadBezTo>
                <a:lnTo>
                  <a:pt x="53914" y="0"/>
                </a:lnTo>
                <a:close/>
                <a:moveTo>
                  <a:pt x="20576" y="114300"/>
                </a:moveTo>
                <a:lnTo>
                  <a:pt x="53914" y="114300"/>
                </a:lnTo>
                <a:quadBezTo>
                  <a:pt x="56990" y="114300"/>
                  <a:pt x="59024" y="112266"/>
                </a:quadBezTo>
                <a:quadBezTo>
                  <a:pt x="61058" y="110232"/>
                  <a:pt x="61058" y="107156"/>
                </a:quadBezTo>
                <a:lnTo>
                  <a:pt x="61058" y="23336"/>
                </a:lnTo>
                <a:quadBezTo>
                  <a:pt x="61058" y="20260"/>
                  <a:pt x="59024" y="18226"/>
                </a:quadBezTo>
                <a:quadBezTo>
                  <a:pt x="56990" y="16193"/>
                  <a:pt x="53914" y="16193"/>
                </a:quadBezTo>
                <a:lnTo>
                  <a:pt x="23434" y="16193"/>
                </a:lnTo>
                <a:quadBezTo>
                  <a:pt x="20358" y="16193"/>
                  <a:pt x="18324" y="18226"/>
                </a:quadBezTo>
                <a:quadBezTo>
                  <a:pt x="16290" y="20260"/>
                  <a:pt x="16290" y="23336"/>
                </a:quadBezTo>
                <a:lnTo>
                  <a:pt x="16290" y="114690"/>
                </a:lnTo>
                <a:quadBezTo>
                  <a:pt x="18348" y="114300"/>
                  <a:pt x="20576" y="114300"/>
                </a:quadBezTo>
                <a:close/>
              </a:path>
            </a:pathLst>
          </a:custGeom>
          <a:solidFill>
            <a:srgbClr val="7A73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Box"/>
          <p:cNvSpPr txBox="1"/>
          <p:nvPr/>
        </p:nvSpPr>
        <p:spPr>
          <a:xfrm>
            <a:off x="3105150" y="75247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7A736C"/>
                </a:solidFill>
                <a:latin typeface="Noto Sans SC"/>
                <a:ea typeface="Noto Sans SC"/>
                <a:cs typeface="Noto Sans SC"/>
              </a:rPr>
              <a:t>题库</a:t>
            </a:r>
          </a:p>
        </p:txBody>
      </p:sp>
      <p:sp>
        <p:nvSpPr>
          <p:cNvPr id="120" name="Rectangle"/>
          <p:cNvSpPr/>
          <p:nvPr/>
        </p:nvSpPr>
        <p:spPr>
          <a:xfrm>
            <a:off x="0" y="7715250"/>
            <a:ext cx="37147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Rectangle"/>
          <p:cNvSpPr/>
          <p:nvPr/>
        </p:nvSpPr>
        <p:spPr>
          <a:xfrm>
            <a:off x="1219200" y="78581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211A15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Rectangle"/>
          <p:cNvSpPr/>
          <p:nvPr/>
        </p:nvSpPr>
        <p:spPr>
          <a:xfrm>
            <a:off x="4763" y="7253288"/>
            <a:ext cx="3705225" cy="781050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714750" cy="80391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714750" cy="59055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200025"/>
            <a:ext cx="27075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en-US" sz="11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" y="628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285834" y="781134"/>
            <a:ext cx="80795" cy="123658"/>
          </a:xfrm>
          <a:custGeom>
            <a:avLst/>
            <a:gdLst/>
            <a:ahLst/>
            <a:cxnLst/>
            <a:rect l="0" t="0" r="r" b="b"/>
            <a:pathLst>
              <a:path w="80795" h="123658">
                <a:moveTo>
                  <a:pt x="77199" y="16349"/>
                </a:moveTo>
                <a:lnTo>
                  <a:pt x="23450" y="61829"/>
                </a:lnTo>
                <a:lnTo>
                  <a:pt x="77199" y="107309"/>
                </a:lnTo>
                <a:quadBezTo>
                  <a:pt x="80165" y="109676"/>
                  <a:pt x="80371" y="113465"/>
                </a:quadBezTo>
                <a:quadBezTo>
                  <a:pt x="80795" y="117236"/>
                  <a:pt x="78262" y="120061"/>
                </a:quadBezTo>
                <a:quadBezTo>
                  <a:pt x="75895" y="123028"/>
                  <a:pt x="72105" y="123234"/>
                </a:quadBezTo>
                <a:quadBezTo>
                  <a:pt x="68334" y="123658"/>
                  <a:pt x="65509" y="121124"/>
                </a:quadBezTo>
                <a:lnTo>
                  <a:pt x="3596" y="68737"/>
                </a:lnTo>
                <a:quadBezTo>
                  <a:pt x="3309" y="68493"/>
                  <a:pt x="3043" y="68227"/>
                </a:quadBezTo>
                <a:quadBezTo>
                  <a:pt x="2777" y="67961"/>
                  <a:pt x="2534" y="67674"/>
                </a:quadBezTo>
                <a:quadBezTo>
                  <a:pt x="0" y="64849"/>
                  <a:pt x="424" y="61077"/>
                </a:quadBezTo>
                <a:quadBezTo>
                  <a:pt x="630" y="57288"/>
                  <a:pt x="3596" y="54921"/>
                </a:quadBezTo>
                <a:lnTo>
                  <a:pt x="65509" y="2534"/>
                </a:lnTo>
                <a:quadBezTo>
                  <a:pt x="68334" y="0"/>
                  <a:pt x="72105" y="424"/>
                </a:quadBezTo>
                <a:quadBezTo>
                  <a:pt x="75895" y="630"/>
                  <a:pt x="78262" y="3596"/>
                </a:quadBezTo>
                <a:quadBezTo>
                  <a:pt x="80795" y="6422"/>
                  <a:pt x="80371" y="10193"/>
                </a:quadBezTo>
                <a:quadBezTo>
                  <a:pt x="80165" y="13982"/>
                  <a:pt x="77199" y="16349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266825" y="666750"/>
            <a:ext cx="117894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多选题 · 单选/多选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14450" y="866775"/>
            <a:ext cx="10897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第 7 / 20 题 · 今日到期</a:t>
            </a:r>
          </a:p>
        </p:txBody>
      </p:sp>
      <p:sp>
        <p:nvSpPr>
          <p:cNvPr id="9" name="Ellipse"/>
          <p:cNvSpPr/>
          <p:nvPr/>
        </p:nvSpPr>
        <p:spPr>
          <a:xfrm>
            <a:off x="3181350" y="628650"/>
            <a:ext cx="419100" cy="41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3352800" y="800100"/>
            <a:ext cx="28575" cy="76200"/>
          </a:xfrm>
          <a:prstGeom prst="roundRect">
            <a:avLst>
              <a:gd name="adj" fmla="val 4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3400425" y="800100"/>
            <a:ext cx="28575" cy="76200"/>
          </a:xfrm>
          <a:prstGeom prst="roundRect">
            <a:avLst>
              <a:gd name="adj" fmla="val 4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0" y="1085850"/>
            <a:ext cx="3714750" cy="57150"/>
          </a:xfrm>
          <a:prstGeom prst="rect">
            <a:avLst/>
          </a:prstGeom>
          <a:solidFill>
            <a:srgbClr val="EAE3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0" y="1085850"/>
            <a:ext cx="1295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190500" y="1314450"/>
            <a:ext cx="485775" cy="2286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276225" y="1362075"/>
            <a:ext cx="3143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学习中</a:t>
            </a:r>
          </a:p>
        </p:txBody>
      </p:sp>
      <p:sp>
        <p:nvSpPr>
          <p:cNvPr id="16" name="Rectangle"/>
          <p:cNvSpPr/>
          <p:nvPr/>
        </p:nvSpPr>
        <p:spPr>
          <a:xfrm>
            <a:off x="733425" y="1314450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819150" y="136207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今日到期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2886075" y="1352550"/>
            <a:ext cx="6352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第 42 / 110 题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90500" y="1695450"/>
            <a:ext cx="32575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250"/>
              </a:lnSpc>
            </a:pPr>
            <a:r>
              <a:rPr lang="zh-CN" sz="14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生产经营单位应当采取的技术措施包括下列哪些？</a:t>
            </a:r>
          </a:p>
        </p:txBody>
      </p:sp>
      <p:sp>
        <p:nvSpPr>
          <p:cNvPr id="20" name="Rectangle"/>
          <p:cNvSpPr/>
          <p:nvPr/>
        </p:nvSpPr>
        <p:spPr>
          <a:xfrm>
            <a:off x="190500" y="2362200"/>
            <a:ext cx="3333750" cy="361950"/>
          </a:xfrm>
          <a:prstGeom prst="roundRect">
            <a:avLst>
              <a:gd name="adj" fmla="val 26315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285750" y="2457450"/>
            <a:ext cx="279440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多选题 · 漏选、多选、错选均算整题错误，无部分给分</a:t>
            </a:r>
          </a:p>
        </p:txBody>
      </p:sp>
      <p:sp>
        <p:nvSpPr>
          <p:cNvPr id="22" name="Rectangle"/>
          <p:cNvSpPr/>
          <p:nvPr/>
        </p:nvSpPr>
        <p:spPr>
          <a:xfrm>
            <a:off x="190500" y="2876550"/>
            <a:ext cx="3333750" cy="723900"/>
          </a:xfrm>
          <a:prstGeom prst="roundRect">
            <a:avLst>
              <a:gd name="adj" fmla="val 18421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323850" y="313372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370878" y="3199740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638175" y="3009900"/>
            <a:ext cx="273034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A. 对生产设备、设施进行定期检查和维护保养</a:t>
            </a:r>
          </a:p>
        </p:txBody>
      </p:sp>
      <p:sp>
        <p:nvSpPr>
          <p:cNvPr id="26" name="Rectangle"/>
          <p:cNvSpPr/>
          <p:nvPr/>
        </p:nvSpPr>
        <p:spPr>
          <a:xfrm>
            <a:off x="197644" y="2883694"/>
            <a:ext cx="3319463" cy="709613"/>
          </a:xfrm>
          <a:prstGeom prst="roundRect">
            <a:avLst>
              <a:gd name="adj" fmla="val 17785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190500" y="3695700"/>
            <a:ext cx="3333750" cy="723900"/>
          </a:xfrm>
          <a:prstGeom prst="roundRect">
            <a:avLst>
              <a:gd name="adj" fmla="val 18421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323850" y="3952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Path"/>
          <p:cNvSpPr/>
          <p:nvPr/>
        </p:nvSpPr>
        <p:spPr>
          <a:xfrm>
            <a:off x="370878" y="4018890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638175" y="3829050"/>
            <a:ext cx="273734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B. 组织员工进行安全生产教育和培训，建立培训档案</a:t>
            </a:r>
          </a:p>
        </p:txBody>
      </p:sp>
      <p:sp>
        <p:nvSpPr>
          <p:cNvPr id="31" name="Rectangle"/>
          <p:cNvSpPr/>
          <p:nvPr/>
        </p:nvSpPr>
        <p:spPr>
          <a:xfrm>
            <a:off x="197644" y="3702844"/>
            <a:ext cx="3319463" cy="709613"/>
          </a:xfrm>
          <a:prstGeom prst="roundRect">
            <a:avLst>
              <a:gd name="adj" fmla="val 17785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"/>
          <p:cNvSpPr/>
          <p:nvPr/>
        </p:nvSpPr>
        <p:spPr>
          <a:xfrm>
            <a:off x="190500" y="4514850"/>
            <a:ext cx="33337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323850" y="477202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331946" y="4780121"/>
            <a:ext cx="193357" cy="193357"/>
          </a:xfrm>
          <a:prstGeom prst="roundRect">
            <a:avLst>
              <a:gd name="adj" fmla="val 30295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638175" y="4648200"/>
            <a:ext cx="273462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C. 在有明显职业病危害因素超标的工作场所组织应急演练</a:t>
            </a:r>
          </a:p>
        </p:txBody>
      </p:sp>
      <p:sp>
        <p:nvSpPr>
          <p:cNvPr id="36" name="Rectangle"/>
          <p:cNvSpPr/>
          <p:nvPr/>
        </p:nvSpPr>
        <p:spPr>
          <a:xfrm>
            <a:off x="197644" y="4521994"/>
            <a:ext cx="3319463" cy="709613"/>
          </a:xfrm>
          <a:prstGeom prst="roundRect">
            <a:avLst>
              <a:gd name="adj" fmla="val 17785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190500" y="5334000"/>
            <a:ext cx="33337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323850" y="55911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331946" y="5599271"/>
            <a:ext cx="193357" cy="193357"/>
          </a:xfrm>
          <a:prstGeom prst="roundRect">
            <a:avLst>
              <a:gd name="adj" fmla="val 30295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638175" y="5467350"/>
            <a:ext cx="274177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D. 依法履行安全生产管理职责，对所负责安全生产工作进行检查</a:t>
            </a:r>
          </a:p>
        </p:txBody>
      </p:sp>
      <p:sp>
        <p:nvSpPr>
          <p:cNvPr id="41" name="Rectangle"/>
          <p:cNvSpPr/>
          <p:nvPr/>
        </p:nvSpPr>
        <p:spPr>
          <a:xfrm>
            <a:off x="197644" y="5341144"/>
            <a:ext cx="3319463" cy="709613"/>
          </a:xfrm>
          <a:prstGeom prst="roundRect">
            <a:avLst>
              <a:gd name="adj" fmla="val 17785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0" y="6229350"/>
            <a:ext cx="371475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190500" y="6419850"/>
            <a:ext cx="4977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已选 2 项</a:t>
            </a:r>
          </a:p>
        </p:txBody>
      </p:sp>
      <p:sp>
        <p:nvSpPr>
          <p:cNvPr id="44" name="Rectangle"/>
          <p:cNvSpPr/>
          <p:nvPr/>
        </p:nvSpPr>
        <p:spPr>
          <a:xfrm>
            <a:off x="3009900" y="6362700"/>
            <a:ext cx="514350" cy="3048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3143250" y="6429375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清空</a:t>
            </a:r>
          </a:p>
        </p:txBody>
      </p:sp>
      <p:sp>
        <p:nvSpPr>
          <p:cNvPr id="46" name="Rectangle"/>
          <p:cNvSpPr/>
          <p:nvPr/>
        </p:nvSpPr>
        <p:spPr>
          <a:xfrm>
            <a:off x="190500" y="6762750"/>
            <a:ext cx="3333750" cy="51435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1552575" y="6915150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提交答案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876300" y="7372350"/>
            <a:ext cx="19607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键盘：1–9 选择 · Enter 提交 · ← 上一题</a:t>
            </a:r>
          </a:p>
        </p:txBody>
      </p:sp>
      <p:sp>
        <p:nvSpPr>
          <p:cNvPr id="49" name="Rectangle"/>
          <p:cNvSpPr/>
          <p:nvPr/>
        </p:nvSpPr>
        <p:spPr>
          <a:xfrm>
            <a:off x="4763" y="6234113"/>
            <a:ext cx="3705225" cy="14763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0" y="7715250"/>
            <a:ext cx="37147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"/>
          <p:cNvSpPr/>
          <p:nvPr/>
        </p:nvSpPr>
        <p:spPr>
          <a:xfrm>
            <a:off x="1219200" y="78581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211A15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714750" cy="80391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714750" cy="59055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200025"/>
            <a:ext cx="27075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en-US" sz="11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" y="628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285834" y="781134"/>
            <a:ext cx="80795" cy="123658"/>
          </a:xfrm>
          <a:custGeom>
            <a:avLst/>
            <a:gdLst/>
            <a:ahLst/>
            <a:cxnLst/>
            <a:rect l="0" t="0" r="r" b="b"/>
            <a:pathLst>
              <a:path w="80795" h="123658">
                <a:moveTo>
                  <a:pt x="77199" y="16349"/>
                </a:moveTo>
                <a:lnTo>
                  <a:pt x="23450" y="61829"/>
                </a:lnTo>
                <a:lnTo>
                  <a:pt x="77199" y="107309"/>
                </a:lnTo>
                <a:quadBezTo>
                  <a:pt x="80165" y="109676"/>
                  <a:pt x="80371" y="113465"/>
                </a:quadBezTo>
                <a:quadBezTo>
                  <a:pt x="80795" y="117236"/>
                  <a:pt x="78262" y="120061"/>
                </a:quadBezTo>
                <a:quadBezTo>
                  <a:pt x="75895" y="123028"/>
                  <a:pt x="72105" y="123234"/>
                </a:quadBezTo>
                <a:quadBezTo>
                  <a:pt x="68334" y="123658"/>
                  <a:pt x="65509" y="121124"/>
                </a:quadBezTo>
                <a:lnTo>
                  <a:pt x="3596" y="68737"/>
                </a:lnTo>
                <a:quadBezTo>
                  <a:pt x="3309" y="68493"/>
                  <a:pt x="3043" y="68227"/>
                </a:quadBezTo>
                <a:quadBezTo>
                  <a:pt x="2777" y="67961"/>
                  <a:pt x="2534" y="67674"/>
                </a:quadBezTo>
                <a:quadBezTo>
                  <a:pt x="0" y="64849"/>
                  <a:pt x="424" y="61077"/>
                </a:quadBezTo>
                <a:quadBezTo>
                  <a:pt x="630" y="57288"/>
                  <a:pt x="3596" y="54921"/>
                </a:quadBezTo>
                <a:lnTo>
                  <a:pt x="65509" y="2534"/>
                </a:lnTo>
                <a:quadBezTo>
                  <a:pt x="68334" y="0"/>
                  <a:pt x="72105" y="424"/>
                </a:quadBezTo>
                <a:quadBezTo>
                  <a:pt x="75895" y="630"/>
                  <a:pt x="78262" y="3596"/>
                </a:quadBezTo>
                <a:quadBezTo>
                  <a:pt x="80795" y="6422"/>
                  <a:pt x="80371" y="10193"/>
                </a:quadBezTo>
                <a:quadBezTo>
                  <a:pt x="80165" y="13982"/>
                  <a:pt x="77199" y="16349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24000" y="742950"/>
            <a:ext cx="67115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第 7 / 20 题</a:t>
            </a:r>
          </a:p>
        </p:txBody>
      </p:sp>
      <p:sp>
        <p:nvSpPr>
          <p:cNvPr id="8" name="Ellipse"/>
          <p:cNvSpPr/>
          <p:nvPr/>
        </p:nvSpPr>
        <p:spPr>
          <a:xfrm>
            <a:off x="3181350" y="628650"/>
            <a:ext cx="419100" cy="41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3352800" y="800100"/>
            <a:ext cx="28575" cy="76200"/>
          </a:xfrm>
          <a:prstGeom prst="roundRect">
            <a:avLst>
              <a:gd name="adj" fmla="val 4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3400425" y="800100"/>
            <a:ext cx="28575" cy="76200"/>
          </a:xfrm>
          <a:prstGeom prst="roundRect">
            <a:avLst>
              <a:gd name="adj" fmla="val 4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0" y="1085850"/>
            <a:ext cx="3714750" cy="57150"/>
          </a:xfrm>
          <a:prstGeom prst="rect">
            <a:avLst/>
          </a:prstGeom>
          <a:solidFill>
            <a:srgbClr val="EAE3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0" y="1085850"/>
            <a:ext cx="1295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190500" y="1295400"/>
            <a:ext cx="3333750" cy="495300"/>
          </a:xfrm>
          <a:prstGeom prst="roundRect">
            <a:avLst>
              <a:gd name="adj" fmla="val 26923"/>
            </a:avLst>
          </a:prstGeom>
          <a:solidFill>
            <a:srgbClr val="FCEB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323850" y="1428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22E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398489" y="1503389"/>
            <a:ext cx="86942" cy="86942"/>
          </a:xfrm>
          <a:custGeom>
            <a:avLst/>
            <a:gdLst/>
            <a:ahLst/>
            <a:cxnLst/>
            <a:rect l="0" t="0" r="r" b="b"/>
            <a:pathLst>
              <a:path w="86942" h="86942">
                <a:moveTo>
                  <a:pt x="83601" y="18831"/>
                </a:moveTo>
                <a:lnTo>
                  <a:pt x="58962" y="43471"/>
                </a:lnTo>
                <a:lnTo>
                  <a:pt x="83601" y="68110"/>
                </a:lnTo>
                <a:quadBezTo>
                  <a:pt x="86942" y="71264"/>
                  <a:pt x="86810" y="75856"/>
                </a:quadBezTo>
                <a:quadBezTo>
                  <a:pt x="86942" y="80448"/>
                  <a:pt x="83601" y="83601"/>
                </a:quadBezTo>
                <a:quadBezTo>
                  <a:pt x="80448" y="86942"/>
                  <a:pt x="75856" y="86810"/>
                </a:quadBezTo>
                <a:quadBezTo>
                  <a:pt x="71264" y="86942"/>
                  <a:pt x="68110" y="83601"/>
                </a:quadBezTo>
                <a:lnTo>
                  <a:pt x="43471" y="58962"/>
                </a:lnTo>
                <a:lnTo>
                  <a:pt x="18831" y="83601"/>
                </a:lnTo>
                <a:quadBezTo>
                  <a:pt x="15678" y="86942"/>
                  <a:pt x="11086" y="86810"/>
                </a:quadBezTo>
                <a:quadBezTo>
                  <a:pt x="6494" y="86942"/>
                  <a:pt x="3340" y="83601"/>
                </a:quadBezTo>
                <a:quadBezTo>
                  <a:pt x="0" y="80448"/>
                  <a:pt x="132" y="75856"/>
                </a:quadBezTo>
                <a:quadBezTo>
                  <a:pt x="0" y="71264"/>
                  <a:pt x="3340" y="68110"/>
                </a:quadBezTo>
                <a:lnTo>
                  <a:pt x="27980" y="43471"/>
                </a:lnTo>
                <a:lnTo>
                  <a:pt x="3340" y="18831"/>
                </a:lnTo>
                <a:quadBezTo>
                  <a:pt x="0" y="15678"/>
                  <a:pt x="132" y="11086"/>
                </a:quadBezTo>
                <a:quadBezTo>
                  <a:pt x="0" y="6494"/>
                  <a:pt x="3340" y="3340"/>
                </a:quadBezTo>
                <a:quadBezTo>
                  <a:pt x="6494" y="0"/>
                  <a:pt x="11086" y="132"/>
                </a:quadBezTo>
                <a:quadBezTo>
                  <a:pt x="15678" y="0"/>
                  <a:pt x="18831" y="3340"/>
                </a:quadBezTo>
                <a:lnTo>
                  <a:pt x="43471" y="27980"/>
                </a:lnTo>
                <a:lnTo>
                  <a:pt x="68110" y="3340"/>
                </a:lnTo>
                <a:quadBezTo>
                  <a:pt x="71264" y="0"/>
                  <a:pt x="75856" y="132"/>
                </a:quadBezTo>
                <a:quadBezTo>
                  <a:pt x="80448" y="0"/>
                  <a:pt x="83601" y="3340"/>
                </a:quadBezTo>
                <a:quadBezTo>
                  <a:pt x="86942" y="6494"/>
                  <a:pt x="86810" y="11086"/>
                </a:quadBezTo>
                <a:quadBezTo>
                  <a:pt x="86942" y="15678"/>
                  <a:pt x="83601" y="1883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657225" y="1438275"/>
            <a:ext cx="1636204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125">
                <a:solidFill>
                  <a:srgbClr val="A3221C"/>
                </a:solidFill>
                <a:latin typeface="Noto Sans SC Bold"/>
                <a:ea typeface="Noto Sans SC Bold"/>
                <a:cs typeface="Noto Sans SC Bold"/>
              </a:rPr>
              <a:t>回答错误 · 已加入错题本</a:t>
            </a:r>
          </a:p>
        </p:txBody>
      </p:sp>
      <p:sp>
        <p:nvSpPr>
          <p:cNvPr id="17" name="Rectangle"/>
          <p:cNvSpPr/>
          <p:nvPr/>
        </p:nvSpPr>
        <p:spPr>
          <a:xfrm>
            <a:off x="197167" y="1302067"/>
            <a:ext cx="3320415" cy="481965"/>
          </a:xfrm>
          <a:prstGeom prst="roundRect">
            <a:avLst>
              <a:gd name="adj" fmla="val 26284"/>
            </a:avLst>
          </a:prstGeom>
          <a:noFill/>
          <a:ln w="13335">
            <a:solidFill>
              <a:srgbClr val="C22E2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90500" y="1924050"/>
            <a:ext cx="32575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175"/>
              </a:lnSpc>
            </a:pPr>
            <a:r>
              <a:rPr lang="zh-CN" sz="13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生产经营单位应当采取的技术措施包括下列哪些？</a:t>
            </a:r>
          </a:p>
        </p:txBody>
      </p:sp>
      <p:sp>
        <p:nvSpPr>
          <p:cNvPr id="19" name="Rectangle"/>
          <p:cNvSpPr/>
          <p:nvPr/>
        </p:nvSpPr>
        <p:spPr>
          <a:xfrm>
            <a:off x="190500" y="2609850"/>
            <a:ext cx="3333750" cy="666750"/>
          </a:xfrm>
          <a:prstGeom prst="roundRect">
            <a:avLst>
              <a:gd name="adj" fmla="val 17142"/>
            </a:avLst>
          </a:prstGeom>
          <a:solidFill>
            <a:srgbClr val="FDF4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304800" y="28384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C22E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360871" y="2894521"/>
            <a:ext cx="97408" cy="97408"/>
          </a:xfrm>
          <a:custGeom>
            <a:avLst/>
            <a:gdLst/>
            <a:ahLst/>
            <a:cxnLst/>
            <a:rect l="0" t="0" r="r" b="b"/>
            <a:pathLst>
              <a:path w="97408" h="97408">
                <a:moveTo>
                  <a:pt x="94213" y="18013"/>
                </a:moveTo>
                <a:lnTo>
                  <a:pt x="63521" y="48704"/>
                </a:lnTo>
                <a:lnTo>
                  <a:pt x="94213" y="79395"/>
                </a:lnTo>
                <a:quadBezTo>
                  <a:pt x="97408" y="82412"/>
                  <a:pt x="97281" y="86804"/>
                </a:quadBezTo>
                <a:quadBezTo>
                  <a:pt x="97408" y="91196"/>
                  <a:pt x="94213" y="94213"/>
                </a:quadBezTo>
                <a:quadBezTo>
                  <a:pt x="91196" y="97408"/>
                  <a:pt x="86804" y="97281"/>
                </a:quadBezTo>
                <a:quadBezTo>
                  <a:pt x="82412" y="97408"/>
                  <a:pt x="79395" y="94213"/>
                </a:quadBezTo>
                <a:lnTo>
                  <a:pt x="48704" y="63521"/>
                </a:lnTo>
                <a:lnTo>
                  <a:pt x="18013" y="94213"/>
                </a:lnTo>
                <a:quadBezTo>
                  <a:pt x="14996" y="97408"/>
                  <a:pt x="10604" y="97281"/>
                </a:quadBezTo>
                <a:quadBezTo>
                  <a:pt x="6212" y="97408"/>
                  <a:pt x="3195" y="94213"/>
                </a:quadBezTo>
                <a:quadBezTo>
                  <a:pt x="0" y="91196"/>
                  <a:pt x="126" y="86804"/>
                </a:quadBezTo>
                <a:quadBezTo>
                  <a:pt x="0" y="82412"/>
                  <a:pt x="3195" y="79395"/>
                </a:quadBezTo>
                <a:lnTo>
                  <a:pt x="33886" y="48704"/>
                </a:lnTo>
                <a:lnTo>
                  <a:pt x="3195" y="18013"/>
                </a:lnTo>
                <a:quadBezTo>
                  <a:pt x="0" y="14996"/>
                  <a:pt x="126" y="10604"/>
                </a:quadBezTo>
                <a:quadBezTo>
                  <a:pt x="0" y="6212"/>
                  <a:pt x="3195" y="3195"/>
                </a:quadBezTo>
                <a:quadBezTo>
                  <a:pt x="6212" y="0"/>
                  <a:pt x="10604" y="126"/>
                </a:quadBezTo>
                <a:quadBezTo>
                  <a:pt x="14996" y="0"/>
                  <a:pt x="18013" y="3195"/>
                </a:quadBezTo>
                <a:lnTo>
                  <a:pt x="48704" y="33886"/>
                </a:lnTo>
                <a:lnTo>
                  <a:pt x="79395" y="3195"/>
                </a:lnTo>
                <a:quadBezTo>
                  <a:pt x="82412" y="0"/>
                  <a:pt x="86804" y="126"/>
                </a:quadBezTo>
                <a:quadBezTo>
                  <a:pt x="91196" y="0"/>
                  <a:pt x="94213" y="3195"/>
                </a:quadBezTo>
                <a:quadBezTo>
                  <a:pt x="97408" y="6212"/>
                  <a:pt x="97281" y="10604"/>
                </a:quadBezTo>
                <a:quadBezTo>
                  <a:pt x="97408" y="14996"/>
                  <a:pt x="94213" y="18013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609600" y="2724150"/>
            <a:ext cx="2281619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A. 对生产设备、设施进行定期检查和维护保养</a:t>
            </a:r>
          </a:p>
        </p:txBody>
      </p:sp>
      <p:sp>
        <p:nvSpPr>
          <p:cNvPr id="23" name="Rectangle"/>
          <p:cNvSpPr/>
          <p:nvPr/>
        </p:nvSpPr>
        <p:spPr>
          <a:xfrm>
            <a:off x="3067050" y="2838450"/>
            <a:ext cx="342900" cy="209550"/>
          </a:xfrm>
          <a:prstGeom prst="roundRect">
            <a:avLst>
              <a:gd name="adj" fmla="val 50000"/>
            </a:avLst>
          </a:prstGeom>
          <a:solidFill>
            <a:srgbClr val="C22E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3143250" y="28765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你选</a:t>
            </a:r>
          </a:p>
        </p:txBody>
      </p:sp>
      <p:sp>
        <p:nvSpPr>
          <p:cNvPr id="25" name="Rectangle"/>
          <p:cNvSpPr/>
          <p:nvPr/>
        </p:nvSpPr>
        <p:spPr>
          <a:xfrm>
            <a:off x="197644" y="2616994"/>
            <a:ext cx="33194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C22E2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90500" y="3352800"/>
            <a:ext cx="3333750" cy="666750"/>
          </a:xfrm>
          <a:prstGeom prst="roundRect">
            <a:avLst>
              <a:gd name="adj" fmla="val 17142"/>
            </a:avLst>
          </a:prstGeom>
          <a:solidFill>
            <a:srgbClr val="EDF7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304800" y="358140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351828" y="3647415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609600" y="3467100"/>
            <a:ext cx="2288153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B. 组织员工进行安全生产教育和培训，建立培训档案</a:t>
            </a:r>
          </a:p>
        </p:txBody>
      </p:sp>
      <p:sp>
        <p:nvSpPr>
          <p:cNvPr id="30" name="Rectangle"/>
          <p:cNvSpPr/>
          <p:nvPr/>
        </p:nvSpPr>
        <p:spPr>
          <a:xfrm>
            <a:off x="3067050" y="3581400"/>
            <a:ext cx="342900" cy="209550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3143250" y="36195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正确</a:t>
            </a:r>
          </a:p>
        </p:txBody>
      </p:sp>
      <p:sp>
        <p:nvSpPr>
          <p:cNvPr id="32" name="Rectangle"/>
          <p:cNvSpPr/>
          <p:nvPr/>
        </p:nvSpPr>
        <p:spPr>
          <a:xfrm>
            <a:off x="197644" y="3359944"/>
            <a:ext cx="33194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1F7A3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190500" y="4095750"/>
            <a:ext cx="3333750" cy="666750"/>
          </a:xfrm>
          <a:prstGeom prst="roundRect">
            <a:avLst>
              <a:gd name="adj" fmla="val 17142"/>
            </a:avLst>
          </a:prstGeom>
          <a:solidFill>
            <a:srgbClr val="EDF7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304800" y="432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Path"/>
          <p:cNvSpPr/>
          <p:nvPr/>
        </p:nvSpPr>
        <p:spPr>
          <a:xfrm>
            <a:off x="351828" y="4390365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609600" y="4210050"/>
            <a:ext cx="2285619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C. 在有明显职业病危害因素超标的工作场所组织应急演练</a:t>
            </a:r>
          </a:p>
        </p:txBody>
      </p:sp>
      <p:sp>
        <p:nvSpPr>
          <p:cNvPr id="37" name="Rectangle"/>
          <p:cNvSpPr/>
          <p:nvPr/>
        </p:nvSpPr>
        <p:spPr>
          <a:xfrm>
            <a:off x="3067050" y="4324350"/>
            <a:ext cx="342900" cy="209550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3143250" y="43624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漏选</a:t>
            </a:r>
          </a:p>
        </p:txBody>
      </p:sp>
      <p:sp>
        <p:nvSpPr>
          <p:cNvPr id="39" name="Rectangle"/>
          <p:cNvSpPr/>
          <p:nvPr/>
        </p:nvSpPr>
        <p:spPr>
          <a:xfrm>
            <a:off x="197644" y="4102894"/>
            <a:ext cx="33194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1F7A3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190500" y="4838700"/>
            <a:ext cx="3333750" cy="666750"/>
          </a:xfrm>
          <a:prstGeom prst="roundRect">
            <a:avLst>
              <a:gd name="adj" fmla="val 17142"/>
            </a:avLst>
          </a:prstGeom>
          <a:solidFill>
            <a:srgbClr val="EDF7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304800" y="506730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Path"/>
          <p:cNvSpPr/>
          <p:nvPr/>
        </p:nvSpPr>
        <p:spPr>
          <a:xfrm>
            <a:off x="351828" y="5133315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609600" y="4953000"/>
            <a:ext cx="2292287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D. 依法履行安全生产管理职责，对所负责安全生产工作进行检查</a:t>
            </a:r>
          </a:p>
        </p:txBody>
      </p:sp>
      <p:sp>
        <p:nvSpPr>
          <p:cNvPr id="44" name="Rectangle"/>
          <p:cNvSpPr/>
          <p:nvPr/>
        </p:nvSpPr>
        <p:spPr>
          <a:xfrm>
            <a:off x="3067050" y="5067300"/>
            <a:ext cx="342900" cy="209550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3143250" y="51054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漏选</a:t>
            </a:r>
          </a:p>
        </p:txBody>
      </p:sp>
      <p:sp>
        <p:nvSpPr>
          <p:cNvPr id="46" name="Rectangle"/>
          <p:cNvSpPr/>
          <p:nvPr/>
        </p:nvSpPr>
        <p:spPr>
          <a:xfrm>
            <a:off x="197644" y="4845844"/>
            <a:ext cx="33194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1F7A3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190500" y="5638800"/>
            <a:ext cx="3333750" cy="2752725"/>
          </a:xfrm>
          <a:prstGeom prst="roundRect">
            <a:avLst>
              <a:gd name="adj" fmla="val 484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"/>
          <p:cNvSpPr/>
          <p:nvPr/>
        </p:nvSpPr>
        <p:spPr>
          <a:xfrm>
            <a:off x="342900" y="579120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438150" y="583882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正确答案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028700" y="5800725"/>
            <a:ext cx="489689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en-US" sz="1200">
                <a:solidFill>
                  <a:srgbClr val="1E7A3C"/>
                </a:solidFill>
                <a:latin typeface="Inter Tight Bold"/>
                <a:ea typeface="Inter Tight Bold"/>
                <a:cs typeface="Inter Tight Bold"/>
              </a:rPr>
              <a:t>B、C、D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342900" y="6115050"/>
            <a:ext cx="29337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875"/>
              </a:lnSpc>
            </a:pPr>
            <a:r>
              <a:rPr lang="zh-CN" sz="105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根据《安全生产法》第二十八条，生产经营单位应当对从业人员进行安全生产教育和培训，保证从业人员具备必要的安全生产知识，熟悉有关的安全生产规章制度和安全操作规程，掌握本岗位的安全操作技能。技术措施包括设备设施的定期检查维护、应急演练以及对所负责区域的安全检查。</a:t>
            </a:r>
          </a:p>
        </p:txBody>
      </p:sp>
      <p:sp>
        <p:nvSpPr>
          <p:cNvPr id="52" name="Rectangle"/>
          <p:cNvSpPr/>
          <p:nvPr/>
        </p:nvSpPr>
        <p:spPr>
          <a:xfrm>
            <a:off x="342900" y="7639050"/>
            <a:ext cx="3028950" cy="600075"/>
          </a:xfrm>
          <a:prstGeom prst="roundRect">
            <a:avLst>
              <a:gd name="adj" fmla="val 15873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447675" y="7743825"/>
            <a:ext cx="153962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本题已记入错题本 · 出错 2 次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447675" y="7962900"/>
            <a:ext cx="233720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记忆进度：学习中 → 连对归零，明日立即重考</a:t>
            </a:r>
          </a:p>
        </p:txBody>
      </p:sp>
      <p:sp>
        <p:nvSpPr>
          <p:cNvPr id="55" name="Rectangle"/>
          <p:cNvSpPr/>
          <p:nvPr/>
        </p:nvSpPr>
        <p:spPr>
          <a:xfrm>
            <a:off x="195263" y="5643563"/>
            <a:ext cx="3324225" cy="2743200"/>
          </a:xfrm>
          <a:prstGeom prst="roundRect">
            <a:avLst>
              <a:gd name="adj" fmla="val 4687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"/>
          <p:cNvSpPr/>
          <p:nvPr/>
        </p:nvSpPr>
        <p:spPr>
          <a:xfrm>
            <a:off x="0" y="6610350"/>
            <a:ext cx="37147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971550" y="6743700"/>
            <a:ext cx="176570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看懂后自行前进 · 不自动跳下一题</a:t>
            </a:r>
          </a:p>
        </p:txBody>
      </p:sp>
      <p:sp>
        <p:nvSpPr>
          <p:cNvPr id="58" name="Rectangle"/>
          <p:cNvSpPr/>
          <p:nvPr/>
        </p:nvSpPr>
        <p:spPr>
          <a:xfrm>
            <a:off x="190500" y="7010400"/>
            <a:ext cx="3333750" cy="51435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1628775" y="71628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下一题</a:t>
            </a:r>
          </a:p>
        </p:txBody>
      </p:sp>
      <p:sp>
        <p:nvSpPr>
          <p:cNvPr id="60" name="Rectangle"/>
          <p:cNvSpPr/>
          <p:nvPr/>
        </p:nvSpPr>
        <p:spPr>
          <a:xfrm>
            <a:off x="4763" y="6615113"/>
            <a:ext cx="3705225" cy="10953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"/>
          <p:cNvSpPr/>
          <p:nvPr/>
        </p:nvSpPr>
        <p:spPr>
          <a:xfrm>
            <a:off x="0" y="7715250"/>
            <a:ext cx="37147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"/>
          <p:cNvSpPr/>
          <p:nvPr/>
        </p:nvSpPr>
        <p:spPr>
          <a:xfrm>
            <a:off x="1219200" y="78581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211A15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714750" cy="80391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714750" cy="59055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200025"/>
            <a:ext cx="27075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en-US" sz="11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" y="628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285834" y="781134"/>
            <a:ext cx="80795" cy="123658"/>
          </a:xfrm>
          <a:custGeom>
            <a:avLst/>
            <a:gdLst/>
            <a:ahLst/>
            <a:cxnLst/>
            <a:rect l="0" t="0" r="r" b="b"/>
            <a:pathLst>
              <a:path w="80795" h="123658">
                <a:moveTo>
                  <a:pt x="77199" y="16349"/>
                </a:moveTo>
                <a:lnTo>
                  <a:pt x="23450" y="61829"/>
                </a:lnTo>
                <a:lnTo>
                  <a:pt x="77199" y="107309"/>
                </a:lnTo>
                <a:quadBezTo>
                  <a:pt x="80165" y="109676"/>
                  <a:pt x="80371" y="113465"/>
                </a:quadBezTo>
                <a:quadBezTo>
                  <a:pt x="80795" y="117236"/>
                  <a:pt x="78262" y="120061"/>
                </a:quadBezTo>
                <a:quadBezTo>
                  <a:pt x="75895" y="123028"/>
                  <a:pt x="72105" y="123234"/>
                </a:quadBezTo>
                <a:quadBezTo>
                  <a:pt x="68334" y="123658"/>
                  <a:pt x="65509" y="121124"/>
                </a:quadBezTo>
                <a:lnTo>
                  <a:pt x="3596" y="68737"/>
                </a:lnTo>
                <a:quadBezTo>
                  <a:pt x="3309" y="68493"/>
                  <a:pt x="3043" y="68227"/>
                </a:quadBezTo>
                <a:quadBezTo>
                  <a:pt x="2777" y="67961"/>
                  <a:pt x="2534" y="67674"/>
                </a:quadBezTo>
                <a:quadBezTo>
                  <a:pt x="0" y="64849"/>
                  <a:pt x="424" y="61077"/>
                </a:quadBezTo>
                <a:quadBezTo>
                  <a:pt x="630" y="57288"/>
                  <a:pt x="3596" y="54921"/>
                </a:quadBezTo>
                <a:lnTo>
                  <a:pt x="65509" y="2534"/>
                </a:lnTo>
                <a:quadBezTo>
                  <a:pt x="68334" y="0"/>
                  <a:pt x="72105" y="424"/>
                </a:quadBezTo>
                <a:quadBezTo>
                  <a:pt x="75895" y="630"/>
                  <a:pt x="78262" y="3596"/>
                </a:quadBezTo>
                <a:quadBezTo>
                  <a:pt x="80795" y="6422"/>
                  <a:pt x="80371" y="10193"/>
                </a:quadBezTo>
                <a:quadBezTo>
                  <a:pt x="80165" y="13982"/>
                  <a:pt x="77199" y="16349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647825" y="733425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1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成绩单</a:t>
            </a:r>
          </a:p>
        </p:txBody>
      </p:sp>
      <p:sp>
        <p:nvSpPr>
          <p:cNvPr id="8" name="Rectangle"/>
          <p:cNvSpPr/>
          <p:nvPr/>
        </p:nvSpPr>
        <p:spPr>
          <a:xfrm>
            <a:off x="3181350" y="628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3334117" y="781417"/>
            <a:ext cx="123091" cy="123091"/>
          </a:xfrm>
          <a:custGeom>
            <a:avLst/>
            <a:gdLst/>
            <a:ahLst/>
            <a:cxnLst/>
            <a:rect l="0" t="0" r="r" b="b"/>
            <a:pathLst>
              <a:path w="123091" h="123091">
                <a:moveTo>
                  <a:pt x="120331" y="15556"/>
                </a:moveTo>
                <a:lnTo>
                  <a:pt x="74342" y="61545"/>
                </a:lnTo>
                <a:lnTo>
                  <a:pt x="120331" y="107535"/>
                </a:lnTo>
                <a:quadBezTo>
                  <a:pt x="123091" y="110140"/>
                  <a:pt x="122982" y="113933"/>
                </a:quadBezTo>
                <a:quadBezTo>
                  <a:pt x="123091" y="117726"/>
                  <a:pt x="120331" y="120331"/>
                </a:quadBezTo>
                <a:quadBezTo>
                  <a:pt x="117726" y="123091"/>
                  <a:pt x="113933" y="122982"/>
                </a:quadBezTo>
                <a:quadBezTo>
                  <a:pt x="110140" y="123091"/>
                  <a:pt x="107535" y="120331"/>
                </a:quadBezTo>
                <a:lnTo>
                  <a:pt x="61545" y="74342"/>
                </a:lnTo>
                <a:lnTo>
                  <a:pt x="15556" y="120331"/>
                </a:lnTo>
                <a:quadBezTo>
                  <a:pt x="12951" y="123091"/>
                  <a:pt x="9158" y="122982"/>
                </a:quadBezTo>
                <a:quadBezTo>
                  <a:pt x="5365" y="123091"/>
                  <a:pt x="2760" y="120331"/>
                </a:quadBezTo>
                <a:quadBezTo>
                  <a:pt x="0" y="117726"/>
                  <a:pt x="109" y="113933"/>
                </a:quadBezTo>
                <a:quadBezTo>
                  <a:pt x="0" y="110140"/>
                  <a:pt x="2760" y="107535"/>
                </a:quadBezTo>
                <a:lnTo>
                  <a:pt x="48749" y="61545"/>
                </a:lnTo>
                <a:lnTo>
                  <a:pt x="2760" y="15556"/>
                </a:lnTo>
                <a:quadBezTo>
                  <a:pt x="0" y="12951"/>
                  <a:pt x="109" y="9158"/>
                </a:quadBezTo>
                <a:quadBezTo>
                  <a:pt x="0" y="5365"/>
                  <a:pt x="2760" y="2760"/>
                </a:quadBezTo>
                <a:quadBezTo>
                  <a:pt x="5365" y="0"/>
                  <a:pt x="9158" y="109"/>
                </a:quadBezTo>
                <a:quadBezTo>
                  <a:pt x="12951" y="0"/>
                  <a:pt x="15556" y="2760"/>
                </a:quadBezTo>
                <a:lnTo>
                  <a:pt x="61545" y="48749"/>
                </a:lnTo>
                <a:lnTo>
                  <a:pt x="107535" y="2760"/>
                </a:lnTo>
                <a:quadBezTo>
                  <a:pt x="110140" y="0"/>
                  <a:pt x="113933" y="109"/>
                </a:quadBezTo>
                <a:quadBezTo>
                  <a:pt x="117726" y="0"/>
                  <a:pt x="120331" y="2760"/>
                </a:quadBezTo>
                <a:quadBezTo>
                  <a:pt x="123091" y="5365"/>
                  <a:pt x="122982" y="9158"/>
                </a:quadBezTo>
                <a:quadBezTo>
                  <a:pt x="123091" y="12951"/>
                  <a:pt x="120331" y="15556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190500" y="1162050"/>
            <a:ext cx="333375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361950" y="1409700"/>
            <a:ext cx="518145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en-US" sz="3600">
                <a:solidFill>
                  <a:srgbClr val="1E7A3C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Inter Tight Bold"/>
                <a:ea typeface="Inter Tight Bold"/>
                <a:cs typeface="Inter Tight Bold"/>
              </a:rPr>
              <a:t>76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361950" y="19050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827B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正确率</a:t>
            </a:r>
          </a:p>
        </p:txBody>
      </p:sp>
      <p:sp>
        <p:nvSpPr>
          <p:cNvPr id="13" name="Rectangle"/>
          <p:cNvSpPr/>
          <p:nvPr/>
        </p:nvSpPr>
        <p:spPr>
          <a:xfrm>
            <a:off x="1038225" y="1333500"/>
            <a:ext cx="2314575" cy="809625"/>
          </a:xfrm>
          <a:prstGeom prst="roundRect">
            <a:avLst>
              <a:gd name="adj" fmla="val 11764"/>
            </a:avLst>
          </a:prstGeom>
          <a:solidFill>
            <a:srgbClr val="F3EFE9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152525" y="1447800"/>
            <a:ext cx="98800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3D3833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分母 = 已判分 42 题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152525" y="1657350"/>
            <a:ext cx="92765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答对 32 · 答错 10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152525" y="1866900"/>
            <a:ext cx="140964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827B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不含待自评 6 题 · 未作答 2 题</a:t>
            </a:r>
          </a:p>
        </p:txBody>
      </p:sp>
      <p:sp>
        <p:nvSpPr>
          <p:cNvPr id="17" name="Rectangle"/>
          <p:cNvSpPr/>
          <p:nvPr/>
        </p:nvSpPr>
        <p:spPr>
          <a:xfrm>
            <a:off x="361950" y="2276475"/>
            <a:ext cx="946150" cy="600075"/>
          </a:xfrm>
          <a:prstGeom prst="roundRect">
            <a:avLst>
              <a:gd name="adj" fmla="val 15873"/>
            </a:avLst>
          </a:prstGeom>
          <a:solidFill>
            <a:srgbClr val="FCEBE9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457200" y="2371725"/>
            <a:ext cx="193291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75"/>
              </a:lnSpc>
            </a:pPr>
            <a:r>
              <a:rPr lang="en-US" sz="1500">
                <a:solidFill>
                  <a:srgbClr val="C22E27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Inter Tight Bold"/>
                <a:ea typeface="Inter Tight Bold"/>
                <a:cs typeface="Inter Tight Bold"/>
              </a:rPr>
              <a:t>10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457200" y="2628900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E3A34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已判错</a:t>
            </a:r>
          </a:p>
        </p:txBody>
      </p:sp>
      <p:sp>
        <p:nvSpPr>
          <p:cNvPr id="20" name="Rectangle"/>
          <p:cNvSpPr/>
          <p:nvPr/>
        </p:nvSpPr>
        <p:spPr>
          <a:xfrm>
            <a:off x="1381125" y="2276475"/>
            <a:ext cx="946150" cy="600075"/>
          </a:xfrm>
          <a:prstGeom prst="roundRect">
            <a:avLst>
              <a:gd name="adj" fmla="val 15873"/>
            </a:avLst>
          </a:prstGeom>
          <a:solidFill>
            <a:srgbClr val="E8EFFC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476375" y="2371725"/>
            <a:ext cx="116086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75"/>
              </a:lnSpc>
            </a:pPr>
            <a:r>
              <a:rPr lang="en-US" sz="1500">
                <a:solidFill>
                  <a:srgbClr val="2F6BD4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Inter Tight Bold"/>
                <a:ea typeface="Inter Tight Bold"/>
                <a:cs typeface="Inter Tight Bold"/>
              </a:rPr>
              <a:t>6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476375" y="2628900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2A5499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待自评</a:t>
            </a:r>
          </a:p>
        </p:txBody>
      </p:sp>
      <p:sp>
        <p:nvSpPr>
          <p:cNvPr id="23" name="Rectangle"/>
          <p:cNvSpPr/>
          <p:nvPr/>
        </p:nvSpPr>
        <p:spPr>
          <a:xfrm>
            <a:off x="2409825" y="2276475"/>
            <a:ext cx="946150" cy="600075"/>
          </a:xfrm>
          <a:prstGeom prst="roundRect">
            <a:avLst>
              <a:gd name="adj" fmla="val 15873"/>
            </a:avLst>
          </a:prstGeom>
          <a:solidFill>
            <a:srgbClr val="F3EFE9"/>
          </a:solidFill>
          <a:ln>
            <a:noFill/>
          </a:ln>
          <a:effectLst>
            <a:outerShdw blurRad="76200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2505075" y="2371725"/>
            <a:ext cx="111342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75"/>
              </a:lnSpc>
            </a:pPr>
            <a:r>
              <a:rPr lang="en-US" sz="1500">
                <a:solidFill>
                  <a:srgbClr val="8A827B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Inter Tight Bold"/>
                <a:ea typeface="Inter Tight Bold"/>
                <a:cs typeface="Inter Tight Bold"/>
              </a:rPr>
              <a:t>2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2505075" y="2628900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6F6862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未作答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381000" y="3028950"/>
            <a:ext cx="28289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827B"/>
                </a:solidFill>
                <a:effectLst>
                  <a:outerShdw blurRad="76200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待自评不算错、不计分；未作答不计分、不写进度、不进错题本。</a:t>
            </a:r>
          </a:p>
        </p:txBody>
      </p:sp>
      <p:sp>
        <p:nvSpPr>
          <p:cNvPr id="27" name="Rectangle"/>
          <p:cNvSpPr/>
          <p:nvPr/>
        </p:nvSpPr>
        <p:spPr>
          <a:xfrm>
            <a:off x="190500" y="3676650"/>
            <a:ext cx="3333750" cy="457200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314325" y="3800475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总用时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2705100" y="3800475"/>
            <a:ext cx="69156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1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18 分 42 秒</a:t>
            </a:r>
          </a:p>
        </p:txBody>
      </p:sp>
      <p:sp>
        <p:nvSpPr>
          <p:cNvPr id="30" name="Rectangle"/>
          <p:cNvSpPr/>
          <p:nvPr/>
        </p:nvSpPr>
        <p:spPr>
          <a:xfrm>
            <a:off x="195263" y="3681413"/>
            <a:ext cx="3324225" cy="447675"/>
          </a:xfrm>
          <a:prstGeom prst="roundRect">
            <a:avLst>
              <a:gd name="adj" fmla="val 28723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90500" y="4267200"/>
            <a:ext cx="3333750" cy="2581275"/>
          </a:xfrm>
          <a:prstGeom prst="roundRect">
            <a:avLst>
              <a:gd name="adj" fmla="val 51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323850" y="4400550"/>
            <a:ext cx="1367904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待你评定 · 6 题主观题</a:t>
            </a:r>
          </a:p>
        </p:txBody>
      </p:sp>
      <p:sp>
        <p:nvSpPr>
          <p:cNvPr id="33" name="Rectangle"/>
          <p:cNvSpPr/>
          <p:nvPr/>
        </p:nvSpPr>
        <p:spPr>
          <a:xfrm>
            <a:off x="2647950" y="4400550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2733675" y="44386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1B4A99"/>
                </a:solidFill>
                <a:latin typeface="Noto Sans SC"/>
                <a:ea typeface="Noto Sans SC"/>
                <a:cs typeface="Noto Sans SC"/>
              </a:rPr>
              <a:t>未计入正确率</a:t>
            </a:r>
          </a:p>
        </p:txBody>
      </p:sp>
      <p:sp>
        <p:nvSpPr>
          <p:cNvPr id="35" name="Rectangle"/>
          <p:cNvSpPr/>
          <p:nvPr/>
        </p:nvSpPr>
        <p:spPr>
          <a:xfrm>
            <a:off x="323850" y="4705350"/>
            <a:ext cx="3067050" cy="2009775"/>
          </a:xfrm>
          <a:prstGeom prst="roundRect">
            <a:avLst>
              <a:gd name="adj" fmla="val 4739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428625" y="4810125"/>
            <a:ext cx="24765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97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简述生产经营单位安全生产管理的基本职责。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428625" y="50863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你的作答：建立健全安全生产责任制、组织安全教育、督促检查隐患、制止违章行为。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428625" y="554355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14602D"/>
                </a:solidFill>
                <a:latin typeface="Noto Sans SC"/>
                <a:ea typeface="Noto Sans SC"/>
                <a:cs typeface="Noto Sans SC"/>
              </a:rPr>
              <a:t>参考答案：建立全员安全生产责任制；组织安全生产教育和培训；保证安全生产投入；开展隐患排查治理；组织应急演练。</a:t>
            </a:r>
          </a:p>
        </p:txBody>
      </p:sp>
      <p:sp>
        <p:nvSpPr>
          <p:cNvPr id="39" name="Rectangle"/>
          <p:cNvSpPr/>
          <p:nvPr/>
        </p:nvSpPr>
        <p:spPr>
          <a:xfrm>
            <a:off x="428625" y="6191250"/>
            <a:ext cx="1390650" cy="419100"/>
          </a:xfrm>
          <a:prstGeom prst="roundRect">
            <a:avLst>
              <a:gd name="adj" fmla="val 27272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876300" y="63150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算我答对</a:t>
            </a:r>
          </a:p>
        </p:txBody>
      </p:sp>
      <p:sp>
        <p:nvSpPr>
          <p:cNvPr id="41" name="Rectangle"/>
          <p:cNvSpPr/>
          <p:nvPr/>
        </p:nvSpPr>
        <p:spPr>
          <a:xfrm>
            <a:off x="1895475" y="6191250"/>
            <a:ext cx="1390650" cy="419100"/>
          </a:xfrm>
          <a:prstGeom prst="roundRect">
            <a:avLst>
              <a:gd name="adj" fmla="val 27272"/>
            </a:avLst>
          </a:prstGeom>
          <a:solidFill>
            <a:srgbClr val="FCEB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2343150" y="63150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A3221C"/>
                </a:solidFill>
                <a:latin typeface="Noto Sans SC Bold"/>
                <a:ea typeface="Noto Sans SC Bold"/>
                <a:cs typeface="Noto Sans SC Bold"/>
              </a:rPr>
              <a:t>还是答错</a:t>
            </a:r>
          </a:p>
        </p:txBody>
      </p:sp>
      <p:sp>
        <p:nvSpPr>
          <p:cNvPr id="43" name="Rectangle"/>
          <p:cNvSpPr/>
          <p:nvPr/>
        </p:nvSpPr>
        <p:spPr>
          <a:xfrm>
            <a:off x="195263" y="4271963"/>
            <a:ext cx="3324225" cy="257175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190500" y="6981825"/>
            <a:ext cx="3333750" cy="1790700"/>
          </a:xfrm>
          <a:prstGeom prst="roundRect">
            <a:avLst>
              <a:gd name="adj" fmla="val 744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342900" y="7134225"/>
            <a:ext cx="834504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未作答 · 2 题</a:t>
            </a:r>
          </a:p>
        </p:txBody>
      </p:sp>
      <p:sp>
        <p:nvSpPr>
          <p:cNvPr id="46" name="Rectangle"/>
          <p:cNvSpPr/>
          <p:nvPr/>
        </p:nvSpPr>
        <p:spPr>
          <a:xfrm>
            <a:off x="2390775" y="7134225"/>
            <a:ext cx="981075" cy="20955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2476500" y="7172325"/>
            <a:ext cx="80486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不计分 · 未记错题</a:t>
            </a:r>
          </a:p>
        </p:txBody>
      </p:sp>
      <p:sp>
        <p:nvSpPr>
          <p:cNvPr id="48" name="Rectangle"/>
          <p:cNvSpPr/>
          <p:nvPr/>
        </p:nvSpPr>
        <p:spPr>
          <a:xfrm>
            <a:off x="342900" y="7458075"/>
            <a:ext cx="3028950" cy="1162050"/>
          </a:xfrm>
          <a:prstGeom prst="roundRect">
            <a:avLst>
              <a:gd name="adj" fmla="val 8196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466725" y="7581900"/>
            <a:ext cx="260032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75"/>
              </a:lnSpc>
            </a:pPr>
            <a:r>
              <a:rPr lang="zh-CN" sz="97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发生生产安全事故后，报告程序与时限要求是什么？</a:t>
            </a:r>
          </a:p>
        </p:txBody>
      </p:sp>
      <p:sp>
        <p:nvSpPr>
          <p:cNvPr id="50" name="Rectangle"/>
          <p:cNvSpPr/>
          <p:nvPr/>
        </p:nvSpPr>
        <p:spPr>
          <a:xfrm>
            <a:off x="466725" y="8077200"/>
            <a:ext cx="2781300" cy="419100"/>
          </a:xfrm>
          <a:prstGeom prst="roundRect">
            <a:avLst>
              <a:gd name="adj" fmla="val 27272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1552575" y="8201025"/>
            <a:ext cx="6191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现在去作答</a:t>
            </a:r>
          </a:p>
        </p:txBody>
      </p:sp>
      <p:sp>
        <p:nvSpPr>
          <p:cNvPr id="52" name="Rectangle"/>
          <p:cNvSpPr/>
          <p:nvPr/>
        </p:nvSpPr>
        <p:spPr>
          <a:xfrm>
            <a:off x="195263" y="6986588"/>
            <a:ext cx="3324225" cy="1781175"/>
          </a:xfrm>
          <a:prstGeom prst="roundRect">
            <a:avLst>
              <a:gd name="adj" fmla="val 7219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0" y="5886450"/>
            <a:ext cx="371475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"/>
          <p:cNvSpPr/>
          <p:nvPr/>
        </p:nvSpPr>
        <p:spPr>
          <a:xfrm>
            <a:off x="190500" y="6019800"/>
            <a:ext cx="3333750" cy="381000"/>
          </a:xfrm>
          <a:prstGeom prst="roundRect">
            <a:avLst>
              <a:gd name="adj" fmla="val 25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295275" y="6124575"/>
            <a:ext cx="275645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10 道错题已进错题本 · 42 道已判分题已更新记忆进度</a:t>
            </a:r>
          </a:p>
        </p:txBody>
      </p:sp>
      <p:sp>
        <p:nvSpPr>
          <p:cNvPr id="56" name="Rectangle"/>
          <p:cNvSpPr/>
          <p:nvPr/>
        </p:nvSpPr>
        <p:spPr>
          <a:xfrm>
            <a:off x="190500" y="6496050"/>
            <a:ext cx="3333750" cy="51435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1104900" y="6648450"/>
            <a:ext cx="1499311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查看错题清单 · 10 题</a:t>
            </a:r>
          </a:p>
        </p:txBody>
      </p:sp>
      <p:sp>
        <p:nvSpPr>
          <p:cNvPr id="58" name="Rectangle"/>
          <p:cNvSpPr/>
          <p:nvPr/>
        </p:nvSpPr>
        <p:spPr>
          <a:xfrm>
            <a:off x="190500" y="7105650"/>
            <a:ext cx="3333750" cy="4191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1590675" y="72199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返回今日</a:t>
            </a:r>
          </a:p>
        </p:txBody>
      </p:sp>
      <p:sp>
        <p:nvSpPr>
          <p:cNvPr id="60" name="Rectangle"/>
          <p:cNvSpPr/>
          <p:nvPr/>
        </p:nvSpPr>
        <p:spPr>
          <a:xfrm>
            <a:off x="4763" y="5891213"/>
            <a:ext cx="3705225" cy="18192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"/>
          <p:cNvSpPr/>
          <p:nvPr/>
        </p:nvSpPr>
        <p:spPr>
          <a:xfrm>
            <a:off x="0" y="7715250"/>
            <a:ext cx="37147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"/>
          <p:cNvSpPr/>
          <p:nvPr/>
        </p:nvSpPr>
        <p:spPr>
          <a:xfrm>
            <a:off x="1219200" y="78581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211A15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714750" cy="8039100"/>
          </a:xfrm>
          <a:prstGeom prst="rect">
            <a:avLst/>
          </a:prstGeom>
          <a:solidFill>
            <a:srgbClr val="1412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3714750" cy="590550"/>
          </a:xfrm>
          <a:prstGeom prst="rect">
            <a:avLst/>
          </a:prstGeom>
          <a:solidFill>
            <a:srgbClr val="1412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200025"/>
            <a:ext cx="27075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en-US" sz="1125">
                <a:solidFill>
                  <a:srgbClr val="F5F1EB"/>
                </a:solidFill>
                <a:latin typeface="Inter Tight Bold"/>
                <a:ea typeface="Inter Tight Bold"/>
                <a:cs typeface="Inter Tight Bold"/>
              </a:rPr>
              <a:t>9:41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" y="628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D1B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285834" y="781134"/>
            <a:ext cx="80795" cy="123658"/>
          </a:xfrm>
          <a:custGeom>
            <a:avLst/>
            <a:gdLst/>
            <a:ahLst/>
            <a:cxnLst/>
            <a:rect l="0" t="0" r="r" b="b"/>
            <a:pathLst>
              <a:path w="80795" h="123658">
                <a:moveTo>
                  <a:pt x="77199" y="16349"/>
                </a:moveTo>
                <a:lnTo>
                  <a:pt x="23450" y="61829"/>
                </a:lnTo>
                <a:lnTo>
                  <a:pt x="77199" y="107309"/>
                </a:lnTo>
                <a:quadBezTo>
                  <a:pt x="80165" y="109676"/>
                  <a:pt x="80371" y="113465"/>
                </a:quadBezTo>
                <a:quadBezTo>
                  <a:pt x="80795" y="117236"/>
                  <a:pt x="78262" y="120061"/>
                </a:quadBezTo>
                <a:quadBezTo>
                  <a:pt x="75895" y="123028"/>
                  <a:pt x="72105" y="123234"/>
                </a:quadBezTo>
                <a:quadBezTo>
                  <a:pt x="68334" y="123658"/>
                  <a:pt x="65509" y="121124"/>
                </a:quadBezTo>
                <a:lnTo>
                  <a:pt x="3596" y="68737"/>
                </a:lnTo>
                <a:quadBezTo>
                  <a:pt x="3309" y="68493"/>
                  <a:pt x="3043" y="68227"/>
                </a:quadBezTo>
                <a:quadBezTo>
                  <a:pt x="2777" y="67961"/>
                  <a:pt x="2534" y="67674"/>
                </a:quadBezTo>
                <a:quadBezTo>
                  <a:pt x="0" y="64849"/>
                  <a:pt x="424" y="61077"/>
                </a:quadBezTo>
                <a:quadBezTo>
                  <a:pt x="630" y="57288"/>
                  <a:pt x="3596" y="54921"/>
                </a:quadBezTo>
                <a:lnTo>
                  <a:pt x="65509" y="2534"/>
                </a:lnTo>
                <a:quadBezTo>
                  <a:pt x="68334" y="0"/>
                  <a:pt x="72105" y="424"/>
                </a:quadBezTo>
                <a:quadBezTo>
                  <a:pt x="75895" y="630"/>
                  <a:pt x="78262" y="3596"/>
                </a:quadBezTo>
                <a:quadBezTo>
                  <a:pt x="80795" y="6422"/>
                  <a:pt x="80371" y="10193"/>
                </a:quadBezTo>
                <a:quadBezTo>
                  <a:pt x="80165" y="13982"/>
                  <a:pt x="77199" y="16349"/>
                </a:quadBezTo>
                <a:close/>
              </a:path>
            </a:pathLst>
          </a:custGeom>
          <a:solidFill>
            <a:srgbClr val="F5F1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524000" y="742950"/>
            <a:ext cx="67115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F5F1EB"/>
                </a:solidFill>
                <a:latin typeface="Noto Sans SC Bold"/>
                <a:ea typeface="Noto Sans SC Bold"/>
                <a:cs typeface="Noto Sans SC Bold"/>
              </a:rPr>
              <a:t>第 7 / 20 题</a:t>
            </a:r>
          </a:p>
        </p:txBody>
      </p:sp>
      <p:sp>
        <p:nvSpPr>
          <p:cNvPr id="8" name="Ellipse"/>
          <p:cNvSpPr/>
          <p:nvPr/>
        </p:nvSpPr>
        <p:spPr>
          <a:xfrm>
            <a:off x="3181350" y="628650"/>
            <a:ext cx="419100" cy="419100"/>
          </a:xfrm>
          <a:prstGeom prst="ellipse">
            <a:avLst/>
          </a:prstGeom>
          <a:solidFill>
            <a:srgbClr val="1D1B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3352800" y="800100"/>
            <a:ext cx="28575" cy="76200"/>
          </a:xfrm>
          <a:prstGeom prst="roundRect">
            <a:avLst>
              <a:gd name="adj" fmla="val 40000"/>
            </a:avLst>
          </a:prstGeom>
          <a:solidFill>
            <a:srgbClr val="F5F1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3400425" y="800100"/>
            <a:ext cx="28575" cy="76200"/>
          </a:xfrm>
          <a:prstGeom prst="roundRect">
            <a:avLst>
              <a:gd name="adj" fmla="val 40000"/>
            </a:avLst>
          </a:prstGeom>
          <a:solidFill>
            <a:srgbClr val="F5F1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0" y="1085850"/>
            <a:ext cx="3714750" cy="5715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0" y="1085850"/>
            <a:ext cx="1295400" cy="57150"/>
          </a:xfrm>
          <a:prstGeom prst="rect">
            <a:avLst/>
          </a:prstGeom>
          <a:solidFill>
            <a:srgbClr val="FAC6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190500" y="1295400"/>
            <a:ext cx="3333750" cy="495300"/>
          </a:xfrm>
          <a:prstGeom prst="roundRect">
            <a:avLst>
              <a:gd name="adj" fmla="val 26923"/>
            </a:avLst>
          </a:prstGeom>
          <a:solidFill>
            <a:srgbClr val="2A1D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323850" y="1428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398489" y="1503389"/>
            <a:ext cx="86942" cy="86942"/>
          </a:xfrm>
          <a:custGeom>
            <a:avLst/>
            <a:gdLst/>
            <a:ahLst/>
            <a:cxnLst/>
            <a:rect l="0" t="0" r="r" b="b"/>
            <a:pathLst>
              <a:path w="86942" h="86942">
                <a:moveTo>
                  <a:pt x="83601" y="18831"/>
                </a:moveTo>
                <a:lnTo>
                  <a:pt x="58962" y="43471"/>
                </a:lnTo>
                <a:lnTo>
                  <a:pt x="83601" y="68110"/>
                </a:lnTo>
                <a:quadBezTo>
                  <a:pt x="86942" y="71264"/>
                  <a:pt x="86810" y="75856"/>
                </a:quadBezTo>
                <a:quadBezTo>
                  <a:pt x="86942" y="80448"/>
                  <a:pt x="83601" y="83601"/>
                </a:quadBezTo>
                <a:quadBezTo>
                  <a:pt x="80448" y="86942"/>
                  <a:pt x="75856" y="86810"/>
                </a:quadBezTo>
                <a:quadBezTo>
                  <a:pt x="71264" y="86942"/>
                  <a:pt x="68110" y="83601"/>
                </a:quadBezTo>
                <a:lnTo>
                  <a:pt x="43471" y="58962"/>
                </a:lnTo>
                <a:lnTo>
                  <a:pt x="18831" y="83601"/>
                </a:lnTo>
                <a:quadBezTo>
                  <a:pt x="15678" y="86942"/>
                  <a:pt x="11086" y="86810"/>
                </a:quadBezTo>
                <a:quadBezTo>
                  <a:pt x="6494" y="86942"/>
                  <a:pt x="3340" y="83601"/>
                </a:quadBezTo>
                <a:quadBezTo>
                  <a:pt x="0" y="80448"/>
                  <a:pt x="132" y="75856"/>
                </a:quadBezTo>
                <a:quadBezTo>
                  <a:pt x="0" y="71264"/>
                  <a:pt x="3340" y="68110"/>
                </a:quadBezTo>
                <a:lnTo>
                  <a:pt x="27980" y="43471"/>
                </a:lnTo>
                <a:lnTo>
                  <a:pt x="3340" y="18831"/>
                </a:lnTo>
                <a:quadBezTo>
                  <a:pt x="0" y="15678"/>
                  <a:pt x="132" y="11086"/>
                </a:quadBezTo>
                <a:quadBezTo>
                  <a:pt x="0" y="6494"/>
                  <a:pt x="3340" y="3340"/>
                </a:quadBezTo>
                <a:quadBezTo>
                  <a:pt x="6494" y="0"/>
                  <a:pt x="11086" y="132"/>
                </a:quadBezTo>
                <a:quadBezTo>
                  <a:pt x="15678" y="0"/>
                  <a:pt x="18831" y="3340"/>
                </a:quadBezTo>
                <a:lnTo>
                  <a:pt x="43471" y="27980"/>
                </a:lnTo>
                <a:lnTo>
                  <a:pt x="68110" y="3340"/>
                </a:lnTo>
                <a:quadBezTo>
                  <a:pt x="71264" y="0"/>
                  <a:pt x="75856" y="132"/>
                </a:quadBezTo>
                <a:quadBezTo>
                  <a:pt x="80448" y="0"/>
                  <a:pt x="83601" y="3340"/>
                </a:quadBezTo>
                <a:quadBezTo>
                  <a:pt x="86942" y="6494"/>
                  <a:pt x="86810" y="11086"/>
                </a:quadBezTo>
                <a:quadBezTo>
                  <a:pt x="86942" y="15678"/>
                  <a:pt x="83601" y="18831"/>
                </a:quadBezTo>
                <a:close/>
              </a:path>
            </a:pathLst>
          </a:custGeom>
          <a:solidFill>
            <a:srgbClr val="1412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657225" y="1438275"/>
            <a:ext cx="1636204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125">
                <a:solidFill>
                  <a:srgbClr val="FCA5A5"/>
                </a:solidFill>
                <a:latin typeface="Noto Sans SC Bold"/>
                <a:ea typeface="Noto Sans SC Bold"/>
                <a:cs typeface="Noto Sans SC Bold"/>
              </a:rPr>
              <a:t>回答错误 · 已加入错题本</a:t>
            </a:r>
          </a:p>
        </p:txBody>
      </p:sp>
      <p:sp>
        <p:nvSpPr>
          <p:cNvPr id="17" name="Rectangle"/>
          <p:cNvSpPr/>
          <p:nvPr/>
        </p:nvSpPr>
        <p:spPr>
          <a:xfrm>
            <a:off x="197167" y="1302067"/>
            <a:ext cx="3320415" cy="481965"/>
          </a:xfrm>
          <a:prstGeom prst="roundRect">
            <a:avLst>
              <a:gd name="adj" fmla="val 26284"/>
            </a:avLst>
          </a:prstGeom>
          <a:noFill/>
          <a:ln w="13335">
            <a:solidFill>
              <a:srgbClr val="F7708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90500" y="1924050"/>
            <a:ext cx="32575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175"/>
              </a:lnSpc>
            </a:pPr>
            <a:r>
              <a:rPr lang="zh-CN" sz="1350">
                <a:solidFill>
                  <a:srgbClr val="F5F1EB"/>
                </a:solidFill>
                <a:latin typeface="Noto Sans SC Bold"/>
                <a:ea typeface="Noto Sans SC Bold"/>
                <a:cs typeface="Noto Sans SC Bold"/>
              </a:rPr>
              <a:t>生产经营单位应当采取的技术措施包括下列哪些？</a:t>
            </a:r>
          </a:p>
        </p:txBody>
      </p:sp>
      <p:sp>
        <p:nvSpPr>
          <p:cNvPr id="19" name="Rectangle"/>
          <p:cNvSpPr/>
          <p:nvPr/>
        </p:nvSpPr>
        <p:spPr>
          <a:xfrm>
            <a:off x="190500" y="2609850"/>
            <a:ext cx="3333750" cy="666750"/>
          </a:xfrm>
          <a:prstGeom prst="roundRect">
            <a:avLst>
              <a:gd name="adj" fmla="val 17142"/>
            </a:avLst>
          </a:prstGeom>
          <a:solidFill>
            <a:srgbClr val="2A1D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304800" y="28384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360871" y="2894521"/>
            <a:ext cx="97408" cy="97408"/>
          </a:xfrm>
          <a:custGeom>
            <a:avLst/>
            <a:gdLst/>
            <a:ahLst/>
            <a:cxnLst/>
            <a:rect l="0" t="0" r="r" b="b"/>
            <a:pathLst>
              <a:path w="97408" h="97408">
                <a:moveTo>
                  <a:pt x="94213" y="18013"/>
                </a:moveTo>
                <a:lnTo>
                  <a:pt x="63521" y="48704"/>
                </a:lnTo>
                <a:lnTo>
                  <a:pt x="94213" y="79395"/>
                </a:lnTo>
                <a:quadBezTo>
                  <a:pt x="97408" y="82412"/>
                  <a:pt x="97281" y="86804"/>
                </a:quadBezTo>
                <a:quadBezTo>
                  <a:pt x="97408" y="91196"/>
                  <a:pt x="94213" y="94213"/>
                </a:quadBezTo>
                <a:quadBezTo>
                  <a:pt x="91196" y="97408"/>
                  <a:pt x="86804" y="97281"/>
                </a:quadBezTo>
                <a:quadBezTo>
                  <a:pt x="82412" y="97408"/>
                  <a:pt x="79395" y="94213"/>
                </a:quadBezTo>
                <a:lnTo>
                  <a:pt x="48704" y="63521"/>
                </a:lnTo>
                <a:lnTo>
                  <a:pt x="18013" y="94213"/>
                </a:lnTo>
                <a:quadBezTo>
                  <a:pt x="14996" y="97408"/>
                  <a:pt x="10604" y="97281"/>
                </a:quadBezTo>
                <a:quadBezTo>
                  <a:pt x="6212" y="97408"/>
                  <a:pt x="3195" y="94213"/>
                </a:quadBezTo>
                <a:quadBezTo>
                  <a:pt x="0" y="91196"/>
                  <a:pt x="126" y="86804"/>
                </a:quadBezTo>
                <a:quadBezTo>
                  <a:pt x="0" y="82412"/>
                  <a:pt x="3195" y="79395"/>
                </a:quadBezTo>
                <a:lnTo>
                  <a:pt x="33886" y="48704"/>
                </a:lnTo>
                <a:lnTo>
                  <a:pt x="3195" y="18013"/>
                </a:lnTo>
                <a:quadBezTo>
                  <a:pt x="0" y="14996"/>
                  <a:pt x="126" y="10604"/>
                </a:quadBezTo>
                <a:quadBezTo>
                  <a:pt x="0" y="6212"/>
                  <a:pt x="3195" y="3195"/>
                </a:quadBezTo>
                <a:quadBezTo>
                  <a:pt x="6212" y="0"/>
                  <a:pt x="10604" y="126"/>
                </a:quadBezTo>
                <a:quadBezTo>
                  <a:pt x="14996" y="0"/>
                  <a:pt x="18013" y="3195"/>
                </a:quadBezTo>
                <a:lnTo>
                  <a:pt x="48704" y="33886"/>
                </a:lnTo>
                <a:lnTo>
                  <a:pt x="79395" y="3195"/>
                </a:lnTo>
                <a:quadBezTo>
                  <a:pt x="82412" y="0"/>
                  <a:pt x="86804" y="126"/>
                </a:quadBezTo>
                <a:quadBezTo>
                  <a:pt x="91196" y="0"/>
                  <a:pt x="94213" y="3195"/>
                </a:quadBezTo>
                <a:quadBezTo>
                  <a:pt x="97408" y="6212"/>
                  <a:pt x="97281" y="10604"/>
                </a:quadBezTo>
                <a:quadBezTo>
                  <a:pt x="97408" y="14996"/>
                  <a:pt x="94213" y="18013"/>
                </a:quadBezTo>
                <a:close/>
              </a:path>
            </a:pathLst>
          </a:custGeom>
          <a:solidFill>
            <a:srgbClr val="1412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609600" y="2724150"/>
            <a:ext cx="2281619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F5F1EB"/>
                </a:solidFill>
                <a:latin typeface="Noto Sans SC"/>
                <a:ea typeface="Noto Sans SC"/>
                <a:cs typeface="Noto Sans SC"/>
              </a:rPr>
              <a:t>A. 对生产设备、设施进行定期检查和维护保养</a:t>
            </a:r>
          </a:p>
        </p:txBody>
      </p:sp>
      <p:sp>
        <p:nvSpPr>
          <p:cNvPr id="23" name="Rectangle"/>
          <p:cNvSpPr/>
          <p:nvPr/>
        </p:nvSpPr>
        <p:spPr>
          <a:xfrm>
            <a:off x="3067050" y="2838450"/>
            <a:ext cx="342900" cy="2095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3143250" y="28765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141210"/>
                </a:solidFill>
                <a:latin typeface="Noto Sans SC Bold"/>
                <a:ea typeface="Noto Sans SC Bold"/>
                <a:cs typeface="Noto Sans SC Bold"/>
              </a:rPr>
              <a:t>你选</a:t>
            </a:r>
          </a:p>
        </p:txBody>
      </p:sp>
      <p:sp>
        <p:nvSpPr>
          <p:cNvPr id="25" name="Rectangle"/>
          <p:cNvSpPr/>
          <p:nvPr/>
        </p:nvSpPr>
        <p:spPr>
          <a:xfrm>
            <a:off x="197644" y="2616994"/>
            <a:ext cx="33194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F7708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90500" y="3352800"/>
            <a:ext cx="3333750" cy="666750"/>
          </a:xfrm>
          <a:prstGeom prst="roundRect">
            <a:avLst>
              <a:gd name="adj" fmla="val 17142"/>
            </a:avLst>
          </a:prstGeom>
          <a:solidFill>
            <a:srgbClr val="1A26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304800" y="358140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351828" y="3647415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1412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609600" y="3467100"/>
            <a:ext cx="2288153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F5F1EB"/>
                </a:solidFill>
                <a:latin typeface="Noto Sans SC"/>
                <a:ea typeface="Noto Sans SC"/>
                <a:cs typeface="Noto Sans SC"/>
              </a:rPr>
              <a:t>B. 组织员工进行安全生产教育和培训，建立培训档案</a:t>
            </a:r>
          </a:p>
        </p:txBody>
      </p:sp>
      <p:sp>
        <p:nvSpPr>
          <p:cNvPr id="30" name="Rectangle"/>
          <p:cNvSpPr/>
          <p:nvPr/>
        </p:nvSpPr>
        <p:spPr>
          <a:xfrm>
            <a:off x="3067050" y="3581400"/>
            <a:ext cx="342900" cy="2095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3143250" y="36195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141210"/>
                </a:solidFill>
                <a:latin typeface="Noto Sans SC Bold"/>
                <a:ea typeface="Noto Sans SC Bold"/>
                <a:cs typeface="Noto Sans SC Bold"/>
              </a:rPr>
              <a:t>正确</a:t>
            </a:r>
          </a:p>
        </p:txBody>
      </p:sp>
      <p:sp>
        <p:nvSpPr>
          <p:cNvPr id="32" name="Rectangle"/>
          <p:cNvSpPr/>
          <p:nvPr/>
        </p:nvSpPr>
        <p:spPr>
          <a:xfrm>
            <a:off x="197644" y="3359944"/>
            <a:ext cx="33194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33BF7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190500" y="4095750"/>
            <a:ext cx="3333750" cy="666750"/>
          </a:xfrm>
          <a:prstGeom prst="roundRect">
            <a:avLst>
              <a:gd name="adj" fmla="val 17142"/>
            </a:avLst>
          </a:prstGeom>
          <a:solidFill>
            <a:srgbClr val="1A26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304800" y="432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Path"/>
          <p:cNvSpPr/>
          <p:nvPr/>
        </p:nvSpPr>
        <p:spPr>
          <a:xfrm>
            <a:off x="351828" y="4390365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1412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609600" y="4210050"/>
            <a:ext cx="2285619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F5F1EB"/>
                </a:solidFill>
                <a:latin typeface="Noto Sans SC"/>
                <a:ea typeface="Noto Sans SC"/>
                <a:cs typeface="Noto Sans SC"/>
              </a:rPr>
              <a:t>C. 在有明显职业病危害因素超标的工作场所组织应急演练</a:t>
            </a:r>
          </a:p>
        </p:txBody>
      </p:sp>
      <p:sp>
        <p:nvSpPr>
          <p:cNvPr id="37" name="Rectangle"/>
          <p:cNvSpPr/>
          <p:nvPr/>
        </p:nvSpPr>
        <p:spPr>
          <a:xfrm>
            <a:off x="3067050" y="4324350"/>
            <a:ext cx="342900" cy="2095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3143250" y="43624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141210"/>
                </a:solidFill>
                <a:latin typeface="Noto Sans SC Bold"/>
                <a:ea typeface="Noto Sans SC Bold"/>
                <a:cs typeface="Noto Sans SC Bold"/>
              </a:rPr>
              <a:t>漏选</a:t>
            </a:r>
          </a:p>
        </p:txBody>
      </p:sp>
      <p:sp>
        <p:nvSpPr>
          <p:cNvPr id="39" name="Rectangle"/>
          <p:cNvSpPr/>
          <p:nvPr/>
        </p:nvSpPr>
        <p:spPr>
          <a:xfrm>
            <a:off x="197644" y="4102894"/>
            <a:ext cx="33194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33BF7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190500" y="4838700"/>
            <a:ext cx="3333750" cy="666750"/>
          </a:xfrm>
          <a:prstGeom prst="roundRect">
            <a:avLst>
              <a:gd name="adj" fmla="val 17142"/>
            </a:avLst>
          </a:prstGeom>
          <a:solidFill>
            <a:srgbClr val="1A26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304800" y="506730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Path"/>
          <p:cNvSpPr/>
          <p:nvPr/>
        </p:nvSpPr>
        <p:spPr>
          <a:xfrm>
            <a:off x="351828" y="5133315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1412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609600" y="4953000"/>
            <a:ext cx="2292287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F5F1EB"/>
                </a:solidFill>
                <a:latin typeface="Noto Sans SC"/>
                <a:ea typeface="Noto Sans SC"/>
                <a:cs typeface="Noto Sans SC"/>
              </a:rPr>
              <a:t>D. 依法履行安全生产管理职责，对所负责安全生产工作进行检查</a:t>
            </a:r>
          </a:p>
        </p:txBody>
      </p:sp>
      <p:sp>
        <p:nvSpPr>
          <p:cNvPr id="44" name="Rectangle"/>
          <p:cNvSpPr/>
          <p:nvPr/>
        </p:nvSpPr>
        <p:spPr>
          <a:xfrm>
            <a:off x="3067050" y="5067300"/>
            <a:ext cx="342900" cy="2095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3143250" y="51054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141210"/>
                </a:solidFill>
                <a:latin typeface="Noto Sans SC Bold"/>
                <a:ea typeface="Noto Sans SC Bold"/>
                <a:cs typeface="Noto Sans SC Bold"/>
              </a:rPr>
              <a:t>漏选</a:t>
            </a:r>
          </a:p>
        </p:txBody>
      </p:sp>
      <p:sp>
        <p:nvSpPr>
          <p:cNvPr id="46" name="Rectangle"/>
          <p:cNvSpPr/>
          <p:nvPr/>
        </p:nvSpPr>
        <p:spPr>
          <a:xfrm>
            <a:off x="197644" y="4845844"/>
            <a:ext cx="33194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33BF7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190500" y="5638800"/>
            <a:ext cx="3333750" cy="2057400"/>
          </a:xfrm>
          <a:prstGeom prst="roundRect">
            <a:avLst>
              <a:gd name="adj" fmla="val 6481"/>
            </a:avLst>
          </a:prstGeom>
          <a:solidFill>
            <a:srgbClr val="1D1B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"/>
          <p:cNvSpPr/>
          <p:nvPr/>
        </p:nvSpPr>
        <p:spPr>
          <a:xfrm>
            <a:off x="342900" y="579120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1A26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438150" y="583882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34D399"/>
                </a:solidFill>
                <a:latin typeface="Noto Sans SC Bold"/>
                <a:ea typeface="Noto Sans SC Bold"/>
                <a:cs typeface="Noto Sans SC Bold"/>
              </a:rPr>
              <a:t>正确答案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028700" y="5800725"/>
            <a:ext cx="489689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en-US" sz="1200">
                <a:solidFill>
                  <a:srgbClr val="34D399"/>
                </a:solidFill>
                <a:latin typeface="Inter Tight Bold"/>
                <a:ea typeface="Inter Tight Bold"/>
                <a:cs typeface="Inter Tight Bold"/>
              </a:rPr>
              <a:t>B、C、D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342900" y="6115050"/>
            <a:ext cx="29337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875"/>
              </a:lnSpc>
            </a:pPr>
            <a:r>
              <a:rPr lang="zh-CN" sz="1050">
                <a:solidFill>
                  <a:srgbClr val="D6D0C8"/>
                </a:solidFill>
                <a:latin typeface="Noto Sans SC"/>
                <a:ea typeface="Noto Sans SC"/>
                <a:cs typeface="Noto Sans SC"/>
              </a:rPr>
              <a:t>根据《安全生产法》第二十八条，生产经营单位应当对从业人员进行安全生产教育和培训，保证从业人员具备必要的安全生产知识，熟悉有关的安全生产规章制度和安全操作规程，掌握本岗位的安全操作技能。技术措施包括设备设施的定期检查维护、应急演练以及对所负责区域的安全检查。</a:t>
            </a:r>
          </a:p>
        </p:txBody>
      </p:sp>
      <p:sp>
        <p:nvSpPr>
          <p:cNvPr id="52" name="Rectangle"/>
          <p:cNvSpPr/>
          <p:nvPr/>
        </p:nvSpPr>
        <p:spPr>
          <a:xfrm>
            <a:off x="195263" y="5643563"/>
            <a:ext cx="3324225" cy="2047875"/>
          </a:xfrm>
          <a:prstGeom prst="roundRect">
            <a:avLst>
              <a:gd name="adj" fmla="val 6279"/>
            </a:avLst>
          </a:prstGeom>
          <a:noFill/>
          <a:ln w="9525">
            <a:solidFill>
              <a:srgbClr val="403B3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0" y="6610350"/>
            <a:ext cx="3714750" cy="1104900"/>
          </a:xfrm>
          <a:prstGeom prst="rect">
            <a:avLst/>
          </a:prstGeom>
          <a:solidFill>
            <a:srgbClr val="1D1B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971550" y="6743700"/>
            <a:ext cx="176570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看懂后自行前进 · 不自动跳下一题</a:t>
            </a:r>
          </a:p>
        </p:txBody>
      </p:sp>
      <p:sp>
        <p:nvSpPr>
          <p:cNvPr id="55" name="Rectangle"/>
          <p:cNvSpPr/>
          <p:nvPr/>
        </p:nvSpPr>
        <p:spPr>
          <a:xfrm>
            <a:off x="190500" y="7010400"/>
            <a:ext cx="3333750" cy="514350"/>
          </a:xfrm>
          <a:prstGeom prst="roundRect">
            <a:avLst>
              <a:gd name="adj" fmla="val 50000"/>
            </a:avLst>
          </a:prstGeom>
          <a:solidFill>
            <a:srgbClr val="F5F1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1628775" y="71628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141210"/>
                </a:solidFill>
                <a:latin typeface="Noto Sans SC Bold"/>
                <a:ea typeface="Noto Sans SC Bold"/>
                <a:cs typeface="Noto Sans SC Bold"/>
              </a:rPr>
              <a:t>下一题</a:t>
            </a:r>
          </a:p>
        </p:txBody>
      </p:sp>
      <p:sp>
        <p:nvSpPr>
          <p:cNvPr id="57" name="Rectangle"/>
          <p:cNvSpPr/>
          <p:nvPr/>
        </p:nvSpPr>
        <p:spPr>
          <a:xfrm>
            <a:off x="4763" y="6615113"/>
            <a:ext cx="3705225" cy="1095375"/>
          </a:xfrm>
          <a:prstGeom prst="rect">
            <a:avLst/>
          </a:prstGeom>
          <a:noFill/>
          <a:ln w="9525">
            <a:solidFill>
              <a:srgbClr val="403B3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"/>
          <p:cNvSpPr/>
          <p:nvPr/>
        </p:nvSpPr>
        <p:spPr>
          <a:xfrm>
            <a:off x="0" y="7715250"/>
            <a:ext cx="3714750" cy="323850"/>
          </a:xfrm>
          <a:prstGeom prst="rect">
            <a:avLst/>
          </a:prstGeom>
          <a:solidFill>
            <a:srgbClr val="1D1B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"/>
          <p:cNvSpPr/>
          <p:nvPr/>
        </p:nvSpPr>
        <p:spPr>
          <a:xfrm>
            <a:off x="1219200" y="78581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F5F1EB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1430000" cy="1509712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81000" y="381000"/>
            <a:ext cx="29495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40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MemoDeck 设计系统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381000" y="876300"/>
            <a:ext cx="59275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05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专业为底 · 卡通为辅｜主谱系：暖纸墨色 + 克制圆角；辅助谱系：琥珀暖调，仅用于进度与到期语义</a:t>
            </a:r>
          </a:p>
        </p:txBody>
      </p:sp>
      <p:sp>
        <p:nvSpPr>
          <p:cNvPr id="5" name="Rectangle"/>
          <p:cNvSpPr/>
          <p:nvPr/>
        </p:nvSpPr>
        <p:spPr>
          <a:xfrm>
            <a:off x="381000" y="1371600"/>
            <a:ext cx="10668000" cy="9525"/>
          </a:xfrm>
          <a:prstGeom prst="rect">
            <a:avLst/>
          </a:prstGeom>
          <a:solidFill>
            <a:srgbClr val="E4DE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381000" y="1647825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zh-CN" sz="13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一、语义色板（浅色）</a:t>
            </a:r>
          </a:p>
        </p:txBody>
      </p:sp>
      <p:sp>
        <p:nvSpPr>
          <p:cNvPr id="7" name="Rectangle"/>
          <p:cNvSpPr/>
          <p:nvPr/>
        </p:nvSpPr>
        <p:spPr>
          <a:xfrm>
            <a:off x="381000" y="2047875"/>
            <a:ext cx="1600200" cy="800100"/>
          </a:xfrm>
          <a:prstGeom prst="roundRect">
            <a:avLst>
              <a:gd name="adj" fmla="val 14285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495300" y="2162175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画布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495300" y="2352675"/>
            <a:ext cx="371884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6F6862"/>
                </a:solidFill>
                <a:latin typeface="Inter Tight"/>
                <a:ea typeface="Inter Tight"/>
                <a:cs typeface="Inter Tight"/>
              </a:rPr>
              <a:t>#F8F5F0</a:t>
            </a:r>
          </a:p>
        </p:txBody>
      </p:sp>
      <p:sp>
        <p:nvSpPr>
          <p:cNvPr id="10" name="Rectangle"/>
          <p:cNvSpPr/>
          <p:nvPr/>
        </p:nvSpPr>
        <p:spPr>
          <a:xfrm>
            <a:off x="385763" y="2052638"/>
            <a:ext cx="1590675" cy="790575"/>
          </a:xfrm>
          <a:prstGeom prst="roundRect">
            <a:avLst>
              <a:gd name="adj" fmla="val 13855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2095500" y="2047875"/>
            <a:ext cx="16002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2209800" y="2162175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表面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209800" y="2352675"/>
            <a:ext cx="364257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6F6862"/>
                </a:solidFill>
                <a:latin typeface="Inter Tight"/>
                <a:ea typeface="Inter Tight"/>
                <a:cs typeface="Inter Tight"/>
              </a:rPr>
              <a:t>#FFFFFF</a:t>
            </a:r>
          </a:p>
        </p:txBody>
      </p:sp>
      <p:sp>
        <p:nvSpPr>
          <p:cNvPr id="14" name="Rectangle"/>
          <p:cNvSpPr/>
          <p:nvPr/>
        </p:nvSpPr>
        <p:spPr>
          <a:xfrm>
            <a:off x="2100263" y="2052638"/>
            <a:ext cx="1590675" cy="790575"/>
          </a:xfrm>
          <a:prstGeom prst="roundRect">
            <a:avLst>
              <a:gd name="adj" fmla="val 13855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3810000" y="2047875"/>
            <a:ext cx="1600200" cy="800100"/>
          </a:xfrm>
          <a:prstGeom prst="roundRect">
            <a:avLst>
              <a:gd name="adj" fmla="val 1428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3924300" y="2162175"/>
            <a:ext cx="342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主操作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3924300" y="2352675"/>
            <a:ext cx="320027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A8A29C"/>
                </a:solidFill>
                <a:latin typeface="Inter Tight"/>
                <a:ea typeface="Inter Tight"/>
                <a:cs typeface="Inter Tight"/>
              </a:rPr>
              <a:t>#211A15</a:t>
            </a:r>
          </a:p>
        </p:txBody>
      </p:sp>
      <p:sp>
        <p:nvSpPr>
          <p:cNvPr id="18" name="Rectangle"/>
          <p:cNvSpPr/>
          <p:nvPr/>
        </p:nvSpPr>
        <p:spPr>
          <a:xfrm>
            <a:off x="5524500" y="2047875"/>
            <a:ext cx="1600200" cy="800100"/>
          </a:xfrm>
          <a:prstGeom prst="roundRect">
            <a:avLst>
              <a:gd name="adj" fmla="val 14285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5638800" y="2162175"/>
            <a:ext cx="6160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到期/学习中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5638800" y="2352675"/>
            <a:ext cx="38806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F0D9BE"/>
                </a:solidFill>
                <a:latin typeface="Inter Tight"/>
                <a:ea typeface="Inter Tight"/>
                <a:cs typeface="Inter Tight"/>
              </a:rPr>
              <a:t>#B45309</a:t>
            </a:r>
          </a:p>
        </p:txBody>
      </p:sp>
      <p:sp>
        <p:nvSpPr>
          <p:cNvPr id="21" name="Rectangle"/>
          <p:cNvSpPr/>
          <p:nvPr/>
        </p:nvSpPr>
        <p:spPr>
          <a:xfrm>
            <a:off x="7239000" y="2047875"/>
            <a:ext cx="1600200" cy="800100"/>
          </a:xfrm>
          <a:prstGeom prst="roundRect">
            <a:avLst>
              <a:gd name="adj" fmla="val 14285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7353300" y="2162175"/>
            <a:ext cx="6160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判对/已掌握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7353300" y="2352675"/>
            <a:ext cx="3616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B5DCC4"/>
                </a:solidFill>
                <a:latin typeface="Inter Tight"/>
                <a:ea typeface="Inter Tight"/>
                <a:cs typeface="Inter Tight"/>
              </a:rPr>
              <a:t>#1E7A3C</a:t>
            </a:r>
          </a:p>
        </p:txBody>
      </p:sp>
      <p:sp>
        <p:nvSpPr>
          <p:cNvPr id="24" name="Rectangle"/>
          <p:cNvSpPr/>
          <p:nvPr/>
        </p:nvSpPr>
        <p:spPr>
          <a:xfrm>
            <a:off x="8953500" y="2047875"/>
            <a:ext cx="1600200" cy="800100"/>
          </a:xfrm>
          <a:prstGeom prst="roundRect">
            <a:avLst>
              <a:gd name="adj" fmla="val 14285"/>
            </a:avLst>
          </a:prstGeom>
          <a:solidFill>
            <a:srgbClr val="C22E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9067800" y="2162175"/>
            <a:ext cx="5017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判错/新错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9067800" y="2352675"/>
            <a:ext cx="3713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F5C4C0"/>
                </a:solidFill>
                <a:latin typeface="Inter Tight"/>
                <a:ea typeface="Inter Tight"/>
                <a:cs typeface="Inter Tight"/>
              </a:rPr>
              <a:t>#C22E27</a:t>
            </a:r>
          </a:p>
        </p:txBody>
      </p:sp>
      <p:sp>
        <p:nvSpPr>
          <p:cNvPr id="27" name="Rectangle"/>
          <p:cNvSpPr/>
          <p:nvPr/>
        </p:nvSpPr>
        <p:spPr>
          <a:xfrm>
            <a:off x="381000" y="2962275"/>
            <a:ext cx="1600200" cy="800100"/>
          </a:xfrm>
          <a:prstGeom prst="roundRect">
            <a:avLst>
              <a:gd name="adj" fmla="val 14285"/>
            </a:avLst>
          </a:prstGeom>
          <a:solidFill>
            <a:srgbClr val="2F6B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495300" y="3076575"/>
            <a:ext cx="730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待自评/需复习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495300" y="3267075"/>
            <a:ext cx="392534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BFD5F5"/>
                </a:solidFill>
                <a:latin typeface="Inter Tight"/>
                <a:ea typeface="Inter Tight"/>
                <a:cs typeface="Inter Tight"/>
              </a:rPr>
              <a:t>#2F6BD4</a:t>
            </a:r>
          </a:p>
        </p:txBody>
      </p:sp>
      <p:sp>
        <p:nvSpPr>
          <p:cNvPr id="30" name="Rectangle"/>
          <p:cNvSpPr/>
          <p:nvPr/>
        </p:nvSpPr>
        <p:spPr>
          <a:xfrm>
            <a:off x="2095500" y="2962275"/>
            <a:ext cx="1600200" cy="800100"/>
          </a:xfrm>
          <a:prstGeom prst="roundRect">
            <a:avLst>
              <a:gd name="adj" fmla="val 14285"/>
            </a:avLst>
          </a:prstGeom>
          <a:solidFill>
            <a:srgbClr val="CEC7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2209800" y="3076575"/>
            <a:ext cx="6160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新题/未作答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2209800" y="3267075"/>
            <a:ext cx="406766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57504A"/>
                </a:solidFill>
                <a:latin typeface="Inter Tight"/>
                <a:ea typeface="Inter Tight"/>
                <a:cs typeface="Inter Tight"/>
              </a:rPr>
              <a:t>#CEC7C0</a:t>
            </a:r>
          </a:p>
        </p:txBody>
      </p:sp>
      <p:sp>
        <p:nvSpPr>
          <p:cNvPr id="33" name="Rectangle"/>
          <p:cNvSpPr/>
          <p:nvPr/>
        </p:nvSpPr>
        <p:spPr>
          <a:xfrm>
            <a:off x="381000" y="4029075"/>
            <a:ext cx="10668000" cy="723900"/>
          </a:xfrm>
          <a:prstGeom prst="roundRect">
            <a:avLst>
              <a:gd name="adj" fmla="val 15789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533400" y="4181475"/>
            <a:ext cx="10347808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5E2806"/>
                </a:solidFill>
                <a:latin typeface="Noto Sans SC"/>
                <a:ea typeface="Noto Sans SC"/>
                <a:cs typeface="Noto Sans SC"/>
              </a:rPr>
              <a:t>关键决策：主操作色不用琥珀。琥珀/绿/红/蓝四色已被记忆四档与判对判错语义占满，主按钮若也用琥珀会与「到期/学习中」混淆，且削弱可信感。因此主操作取墨色，琥珀退居为唯一强调色。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381000" y="5019675"/>
            <a:ext cx="42862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zh-CN" sz="13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二、两套状态机与命名消歧（本设计对工程侧的硬要求）</a:t>
            </a:r>
          </a:p>
        </p:txBody>
      </p:sp>
      <p:sp>
        <p:nvSpPr>
          <p:cNvPr id="36" name="Rectangle"/>
          <p:cNvSpPr/>
          <p:nvPr/>
        </p:nvSpPr>
        <p:spPr>
          <a:xfrm>
            <a:off x="381000" y="5419725"/>
            <a:ext cx="10668000" cy="2752725"/>
          </a:xfrm>
          <a:prstGeom prst="roundRect">
            <a:avLst>
              <a:gd name="adj" fmla="val 484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552450" y="5657850"/>
            <a:ext cx="8667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跨会话记忆状态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552450" y="5867400"/>
            <a:ext cx="154533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新题 / 学习中 / 需复习 / 已掌握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2590800" y="5657850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错题本状态（不同名）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2590800" y="5867400"/>
            <a:ext cx="143103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新错 / 巩固中 / 模糊 / 已攻克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4629150" y="5591175"/>
            <a:ext cx="191338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A3221C"/>
                </a:solidFill>
                <a:latin typeface="Noto Sans SC"/>
                <a:ea typeface="Noto Sans SC"/>
                <a:cs typeface="Noto Sans SC"/>
              </a:rPr>
              <a:t>禁用「待复习」与「模糊」共用 weak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4629150" y="5781675"/>
            <a:ext cx="6173762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记忆侧含 learning+review 聚合，界面叫「需复习」；错题侧连对 2 次叫「模糊」，连对 3 次移出叫「已攻克」。两套四档不得混用同名。</a:t>
            </a:r>
          </a:p>
        </p:txBody>
      </p:sp>
      <p:sp>
        <p:nvSpPr>
          <p:cNvPr id="43" name="Rectangle"/>
          <p:cNvSpPr/>
          <p:nvPr/>
        </p:nvSpPr>
        <p:spPr>
          <a:xfrm>
            <a:off x="552450" y="6219825"/>
            <a:ext cx="10325100" cy="9525"/>
          </a:xfrm>
          <a:prstGeom prst="rect">
            <a:avLst/>
          </a:prstGeom>
          <a:solidFill>
            <a:srgbClr val="EFE9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552450" y="6410325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当次判分（单题）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552450" y="6619875"/>
            <a:ext cx="99212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答对 / 答错 / 待自评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2590800" y="6410325"/>
            <a:ext cx="111442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长期掌握（跨会话）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2590800" y="6619875"/>
            <a:ext cx="91508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已掌握 = 连对 5 次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4629150" y="6343650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两个数、两个名字，不可相加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4629150" y="6534150"/>
            <a:ext cx="61817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「答对」是当次结果，「已掌握」是跨会话结论。闯关的「一次即掌握」在界面上改称「本轮攻克」，明确它只管本轮队列、不产生跨会话含义。</a:t>
            </a:r>
          </a:p>
        </p:txBody>
      </p:sp>
      <p:sp>
        <p:nvSpPr>
          <p:cNvPr id="50" name="Rectangle"/>
          <p:cNvSpPr/>
          <p:nvPr/>
        </p:nvSpPr>
        <p:spPr>
          <a:xfrm>
            <a:off x="552450" y="6858000"/>
            <a:ext cx="10325100" cy="9525"/>
          </a:xfrm>
          <a:prstGeom prst="rect">
            <a:avLst/>
          </a:prstGeom>
          <a:solidFill>
            <a:srgbClr val="EFE9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552450" y="7048500"/>
            <a:ext cx="7429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错题离开规则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552450" y="725805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建议收敛为单一规则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2590800" y="7048500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任何入口答对都计连对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2590800" y="7258050"/>
            <a:ext cx="148658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连对 3 次自动移出 + 明确告知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4629150" y="6981825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A3221C"/>
                </a:solidFill>
                <a:latin typeface="Noto Sans SC"/>
                <a:ea typeface="Noto Sans SC"/>
                <a:cs typeface="Noto Sans SC"/>
              </a:rPr>
              <a:t>现状三条规则需工程侧确认改动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4629150" y="7172325"/>
            <a:ext cx="618266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现状：重练连对 3 次移出、重考答对 1 次移出、其它入口不移出。建议统一为「答对即计次，累计 3 次移出」，移出时告知原因。此项需改数据层，非纯视觉变更。</a:t>
            </a:r>
          </a:p>
        </p:txBody>
      </p:sp>
      <p:sp>
        <p:nvSpPr>
          <p:cNvPr id="57" name="Rectangle"/>
          <p:cNvSpPr/>
          <p:nvPr/>
        </p:nvSpPr>
        <p:spPr>
          <a:xfrm>
            <a:off x="552450" y="7496175"/>
            <a:ext cx="10325100" cy="9525"/>
          </a:xfrm>
          <a:prstGeom prst="rect">
            <a:avLst/>
          </a:prstGeom>
          <a:solidFill>
            <a:srgbClr val="EFE9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552450" y="7620000"/>
            <a:ext cx="10321519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8 入口收敛为 4 个一级导航：今日 / 练习 / 错题本 / 题库。「学习」与「记忆闯关」合并为练习的「背诵模式」；「分类考试」并入练习的「按题型自测」；「模拟考试」独立为考试；「摸底速览」降级为练习内的浏览模式。</a:t>
            </a:r>
          </a:p>
        </p:txBody>
      </p:sp>
      <p:sp>
        <p:nvSpPr>
          <p:cNvPr id="59" name="Rectangle"/>
          <p:cNvSpPr/>
          <p:nvPr/>
        </p:nvSpPr>
        <p:spPr>
          <a:xfrm>
            <a:off x="385763" y="5424488"/>
            <a:ext cx="10658475" cy="2743200"/>
          </a:xfrm>
          <a:prstGeom prst="roundRect">
            <a:avLst>
              <a:gd name="adj" fmla="val 4687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"/>
          <p:cNvSpPr txBox="1"/>
          <p:nvPr/>
        </p:nvSpPr>
        <p:spPr>
          <a:xfrm>
            <a:off x="381000" y="8439150"/>
            <a:ext cx="2461336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zh-CN" sz="13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三、排版 · 间距 · 圆角 · 断点</a:t>
            </a:r>
          </a:p>
        </p:txBody>
      </p:sp>
      <p:sp>
        <p:nvSpPr>
          <p:cNvPr id="61" name="Rectangle"/>
          <p:cNvSpPr/>
          <p:nvPr/>
        </p:nvSpPr>
        <p:spPr>
          <a:xfrm>
            <a:off x="381000" y="8839200"/>
            <a:ext cx="10668000" cy="259080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"/>
          <p:cNvSpPr txBox="1"/>
          <p:nvPr/>
        </p:nvSpPr>
        <p:spPr>
          <a:xfrm>
            <a:off x="552450" y="9010650"/>
            <a:ext cx="192746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字体族（仅系统栈，零 Web 字体）</a:t>
            </a:r>
          </a:p>
        </p:txBody>
      </p:sp>
      <p:sp>
        <p:nvSpPr>
          <p:cNvPr id="63" name="TextBox"/>
          <p:cNvSpPr txBox="1"/>
          <p:nvPr/>
        </p:nvSpPr>
        <p:spPr>
          <a:xfrm>
            <a:off x="552450" y="9239250"/>
            <a:ext cx="103251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中文正文：-apple-system, BlinkMacSystemFont, "PingFang SC", "Microsoft YaHei", "Noto Sans SC", sans-serif</a:t>
            </a:r>
          </a:p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数字与指标："Inter Tight", Inter, system-ui（tabular-nums）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552450" y="9734550"/>
            <a:ext cx="170952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字号阶（移动端，字距恒为 0）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552450" y="10020300"/>
            <a:ext cx="33725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975">
                <a:solidFill>
                  <a:srgbClr val="8A827B"/>
                </a:solidFill>
                <a:latin typeface="Inter Tight Bold"/>
                <a:ea typeface="Inter Tight Bold"/>
                <a:cs typeface="Inter Tight Bold"/>
              </a:rPr>
              <a:t>52/56</a:t>
            </a:r>
          </a:p>
        </p:txBody>
      </p:sp>
      <p:sp>
        <p:nvSpPr>
          <p:cNvPr id="66" name="TextBox"/>
          <p:cNvSpPr txBox="1"/>
          <p:nvPr/>
        </p:nvSpPr>
        <p:spPr>
          <a:xfrm>
            <a:off x="1009650" y="10020300"/>
            <a:ext cx="17335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关键指标（今日题数、正确率）</a:t>
            </a:r>
          </a:p>
        </p:txBody>
      </p:sp>
      <p:sp>
        <p:nvSpPr>
          <p:cNvPr id="67" name="TextBox"/>
          <p:cNvSpPr txBox="1"/>
          <p:nvPr/>
        </p:nvSpPr>
        <p:spPr>
          <a:xfrm>
            <a:off x="552450" y="10287000"/>
            <a:ext cx="31325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975">
                <a:solidFill>
                  <a:srgbClr val="8A827B"/>
                </a:solidFill>
                <a:latin typeface="Inter Tight Bold"/>
                <a:ea typeface="Inter Tight Bold"/>
                <a:cs typeface="Inter Tight Bold"/>
              </a:rPr>
              <a:t>18/29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981075" y="10287000"/>
            <a:ext cx="162371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题干（可承载 120 字长文本）</a:t>
            </a:r>
          </a:p>
        </p:txBody>
      </p:sp>
      <p:sp>
        <p:nvSpPr>
          <p:cNvPr id="69" name="TextBox"/>
          <p:cNvSpPr txBox="1"/>
          <p:nvPr/>
        </p:nvSpPr>
        <p:spPr>
          <a:xfrm>
            <a:off x="552450" y="10553700"/>
            <a:ext cx="31173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975">
                <a:solidFill>
                  <a:srgbClr val="8A827B"/>
                </a:solidFill>
                <a:latin typeface="Inter Tight Bold"/>
                <a:ea typeface="Inter Tight Bold"/>
                <a:cs typeface="Inter Tight Bold"/>
              </a:rPr>
              <a:t>15/24</a:t>
            </a:r>
          </a:p>
        </p:txBody>
      </p:sp>
      <p:sp>
        <p:nvSpPr>
          <p:cNvPr id="70" name="TextBox"/>
          <p:cNvSpPr txBox="1"/>
          <p:nvPr/>
        </p:nvSpPr>
        <p:spPr>
          <a:xfrm>
            <a:off x="981075" y="10553700"/>
            <a:ext cx="143116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选项文本（可承载 40 字）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552450" y="10820400"/>
            <a:ext cx="31367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975">
                <a:solidFill>
                  <a:srgbClr val="8A827B"/>
                </a:solidFill>
                <a:latin typeface="Inter Tight Bold"/>
                <a:ea typeface="Inter Tight Bold"/>
                <a:cs typeface="Inter Tight Bold"/>
              </a:rPr>
              <a:t>14/25</a:t>
            </a:r>
          </a:p>
        </p:txBody>
      </p:sp>
      <p:sp>
        <p:nvSpPr>
          <p:cNvPr id="72" name="TextBox"/>
          <p:cNvSpPr txBox="1"/>
          <p:nvPr/>
        </p:nvSpPr>
        <p:spPr>
          <a:xfrm>
            <a:off x="981075" y="10820400"/>
            <a:ext cx="199519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解析正文（可承载 300 字参考答案）</a:t>
            </a:r>
          </a:p>
        </p:txBody>
      </p:sp>
      <p:sp>
        <p:nvSpPr>
          <p:cNvPr id="73" name="TextBox"/>
          <p:cNvSpPr txBox="1"/>
          <p:nvPr/>
        </p:nvSpPr>
        <p:spPr>
          <a:xfrm>
            <a:off x="552450" y="11087100"/>
            <a:ext cx="28543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975">
                <a:solidFill>
                  <a:srgbClr val="8A827B"/>
                </a:solidFill>
                <a:latin typeface="Inter Tight Bold"/>
                <a:ea typeface="Inter Tight Bold"/>
                <a:cs typeface="Inter Tight Bold"/>
              </a:rPr>
              <a:t>12/18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952500" y="11087100"/>
            <a:ext cx="2105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元信息与口径说明（下限，不可再小）</a:t>
            </a:r>
          </a:p>
        </p:txBody>
      </p:sp>
      <p:sp>
        <p:nvSpPr>
          <p:cNvPr id="75" name="Rectangle"/>
          <p:cNvSpPr/>
          <p:nvPr/>
        </p:nvSpPr>
        <p:spPr>
          <a:xfrm>
            <a:off x="385763" y="8843963"/>
            <a:ext cx="10658475" cy="2581275"/>
          </a:xfrm>
          <a:prstGeom prst="roundRect">
            <a:avLst>
              <a:gd name="adj" fmla="val 4981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"/>
          <p:cNvSpPr/>
          <p:nvPr/>
        </p:nvSpPr>
        <p:spPr>
          <a:xfrm>
            <a:off x="381000" y="11563350"/>
            <a:ext cx="10668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552450" y="11734800"/>
            <a:ext cx="475053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间距 4/8/12/16/20/24/32（8pt 基线）· 圆角 8/12/16/20/27 · 触控目标 ≥44，相邻间距 ≥8</a:t>
            </a:r>
          </a:p>
        </p:txBody>
      </p:sp>
      <p:sp>
        <p:nvSpPr>
          <p:cNvPr id="78" name="TextBox"/>
          <p:cNvSpPr txBox="1"/>
          <p:nvPr/>
        </p:nvSpPr>
        <p:spPr>
          <a:xfrm>
            <a:off x="552450" y="12039600"/>
            <a:ext cx="10310314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断点：320 单列收窄（隐藏次要元信息，卡片由 4 列降 2 列）→ 390/393 标准单列 → 768 内容区限宽 640 居中，答题页题干与选项上下仍不并排 → 1024+ 双栏（题左 40% / 操作右 60% 固定可见）→ 1440 内容区限宽 960，不再加宽。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552450" y="12534900"/>
            <a:ext cx="822182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安全区：顶部 env(safe-area-inset-top) 用于状态栏，底部固定操作区 padding-bottom = 20 + env(safe-area-inset-bottom)。PWA 独立窗口无地址栏时同样保留。</a:t>
            </a:r>
          </a:p>
        </p:txBody>
      </p:sp>
      <p:sp>
        <p:nvSpPr>
          <p:cNvPr id="80" name="Rectangle"/>
          <p:cNvSpPr/>
          <p:nvPr/>
        </p:nvSpPr>
        <p:spPr>
          <a:xfrm>
            <a:off x="385763" y="11568113"/>
            <a:ext cx="10658475" cy="1323975"/>
          </a:xfrm>
          <a:prstGeom prst="roundRect">
            <a:avLst>
              <a:gd name="adj" fmla="val 9712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"/>
          <p:cNvSpPr/>
          <p:nvPr/>
        </p:nvSpPr>
        <p:spPr>
          <a:xfrm>
            <a:off x="381000" y="13030200"/>
            <a:ext cx="10668000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Box"/>
          <p:cNvSpPr txBox="1"/>
          <p:nvPr/>
        </p:nvSpPr>
        <p:spPr>
          <a:xfrm>
            <a:off x="552450" y="13201650"/>
            <a:ext cx="10668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950"/>
              </a:lnSpc>
            </a:pPr>
            <a:r>
              <a:rPr lang="zh-CN" sz="120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四、动效与降级</a:t>
            </a:r>
          </a:p>
        </p:txBody>
      </p:sp>
      <p:sp>
        <p:nvSpPr>
          <p:cNvPr id="83" name="TextBox"/>
          <p:cNvSpPr txBox="1"/>
          <p:nvPr/>
        </p:nvSpPr>
        <p:spPr>
          <a:xfrm>
            <a:off x="552450" y="13544550"/>
            <a:ext cx="103251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75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直接反馈 ≤100ms：选项选中态即时变色（80ms ease-out）</a:t>
            </a:r>
          </a:p>
          <a:p>
            <a:pPr>
              <a:lnSpc>
                <a:spcPts val="1575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题目切换：整题淡入 120ms + 纵向 8px 位移（cubic-bezier(0.2,0,0,1)）</a:t>
            </a:r>
          </a:p>
          <a:p>
            <a:pPr>
              <a:lnSpc>
                <a:spcPts val="1575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分类考试答对自动前进：停留 0.6s（沿用现有常量），淡出 100ms</a:t>
            </a:r>
          </a:p>
          <a:p>
            <a:pPr>
              <a:lnSpc>
                <a:spcPts val="1575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交卷后错题入本：错题计数 200ms 数字滚动 + 琥珀脉冲一次</a:t>
            </a:r>
          </a:p>
          <a:p>
            <a:pPr>
              <a:lnSpc>
                <a:spcPts val="1575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reduced-motion 降级：取消位移与脉冲，仅保留 100ms 透明度变化；进度条改为直接跳变</a:t>
            </a:r>
          </a:p>
        </p:txBody>
      </p:sp>
      <p:sp>
        <p:nvSpPr>
          <p:cNvPr id="84" name="Rectangle"/>
          <p:cNvSpPr/>
          <p:nvPr/>
        </p:nvSpPr>
        <p:spPr>
          <a:xfrm>
            <a:off x="385763" y="13034963"/>
            <a:ext cx="10658475" cy="1676400"/>
          </a:xfrm>
          <a:prstGeom prst="roundRect">
            <a:avLst>
              <a:gd name="adj" fmla="val 7670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7315200" cy="97536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1905000" cy="975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14300" y="190500"/>
            <a:ext cx="1676400" cy="495300"/>
          </a:xfrm>
          <a:prstGeom prst="roundRect">
            <a:avLst>
              <a:gd name="adj" fmla="val 23076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228600" y="390525"/>
            <a:ext cx="104775" cy="123825"/>
          </a:xfrm>
          <a:prstGeom prst="roundRect">
            <a:avLst>
              <a:gd name="adj" fmla="val 18181"/>
            </a:avLst>
          </a:prstGeom>
          <a:noFill/>
          <a:ln w="14288">
            <a:solidFill>
              <a:srgbClr val="8A3D09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254708" y="364311"/>
            <a:ext cx="114472" cy="71544"/>
          </a:xfrm>
          <a:custGeom>
            <a:avLst/>
            <a:gdLst/>
            <a:ahLst/>
            <a:cxnLst/>
            <a:rect l="0" t="0" r="r" b="b"/>
            <a:pathLst>
              <a:path w="114472" h="71544">
                <a:moveTo>
                  <a:pt x="86" y="26214"/>
                </a:moveTo>
                <a:lnTo>
                  <a:pt x="86" y="19547"/>
                </a:lnTo>
                <a:lnTo>
                  <a:pt x="86" y="19291"/>
                </a:lnTo>
                <a:lnTo>
                  <a:pt x="104" y="19037"/>
                </a:lnTo>
                <a:quadBezTo>
                  <a:pt x="681" y="10985"/>
                  <a:pt x="6596" y="5493"/>
                </a:quadBezTo>
                <a:quadBezTo>
                  <a:pt x="12511" y="0"/>
                  <a:pt x="20583" y="21"/>
                </a:quadBezTo>
                <a:lnTo>
                  <a:pt x="90097" y="21"/>
                </a:lnTo>
                <a:lnTo>
                  <a:pt x="90286" y="21"/>
                </a:lnTo>
                <a:lnTo>
                  <a:pt x="90473" y="30"/>
                </a:lnTo>
                <a:quadBezTo>
                  <a:pt x="100538" y="561"/>
                  <a:pt x="107469" y="7877"/>
                </a:quadBezTo>
                <a:quadBezTo>
                  <a:pt x="114400" y="15194"/>
                  <a:pt x="114386" y="25272"/>
                </a:quadBezTo>
                <a:lnTo>
                  <a:pt x="114386" y="64314"/>
                </a:lnTo>
                <a:quadBezTo>
                  <a:pt x="114472" y="67309"/>
                  <a:pt x="112294" y="69366"/>
                </a:quadBezTo>
                <a:quadBezTo>
                  <a:pt x="110237" y="71544"/>
                  <a:pt x="107242" y="71458"/>
                </a:quadBezTo>
                <a:quadBezTo>
                  <a:pt x="104248" y="71544"/>
                  <a:pt x="102191" y="69366"/>
                </a:quadBezTo>
                <a:quadBezTo>
                  <a:pt x="100013" y="67309"/>
                  <a:pt x="100099" y="64314"/>
                </a:quadBezTo>
                <a:lnTo>
                  <a:pt x="100099" y="25252"/>
                </a:lnTo>
                <a:quadBezTo>
                  <a:pt x="100105" y="20878"/>
                  <a:pt x="97097" y="17703"/>
                </a:quadBezTo>
                <a:quadBezTo>
                  <a:pt x="94147" y="14589"/>
                  <a:pt x="89888" y="14308"/>
                </a:quadBezTo>
                <a:lnTo>
                  <a:pt x="20547" y="14308"/>
                </a:lnTo>
                <a:quadBezTo>
                  <a:pt x="18106" y="14302"/>
                  <a:pt x="16318" y="15962"/>
                </a:quadBezTo>
                <a:quadBezTo>
                  <a:pt x="14608" y="17551"/>
                  <a:pt x="14374" y="19847"/>
                </a:quadBezTo>
                <a:lnTo>
                  <a:pt x="14374" y="26214"/>
                </a:lnTo>
                <a:quadBezTo>
                  <a:pt x="14460" y="29209"/>
                  <a:pt x="12281" y="31266"/>
                </a:quadBezTo>
                <a:quadBezTo>
                  <a:pt x="10225" y="33444"/>
                  <a:pt x="7230" y="33358"/>
                </a:quadBezTo>
                <a:quadBezTo>
                  <a:pt x="4235" y="33444"/>
                  <a:pt x="2179" y="31266"/>
                </a:quadBezTo>
                <a:quadBezTo>
                  <a:pt x="0" y="29209"/>
                  <a:pt x="86" y="26214"/>
                </a:quadBezTo>
                <a:close/>
              </a:path>
            </a:pathLst>
          </a:custGeom>
          <a:solidFill>
            <a:srgbClr val="8A3D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ath"/>
          <p:cNvSpPr/>
          <p:nvPr/>
        </p:nvSpPr>
        <p:spPr>
          <a:xfrm>
            <a:off x="249945" y="426158"/>
            <a:ext cx="62085" cy="43035"/>
          </a:xfrm>
          <a:custGeom>
            <a:avLst/>
            <a:gdLst/>
            <a:ahLst/>
            <a:cxnLst/>
            <a:rect l="0" t="0" r="r" b="b"/>
            <a:pathLst>
              <a:path w="62085" h="43035">
                <a:moveTo>
                  <a:pt x="7230" y="86"/>
                </a:moveTo>
                <a:lnTo>
                  <a:pt x="54855" y="86"/>
                </a:lnTo>
                <a:quadBezTo>
                  <a:pt x="57850" y="0"/>
                  <a:pt x="59906" y="2179"/>
                </a:quadBezTo>
                <a:quadBezTo>
                  <a:pt x="62085" y="4235"/>
                  <a:pt x="61999" y="7230"/>
                </a:quadBezTo>
                <a:quadBezTo>
                  <a:pt x="62085" y="10225"/>
                  <a:pt x="59906" y="12281"/>
                </a:quadBezTo>
                <a:quadBezTo>
                  <a:pt x="57850" y="14460"/>
                  <a:pt x="5485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28661"/>
                </a:moveTo>
                <a:lnTo>
                  <a:pt x="40567" y="28661"/>
                </a:lnTo>
                <a:quadBezTo>
                  <a:pt x="43562" y="28575"/>
                  <a:pt x="45619" y="30754"/>
                </a:quadBezTo>
                <a:quadBezTo>
                  <a:pt x="47797" y="32810"/>
                  <a:pt x="47711" y="35805"/>
                </a:quadBezTo>
                <a:quadBezTo>
                  <a:pt x="47797" y="38800"/>
                  <a:pt x="45619" y="40856"/>
                </a:quadBezTo>
                <a:quadBezTo>
                  <a:pt x="43562" y="43035"/>
                  <a:pt x="40567" y="42949"/>
                </a:quadBezTo>
                <a:lnTo>
                  <a:pt x="7230" y="42949"/>
                </a:lnTo>
                <a:quadBezTo>
                  <a:pt x="4235" y="43035"/>
                  <a:pt x="2179" y="40856"/>
                </a:quadBezTo>
                <a:quadBezTo>
                  <a:pt x="0" y="38800"/>
                  <a:pt x="86" y="35805"/>
                </a:quadBezTo>
                <a:quadBezTo>
                  <a:pt x="0" y="32810"/>
                  <a:pt x="2179" y="30754"/>
                </a:quadBezTo>
                <a:quadBezTo>
                  <a:pt x="4235" y="28575"/>
                  <a:pt x="7230" y="28661"/>
                </a:quadBezTo>
                <a:close/>
              </a:path>
            </a:pathLst>
          </a:custGeom>
          <a:solidFill>
            <a:srgbClr val="8A3D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457200" y="285750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5E2806"/>
                </a:solidFill>
                <a:latin typeface="Noto Sans SC Bold"/>
                <a:ea typeface="Noto Sans SC Bold"/>
                <a:cs typeface="Noto Sans SC Bold"/>
              </a:rPr>
              <a:t>安全生产知识题库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457200" y="457200"/>
            <a:ext cx="69913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第 2 卷 · 110 题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14300" y="7429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学习</a:t>
            </a:r>
          </a:p>
        </p:txBody>
      </p:sp>
      <p:sp>
        <p:nvSpPr>
          <p:cNvPr id="11" name="Path"/>
          <p:cNvSpPr/>
          <p:nvPr/>
        </p:nvSpPr>
        <p:spPr>
          <a:xfrm>
            <a:off x="228587" y="1069625"/>
            <a:ext cx="133376" cy="145765"/>
          </a:xfrm>
          <a:custGeom>
            <a:avLst/>
            <a:gdLst/>
            <a:ahLst/>
            <a:cxnLst/>
            <a:rect l="0" t="0" r="r" b="b"/>
            <a:pathLst>
              <a:path w="133376" h="145765">
                <a:moveTo>
                  <a:pt x="62345" y="1391"/>
                </a:moveTo>
                <a:quadBezTo>
                  <a:pt x="64294" y="0"/>
                  <a:pt x="66688" y="32"/>
                </a:quadBezTo>
                <a:quadBezTo>
                  <a:pt x="69082" y="0"/>
                  <a:pt x="71031" y="1391"/>
                </a:quadBezTo>
                <a:lnTo>
                  <a:pt x="130086" y="42349"/>
                </a:lnTo>
                <a:quadBezTo>
                  <a:pt x="131635" y="43407"/>
                  <a:pt x="132494" y="45076"/>
                </a:quadBezTo>
                <a:quadBezTo>
                  <a:pt x="133376" y="46733"/>
                  <a:pt x="133363" y="48610"/>
                </a:quadBezTo>
                <a:lnTo>
                  <a:pt x="133363" y="126715"/>
                </a:lnTo>
                <a:quadBezTo>
                  <a:pt x="133363" y="134606"/>
                  <a:pt x="127783" y="140185"/>
                </a:quadBezTo>
                <a:quadBezTo>
                  <a:pt x="122204" y="145765"/>
                  <a:pt x="114313" y="145765"/>
                </a:quadBezTo>
                <a:lnTo>
                  <a:pt x="19063" y="145765"/>
                </a:lnTo>
                <a:quadBezTo>
                  <a:pt x="11172" y="145765"/>
                  <a:pt x="5593" y="140185"/>
                </a:quadBezTo>
                <a:quadBezTo>
                  <a:pt x="13" y="134606"/>
                  <a:pt x="13" y="126715"/>
                </a:quadBezTo>
                <a:lnTo>
                  <a:pt x="13" y="48610"/>
                </a:lnTo>
                <a:quadBezTo>
                  <a:pt x="0" y="46733"/>
                  <a:pt x="882" y="45076"/>
                </a:quadBezTo>
                <a:quadBezTo>
                  <a:pt x="1741" y="43407"/>
                  <a:pt x="3290" y="42349"/>
                </a:quadBezTo>
                <a:lnTo>
                  <a:pt x="62345" y="1391"/>
                </a:lnTo>
                <a:close/>
                <a:moveTo>
                  <a:pt x="15253" y="52598"/>
                </a:moveTo>
                <a:lnTo>
                  <a:pt x="15253" y="126715"/>
                </a:lnTo>
                <a:quadBezTo>
                  <a:pt x="15253" y="128293"/>
                  <a:pt x="16369" y="129409"/>
                </a:quadBezTo>
                <a:quadBezTo>
                  <a:pt x="17485" y="130525"/>
                  <a:pt x="19063" y="130525"/>
                </a:quadBezTo>
                <a:lnTo>
                  <a:pt x="114313" y="130525"/>
                </a:lnTo>
                <a:quadBezTo>
                  <a:pt x="115891" y="130525"/>
                  <a:pt x="117007" y="129409"/>
                </a:quadBezTo>
                <a:quadBezTo>
                  <a:pt x="118123" y="128293"/>
                  <a:pt x="118123" y="126715"/>
                </a:quadBezTo>
                <a:lnTo>
                  <a:pt x="118123" y="52598"/>
                </a:lnTo>
                <a:lnTo>
                  <a:pt x="66688" y="16926"/>
                </a:lnTo>
                <a:lnTo>
                  <a:pt x="15253" y="52598"/>
                </a:ln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66608" y="1160053"/>
            <a:ext cx="57334" cy="47717"/>
          </a:xfrm>
          <a:custGeom>
            <a:avLst/>
            <a:gdLst/>
            <a:ahLst/>
            <a:cxnLst/>
            <a:rect l="0" t="0" r="r" b="b"/>
            <a:pathLst>
              <a:path w="57334" h="47717">
                <a:moveTo>
                  <a:pt x="92" y="47717"/>
                </a:moveTo>
                <a:lnTo>
                  <a:pt x="92" y="7712"/>
                </a:lnTo>
                <a:quadBezTo>
                  <a:pt x="0" y="4518"/>
                  <a:pt x="2324" y="2324"/>
                </a:quadBezTo>
                <a:quadBezTo>
                  <a:pt x="4518" y="0"/>
                  <a:pt x="7712" y="92"/>
                </a:quadBezTo>
                <a:lnTo>
                  <a:pt x="49622" y="92"/>
                </a:lnTo>
                <a:quadBezTo>
                  <a:pt x="52816" y="0"/>
                  <a:pt x="55010" y="2324"/>
                </a:quadBezTo>
                <a:quadBezTo>
                  <a:pt x="57334" y="4518"/>
                  <a:pt x="57242" y="7712"/>
                </a:quadBezTo>
                <a:lnTo>
                  <a:pt x="57242" y="47717"/>
                </a:lnTo>
                <a:lnTo>
                  <a:pt x="42002" y="47717"/>
                </a:lnTo>
                <a:lnTo>
                  <a:pt x="42002" y="15332"/>
                </a:lnTo>
                <a:lnTo>
                  <a:pt x="15332" y="15332"/>
                </a:lnTo>
                <a:lnTo>
                  <a:pt x="15332" y="47717"/>
                </a:lnTo>
                <a:lnTo>
                  <a:pt x="92" y="47717"/>
                </a:ln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476250" y="105727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今日</a:t>
            </a:r>
          </a:p>
        </p:txBody>
      </p:sp>
      <p:sp>
        <p:nvSpPr>
          <p:cNvPr id="14" name="Rectangle"/>
          <p:cNvSpPr/>
          <p:nvPr/>
        </p:nvSpPr>
        <p:spPr>
          <a:xfrm>
            <a:off x="114300" y="1409700"/>
            <a:ext cx="1676400" cy="419100"/>
          </a:xfrm>
          <a:prstGeom prst="roundRect">
            <a:avLst>
              <a:gd name="adj" fmla="val 22727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232410" y="1564005"/>
            <a:ext cx="125730" cy="110490"/>
          </a:xfrm>
          <a:prstGeom prst="roundRect">
            <a:avLst>
              <a:gd name="adj" fmla="val 18965"/>
            </a:avLst>
          </a:prstGeom>
          <a:noFill/>
          <a:ln w="15240">
            <a:solidFill>
              <a:srgbClr val="FFFF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260893" y="1575306"/>
            <a:ext cx="73563" cy="56418"/>
          </a:xfrm>
          <a:custGeom>
            <a:avLst/>
            <a:gdLst/>
            <a:ahLst/>
            <a:cxnLst/>
            <a:rect l="0" t="0" r="r" b="b"/>
            <a:pathLst>
              <a:path w="73563" h="56418">
                <a:moveTo>
                  <a:pt x="13100" y="25221"/>
                </a:moveTo>
                <a:lnTo>
                  <a:pt x="25746" y="37866"/>
                </a:lnTo>
                <a:lnTo>
                  <a:pt x="60363" y="2425"/>
                </a:lnTo>
                <a:quadBezTo>
                  <a:pt x="62530" y="75"/>
                  <a:pt x="65725" y="130"/>
                </a:quadBezTo>
                <a:quadBezTo>
                  <a:pt x="68918" y="0"/>
                  <a:pt x="71139" y="2298"/>
                </a:quadBezTo>
                <a:quadBezTo>
                  <a:pt x="73488" y="4464"/>
                  <a:pt x="73434" y="7659"/>
                </a:quadBezTo>
                <a:quadBezTo>
                  <a:pt x="73563" y="10852"/>
                  <a:pt x="71266" y="13073"/>
                </a:quadBezTo>
                <a:lnTo>
                  <a:pt x="31261" y="54031"/>
                </a:lnTo>
                <a:quadBezTo>
                  <a:pt x="31245" y="54047"/>
                  <a:pt x="31229" y="54063"/>
                </a:quadBezTo>
                <a:quadBezTo>
                  <a:pt x="31213" y="54079"/>
                  <a:pt x="31198" y="54095"/>
                </a:quadBezTo>
                <a:quadBezTo>
                  <a:pt x="29004" y="56418"/>
                  <a:pt x="25809" y="56326"/>
                </a:quadBezTo>
                <a:quadBezTo>
                  <a:pt x="22615" y="56418"/>
                  <a:pt x="20421" y="54095"/>
                </a:quadBezTo>
                <a:lnTo>
                  <a:pt x="2324" y="35997"/>
                </a:lnTo>
                <a:quadBezTo>
                  <a:pt x="0" y="33803"/>
                  <a:pt x="92" y="30609"/>
                </a:quadBezTo>
                <a:quadBezTo>
                  <a:pt x="0" y="27415"/>
                  <a:pt x="2324" y="25221"/>
                </a:quadBezTo>
                <a:quadBezTo>
                  <a:pt x="4518" y="22897"/>
                  <a:pt x="7712" y="22989"/>
                </a:quadBezTo>
                <a:quadBezTo>
                  <a:pt x="10906" y="22897"/>
                  <a:pt x="13100" y="2522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476250" y="15335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练习</a:t>
            </a:r>
          </a:p>
        </p:txBody>
      </p:sp>
      <p:sp>
        <p:nvSpPr>
          <p:cNvPr id="18" name="Path"/>
          <p:cNvSpPr/>
          <p:nvPr/>
        </p:nvSpPr>
        <p:spPr>
          <a:xfrm>
            <a:off x="234223" y="2029778"/>
            <a:ext cx="122013" cy="134036"/>
          </a:xfrm>
          <a:custGeom>
            <a:avLst/>
            <a:gdLst/>
            <a:ahLst/>
            <a:cxnLst/>
            <a:rect l="0" t="0" r="r" b="b"/>
            <a:pathLst>
              <a:path w="122013" h="134036">
                <a:moveTo>
                  <a:pt x="102962" y="0"/>
                </a:moveTo>
                <a:quadBezTo>
                  <a:pt x="110853" y="0"/>
                  <a:pt x="116432" y="5580"/>
                </a:quadBezTo>
                <a:quadBezTo>
                  <a:pt x="122012" y="11159"/>
                  <a:pt x="122012" y="19050"/>
                </a:quadBezTo>
                <a:lnTo>
                  <a:pt x="122012" y="125730"/>
                </a:lnTo>
                <a:quadBezTo>
                  <a:pt x="122013" y="126672"/>
                  <a:pt x="121783" y="127585"/>
                </a:quadBezTo>
                <a:quadBezTo>
                  <a:pt x="121554" y="128499"/>
                  <a:pt x="121109" y="129328"/>
                </a:quadBezTo>
                <a:quadBezTo>
                  <a:pt x="119681" y="132188"/>
                  <a:pt x="116597" y="133024"/>
                </a:quadBezTo>
                <a:quadBezTo>
                  <a:pt x="113566" y="134036"/>
                  <a:pt x="110794" y="132447"/>
                </a:quadBezTo>
                <a:lnTo>
                  <a:pt x="61052" y="105800"/>
                </a:lnTo>
                <a:lnTo>
                  <a:pt x="11310" y="132447"/>
                </a:lnTo>
                <a:quadBezTo>
                  <a:pt x="10481" y="132892"/>
                  <a:pt x="9567" y="133121"/>
                </a:quadBezTo>
                <a:quadBezTo>
                  <a:pt x="8654" y="133351"/>
                  <a:pt x="7712" y="133350"/>
                </a:quadBezTo>
                <a:quadBezTo>
                  <a:pt x="4518" y="133442"/>
                  <a:pt x="2324" y="131118"/>
                </a:quadBezTo>
                <a:quadBezTo>
                  <a:pt x="0" y="128924"/>
                  <a:pt x="92" y="125730"/>
                </a:quadBezTo>
                <a:lnTo>
                  <a:pt x="92" y="19050"/>
                </a:lnTo>
                <a:quadBezTo>
                  <a:pt x="92" y="11159"/>
                  <a:pt x="5672" y="5580"/>
                </a:quadBezTo>
                <a:quadBezTo>
                  <a:pt x="11251" y="0"/>
                  <a:pt x="19142" y="0"/>
                </a:quadBezTo>
                <a:lnTo>
                  <a:pt x="102962" y="0"/>
                </a:lnTo>
                <a:close/>
                <a:moveTo>
                  <a:pt x="102962" y="15240"/>
                </a:moveTo>
                <a:lnTo>
                  <a:pt x="19142" y="15240"/>
                </a:lnTo>
                <a:quadBezTo>
                  <a:pt x="17564" y="15240"/>
                  <a:pt x="16448" y="16356"/>
                </a:quadBezTo>
                <a:quadBezTo>
                  <a:pt x="15332" y="17472"/>
                  <a:pt x="15332" y="19050"/>
                </a:quadBezTo>
                <a:lnTo>
                  <a:pt x="15332" y="113003"/>
                </a:lnTo>
                <a:lnTo>
                  <a:pt x="57454" y="90438"/>
                </a:lnTo>
                <a:quadBezTo>
                  <a:pt x="59136" y="89521"/>
                  <a:pt x="61052" y="89535"/>
                </a:quadBezTo>
                <a:quadBezTo>
                  <a:pt x="62968" y="89521"/>
                  <a:pt x="64650" y="90438"/>
                </a:quadBezTo>
                <a:lnTo>
                  <a:pt x="106772" y="113003"/>
                </a:lnTo>
                <a:lnTo>
                  <a:pt x="106772" y="19050"/>
                </a:lnTo>
                <a:quadBezTo>
                  <a:pt x="106772" y="17472"/>
                  <a:pt x="105656" y="16356"/>
                </a:quadBezTo>
                <a:quadBezTo>
                  <a:pt x="104540" y="15240"/>
                  <a:pt x="102962" y="15240"/>
                </a:quadBez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476250" y="200977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错题本</a:t>
            </a:r>
          </a:p>
        </p:txBody>
      </p:sp>
      <p:sp>
        <p:nvSpPr>
          <p:cNvPr id="20" name="Path"/>
          <p:cNvSpPr/>
          <p:nvPr/>
        </p:nvSpPr>
        <p:spPr>
          <a:xfrm>
            <a:off x="230505" y="2508885"/>
            <a:ext cx="68672" cy="123917"/>
          </a:xfrm>
          <a:custGeom>
            <a:avLst/>
            <a:gdLst/>
            <a:ahLst/>
            <a:cxnLst/>
            <a:rect l="0" t="0" r="r" b="b"/>
            <a:pathLst>
              <a:path w="68672" h="123917">
                <a:moveTo>
                  <a:pt x="20955" y="0"/>
                </a:moveTo>
                <a:lnTo>
                  <a:pt x="47625" y="0"/>
                </a:lnTo>
                <a:quadBezTo>
                  <a:pt x="56496" y="0"/>
                  <a:pt x="62538" y="6042"/>
                </a:quadBezTo>
                <a:quadBezTo>
                  <a:pt x="68580" y="12084"/>
                  <a:pt x="68580" y="20955"/>
                </a:quadBezTo>
                <a:lnTo>
                  <a:pt x="68580" y="116205"/>
                </a:lnTo>
                <a:quadBezTo>
                  <a:pt x="68672" y="119399"/>
                  <a:pt x="66348" y="121593"/>
                </a:quadBezTo>
                <a:quadBezTo>
                  <a:pt x="64154" y="123917"/>
                  <a:pt x="60960" y="123825"/>
                </a:quadBezTo>
                <a:quadBezTo>
                  <a:pt x="57766" y="123917"/>
                  <a:pt x="55572" y="121593"/>
                </a:quadBezTo>
                <a:quadBezTo>
                  <a:pt x="53248" y="119399"/>
                  <a:pt x="53340" y="116205"/>
                </a:quadBezTo>
                <a:quadBezTo>
                  <a:pt x="53340" y="114300"/>
                  <a:pt x="50482" y="114300"/>
                </a:quadBezTo>
                <a:lnTo>
                  <a:pt x="20955" y="114300"/>
                </a:lnTo>
                <a:quadBezTo>
                  <a:pt x="12084" y="114300"/>
                  <a:pt x="6042" y="108258"/>
                </a:quadBezTo>
                <a:quadBezTo>
                  <a:pt x="0" y="102216"/>
                  <a:pt x="0" y="93345"/>
                </a:quadBezTo>
                <a:lnTo>
                  <a:pt x="0" y="20955"/>
                </a:lnTo>
                <a:quadBezTo>
                  <a:pt x="0" y="12084"/>
                  <a:pt x="6042" y="6042"/>
                </a:quadBezTo>
                <a:quadBezTo>
                  <a:pt x="12084" y="0"/>
                  <a:pt x="20955" y="0"/>
                </a:quadBezTo>
                <a:close/>
                <a:moveTo>
                  <a:pt x="53340" y="20955"/>
                </a:moveTo>
                <a:quadBezTo>
                  <a:pt x="53340" y="18396"/>
                  <a:pt x="51762" y="16818"/>
                </a:quadBezTo>
                <a:quadBezTo>
                  <a:pt x="50184" y="15240"/>
                  <a:pt x="47625" y="15240"/>
                </a:quadBezTo>
                <a:lnTo>
                  <a:pt x="20955" y="15240"/>
                </a:lnTo>
                <a:quadBezTo>
                  <a:pt x="18396" y="15240"/>
                  <a:pt x="16818" y="16818"/>
                </a:quadBezTo>
                <a:quadBezTo>
                  <a:pt x="15240" y="18396"/>
                  <a:pt x="15240" y="20955"/>
                </a:quadBezTo>
                <a:lnTo>
                  <a:pt x="15240" y="93345"/>
                </a:lnTo>
                <a:quadBezTo>
                  <a:pt x="15240" y="99060"/>
                  <a:pt x="20955" y="99060"/>
                </a:quadBezTo>
                <a:lnTo>
                  <a:pt x="50482" y="99060"/>
                </a:lnTo>
                <a:quadBezTo>
                  <a:pt x="51955" y="99060"/>
                  <a:pt x="53340" y="99246"/>
                </a:quadBezTo>
                <a:lnTo>
                  <a:pt x="53340" y="20955"/>
                </a:ln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291373" y="2508885"/>
            <a:ext cx="68672" cy="123917"/>
          </a:xfrm>
          <a:custGeom>
            <a:avLst/>
            <a:gdLst/>
            <a:ahLst/>
            <a:cxnLst/>
            <a:rect l="0" t="0" r="r" b="b"/>
            <a:pathLst>
              <a:path w="68672" h="123917">
                <a:moveTo>
                  <a:pt x="47717" y="0"/>
                </a:moveTo>
                <a:quadBezTo>
                  <a:pt x="56588" y="0"/>
                  <a:pt x="62630" y="6042"/>
                </a:quadBezTo>
                <a:quadBezTo>
                  <a:pt x="68672" y="12084"/>
                  <a:pt x="68672" y="20955"/>
                </a:quadBezTo>
                <a:lnTo>
                  <a:pt x="68672" y="93345"/>
                </a:lnTo>
                <a:quadBezTo>
                  <a:pt x="68672" y="102216"/>
                  <a:pt x="62630" y="108258"/>
                </a:quadBezTo>
                <a:quadBezTo>
                  <a:pt x="56588" y="114300"/>
                  <a:pt x="47717" y="114300"/>
                </a:quadBezTo>
                <a:lnTo>
                  <a:pt x="18189" y="114300"/>
                </a:lnTo>
                <a:quadBezTo>
                  <a:pt x="16664" y="114300"/>
                  <a:pt x="15825" y="115034"/>
                </a:quadBezTo>
                <a:quadBezTo>
                  <a:pt x="15332" y="115466"/>
                  <a:pt x="15332" y="116205"/>
                </a:quadBezTo>
                <a:quadBezTo>
                  <a:pt x="15424" y="119399"/>
                  <a:pt x="13100" y="121593"/>
                </a:quadBezTo>
                <a:quadBezTo>
                  <a:pt x="10906" y="123917"/>
                  <a:pt x="7712" y="123825"/>
                </a:quadBezTo>
                <a:quadBezTo>
                  <a:pt x="4518" y="123917"/>
                  <a:pt x="2324" y="121593"/>
                </a:quadBezTo>
                <a:quadBezTo>
                  <a:pt x="0" y="119399"/>
                  <a:pt x="92" y="116205"/>
                </a:quadBezTo>
                <a:lnTo>
                  <a:pt x="92" y="20955"/>
                </a:lnTo>
                <a:quadBezTo>
                  <a:pt x="92" y="12084"/>
                  <a:pt x="6134" y="6042"/>
                </a:quadBezTo>
                <a:quadBezTo>
                  <a:pt x="12176" y="0"/>
                  <a:pt x="21047" y="0"/>
                </a:quadBezTo>
                <a:lnTo>
                  <a:pt x="47717" y="0"/>
                </a:lnTo>
                <a:close/>
                <a:moveTo>
                  <a:pt x="18189" y="99060"/>
                </a:moveTo>
                <a:lnTo>
                  <a:pt x="47717" y="99060"/>
                </a:lnTo>
                <a:quadBezTo>
                  <a:pt x="53432" y="99060"/>
                  <a:pt x="53432" y="93345"/>
                </a:quadBezTo>
                <a:lnTo>
                  <a:pt x="53432" y="20955"/>
                </a:lnTo>
                <a:quadBezTo>
                  <a:pt x="53432" y="15240"/>
                  <a:pt x="47717" y="15240"/>
                </a:quadBezTo>
                <a:lnTo>
                  <a:pt x="21047" y="15240"/>
                </a:lnTo>
                <a:quadBezTo>
                  <a:pt x="18488" y="15240"/>
                  <a:pt x="16910" y="16818"/>
                </a:quadBezTo>
                <a:quadBezTo>
                  <a:pt x="15332" y="18396"/>
                  <a:pt x="15332" y="20955"/>
                </a:quadBezTo>
                <a:lnTo>
                  <a:pt x="15332" y="99246"/>
                </a:lnTo>
                <a:quadBezTo>
                  <a:pt x="16717" y="99060"/>
                  <a:pt x="18189" y="99060"/>
                </a:quadBez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476250" y="24860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题库</a:t>
            </a:r>
          </a:p>
        </p:txBody>
      </p:sp>
      <p:sp>
        <p:nvSpPr>
          <p:cNvPr id="23" name="Rectangle"/>
          <p:cNvSpPr/>
          <p:nvPr/>
        </p:nvSpPr>
        <p:spPr>
          <a:xfrm>
            <a:off x="4763" y="4763"/>
            <a:ext cx="1895475" cy="97440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905000" y="0"/>
            <a:ext cx="5410200" cy="5715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2171700" y="104775"/>
            <a:ext cx="126315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11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多选题 · 单选/多选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2171700" y="314325"/>
            <a:ext cx="21619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第 7 / 20 题 · 范围 今日到期 · 已用 3 分 12 秒</a:t>
            </a:r>
          </a:p>
        </p:txBody>
      </p:sp>
      <p:sp>
        <p:nvSpPr>
          <p:cNvPr id="27" name="Rectangle"/>
          <p:cNvSpPr/>
          <p:nvPr/>
        </p:nvSpPr>
        <p:spPr>
          <a:xfrm>
            <a:off x="5172075" y="161925"/>
            <a:ext cx="1076325" cy="24765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5267325" y="219075"/>
            <a:ext cx="88534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学习中 · 今日到期</a:t>
            </a:r>
          </a:p>
        </p:txBody>
      </p:sp>
      <p:sp>
        <p:nvSpPr>
          <p:cNvPr id="29" name="Rectangle"/>
          <p:cNvSpPr/>
          <p:nvPr/>
        </p:nvSpPr>
        <p:spPr>
          <a:xfrm>
            <a:off x="6324600" y="114300"/>
            <a:ext cx="7239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6491288" y="242888"/>
            <a:ext cx="24765" cy="85725"/>
          </a:xfrm>
          <a:prstGeom prst="roundRect">
            <a:avLst>
              <a:gd name="adj" fmla="val 38461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6533198" y="242888"/>
            <a:ext cx="24765" cy="85725"/>
          </a:xfrm>
          <a:prstGeom prst="roundRect">
            <a:avLst>
              <a:gd name="adj" fmla="val 38461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6648450" y="200025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暂停</a:t>
            </a:r>
          </a:p>
        </p:txBody>
      </p:sp>
      <p:sp>
        <p:nvSpPr>
          <p:cNvPr id="33" name="Rectangle"/>
          <p:cNvSpPr/>
          <p:nvPr/>
        </p:nvSpPr>
        <p:spPr>
          <a:xfrm>
            <a:off x="6329363" y="119063"/>
            <a:ext cx="714375" cy="3333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1909763" y="4763"/>
            <a:ext cx="5400675" cy="5619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1905000" y="571500"/>
            <a:ext cx="5410200" cy="38100"/>
          </a:xfrm>
          <a:prstGeom prst="rect">
            <a:avLst/>
          </a:prstGeom>
          <a:solidFill>
            <a:srgbClr val="EAE3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"/>
          <p:cNvSpPr/>
          <p:nvPr/>
        </p:nvSpPr>
        <p:spPr>
          <a:xfrm>
            <a:off x="1905000" y="571500"/>
            <a:ext cx="1895475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1905000" y="609600"/>
            <a:ext cx="3124200" cy="9144000"/>
          </a:xfrm>
          <a:prstGeom prst="rect">
            <a:avLst/>
          </a:prstGeom>
          <a:solidFill>
            <a:srgbClr val="FDF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2171700" y="83820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2286000" y="885825"/>
            <a:ext cx="60168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第 42 / 110 题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2171700" y="1200150"/>
            <a:ext cx="2600325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475"/>
              </a:lnSpc>
            </a:pPr>
            <a:r>
              <a:rPr lang="zh-CN" sz="15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生产经营单位应当采取的技术措施包括下列哪些？</a:t>
            </a:r>
          </a:p>
        </p:txBody>
      </p:sp>
      <p:sp>
        <p:nvSpPr>
          <p:cNvPr id="41" name="Rectangle"/>
          <p:cNvSpPr/>
          <p:nvPr/>
        </p:nvSpPr>
        <p:spPr>
          <a:xfrm>
            <a:off x="2171700" y="1962150"/>
            <a:ext cx="2628900" cy="619125"/>
          </a:xfrm>
          <a:prstGeom prst="roundRect">
            <a:avLst>
              <a:gd name="adj" fmla="val 15384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2286000" y="2076450"/>
            <a:ext cx="210883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多选题 · 漏选、多选、错选均算整题错误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2286000" y="2305050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无部分给分，判分口径唯一</a:t>
            </a:r>
          </a:p>
        </p:txBody>
      </p:sp>
      <p:sp>
        <p:nvSpPr>
          <p:cNvPr id="44" name="Rectangle"/>
          <p:cNvSpPr/>
          <p:nvPr/>
        </p:nvSpPr>
        <p:spPr>
          <a:xfrm>
            <a:off x="2171700" y="2714625"/>
            <a:ext cx="26289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2305050" y="2847975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这道题的历史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2305050" y="310515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学过次数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4467225" y="3105150"/>
            <a:ext cx="1912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3 次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2305050" y="33432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上次结果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4457700" y="33432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C22E27"/>
                </a:solidFill>
                <a:latin typeface="Noto Sans SC Bold"/>
                <a:ea typeface="Noto Sans SC Bold"/>
                <a:cs typeface="Noto Sans SC Bold"/>
              </a:rPr>
              <a:t>答错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2305050" y="35814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当前连对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3981450" y="3581400"/>
            <a:ext cx="6857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0 次 · 明日期满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2305050" y="381952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错题记录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3876675" y="3819525"/>
            <a:ext cx="784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C22E27"/>
                </a:solidFill>
                <a:latin typeface="Noto Sans SC Bold"/>
                <a:ea typeface="Noto Sans SC Bold"/>
                <a:cs typeface="Noto Sans SC Bold"/>
              </a:rPr>
              <a:t>出错 2 次 · 新错</a:t>
            </a:r>
          </a:p>
        </p:txBody>
      </p:sp>
      <p:sp>
        <p:nvSpPr>
          <p:cNvPr id="54" name="Rectangle"/>
          <p:cNvSpPr/>
          <p:nvPr/>
        </p:nvSpPr>
        <p:spPr>
          <a:xfrm>
            <a:off x="2176463" y="2719388"/>
            <a:ext cx="2619375" cy="1381125"/>
          </a:xfrm>
          <a:prstGeom prst="roundRect">
            <a:avLst>
              <a:gd name="adj" fmla="val 7931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"/>
          <p:cNvSpPr/>
          <p:nvPr/>
        </p:nvSpPr>
        <p:spPr>
          <a:xfrm>
            <a:off x="1909763" y="614363"/>
            <a:ext cx="3114675" cy="91344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"/>
          <p:cNvSpPr/>
          <p:nvPr/>
        </p:nvSpPr>
        <p:spPr>
          <a:xfrm>
            <a:off x="5257800" y="838200"/>
            <a:ext cx="1790700" cy="904875"/>
          </a:xfrm>
          <a:prstGeom prst="roundRect">
            <a:avLst>
              <a:gd name="adj" fmla="val 12631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"/>
          <p:cNvSpPr/>
          <p:nvPr/>
        </p:nvSpPr>
        <p:spPr>
          <a:xfrm>
            <a:off x="5381625" y="119062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Path"/>
          <p:cNvSpPr/>
          <p:nvPr/>
        </p:nvSpPr>
        <p:spPr>
          <a:xfrm>
            <a:off x="5428654" y="1256640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5695950" y="962025"/>
            <a:ext cx="1214819" cy="657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A. 对生产设备、设施进行定期检查和维护保养</a:t>
            </a:r>
          </a:p>
        </p:txBody>
      </p:sp>
      <p:sp>
        <p:nvSpPr>
          <p:cNvPr id="60" name="Rectangle"/>
          <p:cNvSpPr/>
          <p:nvPr/>
        </p:nvSpPr>
        <p:spPr>
          <a:xfrm>
            <a:off x="5264944" y="845344"/>
            <a:ext cx="1776413" cy="890588"/>
          </a:xfrm>
          <a:prstGeom prst="roundRect">
            <a:avLst>
              <a:gd name="adj" fmla="val 12032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"/>
          <p:cNvSpPr/>
          <p:nvPr/>
        </p:nvSpPr>
        <p:spPr>
          <a:xfrm>
            <a:off x="5257800" y="1828800"/>
            <a:ext cx="1790700" cy="904875"/>
          </a:xfrm>
          <a:prstGeom prst="roundRect">
            <a:avLst>
              <a:gd name="adj" fmla="val 12631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"/>
          <p:cNvSpPr/>
          <p:nvPr/>
        </p:nvSpPr>
        <p:spPr>
          <a:xfrm>
            <a:off x="5381625" y="218122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Path"/>
          <p:cNvSpPr/>
          <p:nvPr/>
        </p:nvSpPr>
        <p:spPr>
          <a:xfrm>
            <a:off x="5428654" y="2247240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5695950" y="1952625"/>
            <a:ext cx="1221353" cy="657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B. 组织员工进行安全生产教育和培训，建立培训档案</a:t>
            </a:r>
          </a:p>
        </p:txBody>
      </p:sp>
      <p:sp>
        <p:nvSpPr>
          <p:cNvPr id="65" name="Rectangle"/>
          <p:cNvSpPr/>
          <p:nvPr/>
        </p:nvSpPr>
        <p:spPr>
          <a:xfrm>
            <a:off x="5264944" y="1835944"/>
            <a:ext cx="1776413" cy="890588"/>
          </a:xfrm>
          <a:prstGeom prst="roundRect">
            <a:avLst>
              <a:gd name="adj" fmla="val 12032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"/>
          <p:cNvSpPr/>
          <p:nvPr/>
        </p:nvSpPr>
        <p:spPr>
          <a:xfrm>
            <a:off x="5257800" y="2819400"/>
            <a:ext cx="1790700" cy="904875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"/>
          <p:cNvSpPr/>
          <p:nvPr/>
        </p:nvSpPr>
        <p:spPr>
          <a:xfrm>
            <a:off x="5381625" y="317182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"/>
          <p:cNvSpPr/>
          <p:nvPr/>
        </p:nvSpPr>
        <p:spPr>
          <a:xfrm>
            <a:off x="5389721" y="3179921"/>
            <a:ext cx="193357" cy="193357"/>
          </a:xfrm>
          <a:prstGeom prst="roundRect">
            <a:avLst>
              <a:gd name="adj" fmla="val 30295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"/>
          <p:cNvSpPr txBox="1"/>
          <p:nvPr/>
        </p:nvSpPr>
        <p:spPr>
          <a:xfrm>
            <a:off x="5695950" y="2943225"/>
            <a:ext cx="1218819" cy="657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C. 在有明显职业病危害因素超标的工作场所组织应急演练</a:t>
            </a:r>
          </a:p>
        </p:txBody>
      </p:sp>
      <p:sp>
        <p:nvSpPr>
          <p:cNvPr id="70" name="Rectangle"/>
          <p:cNvSpPr/>
          <p:nvPr/>
        </p:nvSpPr>
        <p:spPr>
          <a:xfrm>
            <a:off x="5264944" y="2826544"/>
            <a:ext cx="1776413" cy="890588"/>
          </a:xfrm>
          <a:prstGeom prst="roundRect">
            <a:avLst>
              <a:gd name="adj" fmla="val 12032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"/>
          <p:cNvSpPr/>
          <p:nvPr/>
        </p:nvSpPr>
        <p:spPr>
          <a:xfrm>
            <a:off x="5257800" y="3810000"/>
            <a:ext cx="17907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"/>
          <p:cNvSpPr/>
          <p:nvPr/>
        </p:nvSpPr>
        <p:spPr>
          <a:xfrm>
            <a:off x="5381625" y="426720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"/>
          <p:cNvSpPr/>
          <p:nvPr/>
        </p:nvSpPr>
        <p:spPr>
          <a:xfrm>
            <a:off x="5389721" y="4275296"/>
            <a:ext cx="193357" cy="193357"/>
          </a:xfrm>
          <a:prstGeom prst="roundRect">
            <a:avLst>
              <a:gd name="adj" fmla="val 30295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Box"/>
          <p:cNvSpPr txBox="1"/>
          <p:nvPr/>
        </p:nvSpPr>
        <p:spPr>
          <a:xfrm>
            <a:off x="5695950" y="3933825"/>
            <a:ext cx="1225487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D. 依法履行安全生产管理职责，对所负责安全生产工作进行检查</a:t>
            </a:r>
          </a:p>
        </p:txBody>
      </p:sp>
      <p:sp>
        <p:nvSpPr>
          <p:cNvPr id="75" name="Rectangle"/>
          <p:cNvSpPr/>
          <p:nvPr/>
        </p:nvSpPr>
        <p:spPr>
          <a:xfrm>
            <a:off x="5264944" y="3817144"/>
            <a:ext cx="1776413" cy="1109663"/>
          </a:xfrm>
          <a:prstGeom prst="roundRect">
            <a:avLst>
              <a:gd name="adj" fmla="val 9656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"/>
          <p:cNvSpPr/>
          <p:nvPr/>
        </p:nvSpPr>
        <p:spPr>
          <a:xfrm>
            <a:off x="5257800" y="5048250"/>
            <a:ext cx="1790700" cy="647700"/>
          </a:xfrm>
          <a:prstGeom prst="roundRect">
            <a:avLst>
              <a:gd name="adj" fmla="val 14705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"/>
          <p:cNvSpPr/>
          <p:nvPr/>
        </p:nvSpPr>
        <p:spPr>
          <a:xfrm>
            <a:off x="5372100" y="5267325"/>
            <a:ext cx="209550" cy="20955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"/>
          <p:cNvSpPr txBox="1"/>
          <p:nvPr/>
        </p:nvSpPr>
        <p:spPr>
          <a:xfrm>
            <a:off x="5448300" y="5305425"/>
            <a:ext cx="6534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57504A"/>
                </a:solidFill>
                <a:latin typeface="Inter Tight Bold"/>
                <a:ea typeface="Inter Tight Bold"/>
                <a:cs typeface="Inter Tight Bold"/>
              </a:rPr>
              <a:t>A</a:t>
            </a:r>
          </a:p>
        </p:txBody>
      </p:sp>
      <p:sp>
        <p:nvSpPr>
          <p:cNvPr id="79" name="Rectangle"/>
          <p:cNvSpPr/>
          <p:nvPr/>
        </p:nvSpPr>
        <p:spPr>
          <a:xfrm>
            <a:off x="5376863" y="5272088"/>
            <a:ext cx="200025" cy="200025"/>
          </a:xfrm>
          <a:prstGeom prst="roundRect">
            <a:avLst>
              <a:gd name="adj" fmla="val 26190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"/>
          <p:cNvSpPr/>
          <p:nvPr/>
        </p:nvSpPr>
        <p:spPr>
          <a:xfrm>
            <a:off x="5629275" y="5267325"/>
            <a:ext cx="209550" cy="20955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"/>
          <p:cNvSpPr txBox="1"/>
          <p:nvPr/>
        </p:nvSpPr>
        <p:spPr>
          <a:xfrm>
            <a:off x="5705475" y="5305425"/>
            <a:ext cx="59066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57504A"/>
                </a:solidFill>
                <a:latin typeface="Inter Tight Bold"/>
                <a:ea typeface="Inter Tight Bold"/>
                <a:cs typeface="Inter Tight Bold"/>
              </a:rPr>
              <a:t>B</a:t>
            </a:r>
          </a:p>
        </p:txBody>
      </p:sp>
      <p:sp>
        <p:nvSpPr>
          <p:cNvPr id="82" name="Rectangle"/>
          <p:cNvSpPr/>
          <p:nvPr/>
        </p:nvSpPr>
        <p:spPr>
          <a:xfrm>
            <a:off x="5634038" y="5272088"/>
            <a:ext cx="200025" cy="200025"/>
          </a:xfrm>
          <a:prstGeom prst="roundRect">
            <a:avLst>
              <a:gd name="adj" fmla="val 26190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"/>
          <p:cNvSpPr/>
          <p:nvPr/>
        </p:nvSpPr>
        <p:spPr>
          <a:xfrm>
            <a:off x="5886450" y="5267325"/>
            <a:ext cx="209550" cy="20955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Box"/>
          <p:cNvSpPr txBox="1"/>
          <p:nvPr/>
        </p:nvSpPr>
        <p:spPr>
          <a:xfrm>
            <a:off x="5953125" y="5305425"/>
            <a:ext cx="6729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57504A"/>
                </a:solidFill>
                <a:latin typeface="Inter Tight Bold"/>
                <a:ea typeface="Inter Tight Bold"/>
                <a:cs typeface="Inter Tight Bold"/>
              </a:rPr>
              <a:t>C</a:t>
            </a:r>
          </a:p>
        </p:txBody>
      </p:sp>
      <p:sp>
        <p:nvSpPr>
          <p:cNvPr id="85" name="Rectangle"/>
          <p:cNvSpPr/>
          <p:nvPr/>
        </p:nvSpPr>
        <p:spPr>
          <a:xfrm>
            <a:off x="5891213" y="5272088"/>
            <a:ext cx="200025" cy="200025"/>
          </a:xfrm>
          <a:prstGeom prst="roundRect">
            <a:avLst>
              <a:gd name="adj" fmla="val 26190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"/>
          <p:cNvSpPr/>
          <p:nvPr/>
        </p:nvSpPr>
        <p:spPr>
          <a:xfrm>
            <a:off x="6143625" y="5267325"/>
            <a:ext cx="209550" cy="20955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"/>
          <p:cNvSpPr txBox="1"/>
          <p:nvPr/>
        </p:nvSpPr>
        <p:spPr>
          <a:xfrm>
            <a:off x="6219825" y="5305425"/>
            <a:ext cx="6539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57504A"/>
                </a:solidFill>
                <a:latin typeface="Inter Tight Bold"/>
                <a:ea typeface="Inter Tight Bold"/>
                <a:cs typeface="Inter Tight Bold"/>
              </a:rPr>
              <a:t>D</a:t>
            </a:r>
          </a:p>
        </p:txBody>
      </p:sp>
      <p:sp>
        <p:nvSpPr>
          <p:cNvPr id="88" name="Rectangle"/>
          <p:cNvSpPr/>
          <p:nvPr/>
        </p:nvSpPr>
        <p:spPr>
          <a:xfrm>
            <a:off x="6148388" y="5272088"/>
            <a:ext cx="200025" cy="200025"/>
          </a:xfrm>
          <a:prstGeom prst="roundRect">
            <a:avLst>
              <a:gd name="adj" fmla="val 26190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"/>
          <p:cNvSpPr txBox="1"/>
          <p:nvPr/>
        </p:nvSpPr>
        <p:spPr>
          <a:xfrm>
            <a:off x="6429375" y="5143500"/>
            <a:ext cx="44843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A–D 选择 · Enter 提交</a:t>
            </a:r>
          </a:p>
        </p:txBody>
      </p:sp>
      <p:sp>
        <p:nvSpPr>
          <p:cNvPr id="90" name="TextBox"/>
          <p:cNvSpPr txBox="1"/>
          <p:nvPr/>
        </p:nvSpPr>
        <p:spPr>
          <a:xfrm>
            <a:off x="5257800" y="8686800"/>
            <a:ext cx="45948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已选 2 项</a:t>
            </a:r>
          </a:p>
        </p:txBody>
      </p:sp>
      <p:sp>
        <p:nvSpPr>
          <p:cNvPr id="91" name="Rectangle"/>
          <p:cNvSpPr/>
          <p:nvPr/>
        </p:nvSpPr>
        <p:spPr>
          <a:xfrm>
            <a:off x="6496050" y="8610600"/>
            <a:ext cx="552450" cy="32385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"/>
          <p:cNvSpPr txBox="1"/>
          <p:nvPr/>
        </p:nvSpPr>
        <p:spPr>
          <a:xfrm>
            <a:off x="6648450" y="8686800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清空</a:t>
            </a:r>
          </a:p>
        </p:txBody>
      </p:sp>
      <p:sp>
        <p:nvSpPr>
          <p:cNvPr id="93" name="Rectangle"/>
          <p:cNvSpPr/>
          <p:nvPr/>
        </p:nvSpPr>
        <p:spPr>
          <a:xfrm>
            <a:off x="5257800" y="9029700"/>
            <a:ext cx="1790700" cy="49530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"/>
          <p:cNvSpPr txBox="1"/>
          <p:nvPr/>
        </p:nvSpPr>
        <p:spPr>
          <a:xfrm>
            <a:off x="5848350" y="9172575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提交答案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8572500" cy="9525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228600" y="85725"/>
            <a:ext cx="1355169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11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多选题 · 第 7 / 20 题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28600" y="295275"/>
            <a:ext cx="18293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今日到期 · 已用 3 分 12 秒 · 已答 2 项</a:t>
            </a:r>
          </a:p>
        </p:txBody>
      </p:sp>
      <p:sp>
        <p:nvSpPr>
          <p:cNvPr id="5" name="Rectangle"/>
          <p:cNvSpPr/>
          <p:nvPr/>
        </p:nvSpPr>
        <p:spPr>
          <a:xfrm>
            <a:off x="7277100" y="10477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7405688" y="219075"/>
            <a:ext cx="38100" cy="95250"/>
          </a:xfrm>
          <a:prstGeom prst="roundRect">
            <a:avLst>
              <a:gd name="adj" fmla="val 30000"/>
            </a:avLst>
          </a:prstGeom>
          <a:noFill/>
          <a:ln w="12382">
            <a:solidFill>
              <a:srgbClr val="57504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7472363" y="219075"/>
            <a:ext cx="38100" cy="95250"/>
          </a:xfrm>
          <a:prstGeom prst="roundRect">
            <a:avLst>
              <a:gd name="adj" fmla="val 30000"/>
            </a:avLst>
          </a:prstGeom>
          <a:noFill/>
          <a:ln w="12382">
            <a:solidFill>
              <a:srgbClr val="57504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7581900" y="190500"/>
            <a:ext cx="6229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展开 · 双栏</a:t>
            </a:r>
          </a:p>
        </p:txBody>
      </p:sp>
      <p:sp>
        <p:nvSpPr>
          <p:cNvPr id="9" name="Rectangle"/>
          <p:cNvSpPr/>
          <p:nvPr/>
        </p:nvSpPr>
        <p:spPr>
          <a:xfrm>
            <a:off x="7281863" y="109538"/>
            <a:ext cx="1057275" cy="3143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0" y="533400"/>
            <a:ext cx="8572500" cy="38100"/>
          </a:xfrm>
          <a:prstGeom prst="rect">
            <a:avLst/>
          </a:prstGeom>
          <a:solidFill>
            <a:srgbClr val="EAE3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0" y="533400"/>
            <a:ext cx="3000375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0" y="571500"/>
            <a:ext cx="3771900" cy="8953500"/>
          </a:xfrm>
          <a:prstGeom prst="rect">
            <a:avLst/>
          </a:prstGeom>
          <a:solidFill>
            <a:srgbClr val="FDF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266700" y="80010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381000" y="847725"/>
            <a:ext cx="60168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第 42 / 110 题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66700" y="1162050"/>
            <a:ext cx="3143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625"/>
              </a:lnSpc>
            </a:pPr>
            <a:r>
              <a:rPr lang="zh-CN" sz="16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生产经营单位应当采取的技术措施包括下列哪些？</a:t>
            </a:r>
          </a:p>
        </p:txBody>
      </p:sp>
      <p:sp>
        <p:nvSpPr>
          <p:cNvPr id="16" name="Rectangle"/>
          <p:cNvSpPr/>
          <p:nvPr/>
        </p:nvSpPr>
        <p:spPr>
          <a:xfrm>
            <a:off x="266700" y="1962150"/>
            <a:ext cx="3238500" cy="609600"/>
          </a:xfrm>
          <a:prstGeom prst="roundRect">
            <a:avLst>
              <a:gd name="adj" fmla="val 15625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381000" y="2076450"/>
            <a:ext cx="210883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多选题 · 漏选、多选、错选均算整题错误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381000" y="2295525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无部分给分，判分口径唯一</a:t>
            </a:r>
          </a:p>
        </p:txBody>
      </p:sp>
      <p:sp>
        <p:nvSpPr>
          <p:cNvPr id="19" name="Rectangle"/>
          <p:cNvSpPr/>
          <p:nvPr/>
        </p:nvSpPr>
        <p:spPr>
          <a:xfrm>
            <a:off x="266700" y="2705100"/>
            <a:ext cx="3238500" cy="552450"/>
          </a:xfrm>
          <a:prstGeom prst="roundRect">
            <a:avLst>
              <a:gd name="adj" fmla="val 17241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371475" y="2809875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57504A"/>
                </a:solidFill>
                <a:latin typeface="Noto Sans SC Bold"/>
                <a:ea typeface="Noto Sans SC Bold"/>
                <a:cs typeface="Noto Sans SC Bold"/>
              </a:rPr>
              <a:t>折痕区域已避让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371475" y="3000375"/>
            <a:ext cx="26340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75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题面、选项、提交按钮均不跨折痕；正文栏右缘留 24px 安全边</a:t>
            </a:r>
          </a:p>
        </p:txBody>
      </p:sp>
      <p:sp>
        <p:nvSpPr>
          <p:cNvPr id="22" name="Rectangle"/>
          <p:cNvSpPr/>
          <p:nvPr/>
        </p:nvSpPr>
        <p:spPr>
          <a:xfrm>
            <a:off x="4763" y="576263"/>
            <a:ext cx="3762375" cy="89439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4076700" y="800100"/>
            <a:ext cx="4191000" cy="495300"/>
          </a:xfrm>
          <a:prstGeom prst="roundRect">
            <a:avLst>
              <a:gd name="adj" fmla="val 23076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4210050" y="933450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Path"/>
          <p:cNvSpPr/>
          <p:nvPr/>
        </p:nvSpPr>
        <p:spPr>
          <a:xfrm>
            <a:off x="4265639" y="998501"/>
            <a:ext cx="122248" cy="90815"/>
          </a:xfrm>
          <a:custGeom>
            <a:avLst/>
            <a:gdLst/>
            <a:ahLst/>
            <a:cxnLst/>
            <a:rect l="0" t="0" r="r" b="b"/>
            <a:pathLst>
              <a:path w="122248" h="90815">
                <a:moveTo>
                  <a:pt x="18831" y="38647"/>
                </a:moveTo>
                <a:lnTo>
                  <a:pt x="44314" y="64129"/>
                </a:lnTo>
                <a:lnTo>
                  <a:pt x="103245" y="3514"/>
                </a:lnTo>
                <a:quadBezTo>
                  <a:pt x="106351" y="129"/>
                  <a:pt x="110944" y="197"/>
                </a:quadBezTo>
                <a:quadBezTo>
                  <a:pt x="115534" y="0"/>
                  <a:pt x="118734" y="3296"/>
                </a:quadBezTo>
                <a:quadBezTo>
                  <a:pt x="122119" y="6402"/>
                  <a:pt x="122051" y="10995"/>
                </a:quadBezTo>
                <a:quadBezTo>
                  <a:pt x="122248" y="15585"/>
                  <a:pt x="118952" y="18785"/>
                </a:quadBezTo>
                <a:lnTo>
                  <a:pt x="52277" y="87365"/>
                </a:lnTo>
                <a:quadBezTo>
                  <a:pt x="52250" y="87393"/>
                  <a:pt x="52223" y="87420"/>
                </a:quadBezTo>
                <a:quadBezTo>
                  <a:pt x="52196" y="87448"/>
                  <a:pt x="52169" y="87475"/>
                </a:quadBezTo>
                <a:quadBezTo>
                  <a:pt x="49015" y="90815"/>
                  <a:pt x="44423" y="90683"/>
                </a:quadBezTo>
                <a:quadBezTo>
                  <a:pt x="39831" y="90815"/>
                  <a:pt x="36678" y="87475"/>
                </a:quadBezTo>
                <a:lnTo>
                  <a:pt x="3340" y="54137"/>
                </a:lnTo>
                <a:quadBezTo>
                  <a:pt x="0" y="50984"/>
                  <a:pt x="132" y="46392"/>
                </a:quadBezTo>
                <a:quadBezTo>
                  <a:pt x="0" y="41800"/>
                  <a:pt x="3340" y="38647"/>
                </a:quadBezTo>
                <a:quadBezTo>
                  <a:pt x="6494" y="35306"/>
                  <a:pt x="11086" y="35438"/>
                </a:quadBezTo>
                <a:quadBezTo>
                  <a:pt x="15678" y="35306"/>
                  <a:pt x="18831" y="3864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4552950" y="933450"/>
            <a:ext cx="28732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A. 对生产设备、设施进行定期检查和维护保养</a:t>
            </a:r>
          </a:p>
        </p:txBody>
      </p:sp>
      <p:sp>
        <p:nvSpPr>
          <p:cNvPr id="27" name="Rectangle"/>
          <p:cNvSpPr/>
          <p:nvPr/>
        </p:nvSpPr>
        <p:spPr>
          <a:xfrm>
            <a:off x="4083844" y="807244"/>
            <a:ext cx="4176713" cy="481013"/>
          </a:xfrm>
          <a:prstGeom prst="roundRect">
            <a:avLst>
              <a:gd name="adj" fmla="val 22277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4076700" y="1390650"/>
            <a:ext cx="4191000" cy="495300"/>
          </a:xfrm>
          <a:prstGeom prst="roundRect">
            <a:avLst>
              <a:gd name="adj" fmla="val 23076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4210050" y="1524000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4265639" y="1589051"/>
            <a:ext cx="122248" cy="90815"/>
          </a:xfrm>
          <a:custGeom>
            <a:avLst/>
            <a:gdLst/>
            <a:ahLst/>
            <a:cxnLst/>
            <a:rect l="0" t="0" r="r" b="b"/>
            <a:pathLst>
              <a:path w="122248" h="90815">
                <a:moveTo>
                  <a:pt x="18831" y="38647"/>
                </a:moveTo>
                <a:lnTo>
                  <a:pt x="44314" y="64129"/>
                </a:lnTo>
                <a:lnTo>
                  <a:pt x="103245" y="3514"/>
                </a:lnTo>
                <a:quadBezTo>
                  <a:pt x="106351" y="129"/>
                  <a:pt x="110944" y="197"/>
                </a:quadBezTo>
                <a:quadBezTo>
                  <a:pt x="115534" y="0"/>
                  <a:pt x="118734" y="3296"/>
                </a:quadBezTo>
                <a:quadBezTo>
                  <a:pt x="122119" y="6402"/>
                  <a:pt x="122051" y="10995"/>
                </a:quadBezTo>
                <a:quadBezTo>
                  <a:pt x="122248" y="15585"/>
                  <a:pt x="118952" y="18785"/>
                </a:quadBezTo>
                <a:lnTo>
                  <a:pt x="52277" y="87365"/>
                </a:lnTo>
                <a:quadBezTo>
                  <a:pt x="52250" y="87393"/>
                  <a:pt x="52223" y="87420"/>
                </a:quadBezTo>
                <a:quadBezTo>
                  <a:pt x="52196" y="87448"/>
                  <a:pt x="52169" y="87475"/>
                </a:quadBezTo>
                <a:quadBezTo>
                  <a:pt x="49015" y="90815"/>
                  <a:pt x="44423" y="90683"/>
                </a:quadBezTo>
                <a:quadBezTo>
                  <a:pt x="39831" y="90815"/>
                  <a:pt x="36678" y="87475"/>
                </a:quadBezTo>
                <a:lnTo>
                  <a:pt x="3340" y="54137"/>
                </a:lnTo>
                <a:quadBezTo>
                  <a:pt x="0" y="50984"/>
                  <a:pt x="132" y="46392"/>
                </a:quadBezTo>
                <a:quadBezTo>
                  <a:pt x="0" y="41800"/>
                  <a:pt x="3340" y="38647"/>
                </a:quadBezTo>
                <a:quadBezTo>
                  <a:pt x="6494" y="35306"/>
                  <a:pt x="11086" y="35438"/>
                </a:quadBezTo>
                <a:quadBezTo>
                  <a:pt x="15678" y="35306"/>
                  <a:pt x="18831" y="3864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4552950" y="1524000"/>
            <a:ext cx="33088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B. 组织员工进行安全生产教育和培训，建立培训档案</a:t>
            </a:r>
          </a:p>
        </p:txBody>
      </p:sp>
      <p:sp>
        <p:nvSpPr>
          <p:cNvPr id="32" name="Rectangle"/>
          <p:cNvSpPr/>
          <p:nvPr/>
        </p:nvSpPr>
        <p:spPr>
          <a:xfrm>
            <a:off x="4083844" y="1397794"/>
            <a:ext cx="4176713" cy="481013"/>
          </a:xfrm>
          <a:prstGeom prst="roundRect">
            <a:avLst>
              <a:gd name="adj" fmla="val 22277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4076700" y="1981200"/>
            <a:ext cx="4191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4210050" y="2228850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4218146" y="2236946"/>
            <a:ext cx="212407" cy="212407"/>
          </a:xfrm>
          <a:prstGeom prst="roundRect">
            <a:avLst>
              <a:gd name="adj" fmla="val 27578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4552950" y="2114550"/>
            <a:ext cx="344900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C. 在有明显职业病危害因素超标的工作场所组织应急演练</a:t>
            </a:r>
          </a:p>
        </p:txBody>
      </p:sp>
      <p:sp>
        <p:nvSpPr>
          <p:cNvPr id="37" name="Rectangle"/>
          <p:cNvSpPr/>
          <p:nvPr/>
        </p:nvSpPr>
        <p:spPr>
          <a:xfrm>
            <a:off x="4083844" y="1988344"/>
            <a:ext cx="4176713" cy="709613"/>
          </a:xfrm>
          <a:prstGeom prst="roundRect">
            <a:avLst>
              <a:gd name="adj" fmla="val 15100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4076700" y="2800350"/>
            <a:ext cx="4191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4210050" y="3048000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4218146" y="3056096"/>
            <a:ext cx="212407" cy="212407"/>
          </a:xfrm>
          <a:prstGeom prst="roundRect">
            <a:avLst>
              <a:gd name="adj" fmla="val 27578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4552950" y="2933700"/>
            <a:ext cx="3456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D. 依法履行安全生产管理职责，对所负责安全生产工作进行检查</a:t>
            </a:r>
          </a:p>
        </p:txBody>
      </p:sp>
      <p:sp>
        <p:nvSpPr>
          <p:cNvPr id="42" name="Rectangle"/>
          <p:cNvSpPr/>
          <p:nvPr/>
        </p:nvSpPr>
        <p:spPr>
          <a:xfrm>
            <a:off x="4083844" y="2807494"/>
            <a:ext cx="4176713" cy="709613"/>
          </a:xfrm>
          <a:prstGeom prst="roundRect">
            <a:avLst>
              <a:gd name="adj" fmla="val 15100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"/>
          <p:cNvSpPr/>
          <p:nvPr/>
        </p:nvSpPr>
        <p:spPr>
          <a:xfrm>
            <a:off x="4076700" y="3638550"/>
            <a:ext cx="4191000" cy="323850"/>
          </a:xfrm>
          <a:prstGeom prst="roundRect">
            <a:avLst>
              <a:gd name="adj" fmla="val 29411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4191000" y="3724275"/>
            <a:ext cx="13046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键盘 A–D 选择 · Enter 提交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4076700" y="8429625"/>
            <a:ext cx="142532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已选 2 项 · 多选无部分给分</a:t>
            </a:r>
          </a:p>
        </p:txBody>
      </p:sp>
      <p:sp>
        <p:nvSpPr>
          <p:cNvPr id="46" name="Rectangle"/>
          <p:cNvSpPr/>
          <p:nvPr/>
        </p:nvSpPr>
        <p:spPr>
          <a:xfrm>
            <a:off x="7677150" y="8343900"/>
            <a:ext cx="590550" cy="3429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7848600" y="8429625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清空</a:t>
            </a:r>
          </a:p>
        </p:txBody>
      </p:sp>
      <p:sp>
        <p:nvSpPr>
          <p:cNvPr id="48" name="Rectangle"/>
          <p:cNvSpPr/>
          <p:nvPr/>
        </p:nvSpPr>
        <p:spPr>
          <a:xfrm>
            <a:off x="4076700" y="8782050"/>
            <a:ext cx="4191000" cy="51435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5867400" y="8934450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提交答案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4095750" cy="88773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133350" y="571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Path"/>
          <p:cNvSpPr/>
          <p:nvPr/>
        </p:nvSpPr>
        <p:spPr>
          <a:xfrm>
            <a:off x="286309" y="191059"/>
            <a:ext cx="75081" cy="113181"/>
          </a:xfrm>
          <a:custGeom>
            <a:avLst/>
            <a:gdLst/>
            <a:ahLst/>
            <a:cxnLst/>
            <a:rect l="0" t="0" r="r" b="b"/>
            <a:pathLst>
              <a:path w="75081" h="113181">
                <a:moveTo>
                  <a:pt x="71604" y="15551"/>
                </a:moveTo>
                <a:lnTo>
                  <a:pt x="22356" y="56591"/>
                </a:lnTo>
                <a:lnTo>
                  <a:pt x="71604" y="97630"/>
                </a:lnTo>
                <a:quadBezTo>
                  <a:pt x="74431" y="99851"/>
                  <a:pt x="74653" y="103440"/>
                </a:quadBezTo>
                <a:quadBezTo>
                  <a:pt x="75081" y="107009"/>
                  <a:pt x="72701" y="109704"/>
                </a:quadBezTo>
                <a:quadBezTo>
                  <a:pt x="70480" y="112531"/>
                  <a:pt x="66892" y="112753"/>
                </a:quadBezTo>
                <a:quadBezTo>
                  <a:pt x="63322" y="113181"/>
                  <a:pt x="60628" y="110801"/>
                </a:quadBezTo>
                <a:lnTo>
                  <a:pt x="3478" y="63176"/>
                </a:lnTo>
                <a:quadBezTo>
                  <a:pt x="3179" y="62927"/>
                  <a:pt x="2904" y="62652"/>
                </a:quadBezTo>
                <a:quadBezTo>
                  <a:pt x="2629" y="62377"/>
                  <a:pt x="2380" y="62079"/>
                </a:quadBezTo>
                <a:quadBezTo>
                  <a:pt x="0" y="59384"/>
                  <a:pt x="428" y="55815"/>
                </a:quadBezTo>
                <a:quadBezTo>
                  <a:pt x="651" y="52226"/>
                  <a:pt x="3478" y="50005"/>
                </a:quadBezTo>
                <a:lnTo>
                  <a:pt x="60628" y="2380"/>
                </a:lnTo>
                <a:quadBezTo>
                  <a:pt x="63322" y="0"/>
                  <a:pt x="66892" y="428"/>
                </a:quadBezTo>
                <a:quadBezTo>
                  <a:pt x="70480" y="651"/>
                  <a:pt x="72701" y="3478"/>
                </a:quadBezTo>
                <a:quadBezTo>
                  <a:pt x="75081" y="6172"/>
                  <a:pt x="74653" y="9742"/>
                </a:quadBezTo>
                <a:quadBezTo>
                  <a:pt x="74431" y="13330"/>
                  <a:pt x="71604" y="15551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"/>
          <p:cNvSpPr txBox="1"/>
          <p:nvPr/>
        </p:nvSpPr>
        <p:spPr>
          <a:xfrm>
            <a:off x="514350" y="76200"/>
            <a:ext cx="126482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多选题 · 第 7 / 20 题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14350" y="276225"/>
            <a:ext cx="10255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3 分 12 秒 · 已答 2 项</a:t>
            </a:r>
          </a:p>
        </p:txBody>
      </p:sp>
      <p:sp>
        <p:nvSpPr>
          <p:cNvPr id="7" name="Ellipse"/>
          <p:cNvSpPr/>
          <p:nvPr/>
        </p:nvSpPr>
        <p:spPr>
          <a:xfrm>
            <a:off x="3581400" y="5715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3681413" y="185738"/>
            <a:ext cx="180975" cy="123825"/>
          </a:xfrm>
          <a:prstGeom prst="roundRect">
            <a:avLst>
              <a:gd name="adj" fmla="val 15384"/>
            </a:avLst>
          </a:prstGeom>
          <a:noFill/>
          <a:ln w="15240">
            <a:solidFill>
              <a:srgbClr val="211A1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3764280" y="185738"/>
            <a:ext cx="15240" cy="123825"/>
          </a:xfrm>
          <a:custGeom>
            <a:avLst/>
            <a:gdLst/>
            <a:ahLst/>
            <a:cxnLst/>
            <a:rect l="0" t="0" r="r" b="b"/>
            <a:pathLst>
              <a:path w="15240" h="123825">
                <a:moveTo>
                  <a:pt x="15240" y="123825"/>
                </a:moveTo>
                <a:lnTo>
                  <a:pt x="0" y="123825"/>
                </a:lnTo>
                <a:lnTo>
                  <a:pt x="0" y="0"/>
                </a:lnTo>
                <a:lnTo>
                  <a:pt x="15240" y="0"/>
                </a:lnTo>
                <a:lnTo>
                  <a:pt x="15240" y="123825"/>
                </a:ln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0" y="495300"/>
            <a:ext cx="4095750" cy="47625"/>
          </a:xfrm>
          <a:prstGeom prst="rect">
            <a:avLst/>
          </a:prstGeom>
          <a:solidFill>
            <a:srgbClr val="EAE3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0" y="495300"/>
            <a:ext cx="14097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0" y="542925"/>
            <a:ext cx="4095750" cy="361950"/>
          </a:xfrm>
          <a:prstGeom prst="rect">
            <a:avLst/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143426" y="655650"/>
            <a:ext cx="131972" cy="126959"/>
          </a:xfrm>
          <a:custGeom>
            <a:avLst/>
            <a:gdLst/>
            <a:ahLst/>
            <a:cxnLst/>
            <a:rect l="0" t="0" r="r" b="b"/>
            <a:pathLst>
              <a:path w="131972" h="126959">
                <a:moveTo>
                  <a:pt x="72118" y="4370"/>
                </a:moveTo>
                <a:lnTo>
                  <a:pt x="88661" y="38325"/>
                </a:lnTo>
                <a:lnTo>
                  <a:pt x="126101" y="43549"/>
                </a:lnTo>
                <a:quadBezTo>
                  <a:pt x="127207" y="43701"/>
                  <a:pt x="128200" y="44209"/>
                </a:quadBezTo>
                <a:quadBezTo>
                  <a:pt x="129196" y="44713"/>
                  <a:pt x="129971" y="45516"/>
                </a:quadBezTo>
                <a:quadBezTo>
                  <a:pt x="131972" y="47469"/>
                  <a:pt x="131846" y="50262"/>
                </a:quadBezTo>
                <a:quadBezTo>
                  <a:pt x="131881" y="53058"/>
                  <a:pt x="129816" y="54944"/>
                </a:quadBezTo>
                <a:lnTo>
                  <a:pt x="102793" y="81096"/>
                </a:lnTo>
                <a:lnTo>
                  <a:pt x="108900" y="118614"/>
                </a:lnTo>
                <a:quadBezTo>
                  <a:pt x="109077" y="119686"/>
                  <a:pt x="108900" y="120758"/>
                </a:quadBezTo>
                <a:quadBezTo>
                  <a:pt x="108728" y="121831"/>
                  <a:pt x="108220" y="122791"/>
                </a:quadBezTo>
                <a:quadBezTo>
                  <a:pt x="106989" y="125302"/>
                  <a:pt x="104296" y="126053"/>
                </a:quadBezTo>
                <a:quadBezTo>
                  <a:pt x="101650" y="126959"/>
                  <a:pt x="99214" y="125586"/>
                </a:quadBezTo>
                <a:lnTo>
                  <a:pt x="66124" y="108170"/>
                </a:lnTo>
                <a:lnTo>
                  <a:pt x="33035" y="125586"/>
                </a:lnTo>
                <a:quadBezTo>
                  <a:pt x="32075" y="126094"/>
                  <a:pt x="31002" y="126266"/>
                </a:quadBezTo>
                <a:quadBezTo>
                  <a:pt x="29930" y="126443"/>
                  <a:pt x="28858" y="126266"/>
                </a:quadBezTo>
                <a:quadBezTo>
                  <a:pt x="26086" y="125897"/>
                  <a:pt x="24519" y="123581"/>
                </a:quadBezTo>
                <a:quadBezTo>
                  <a:pt x="22820" y="121360"/>
                  <a:pt x="23349" y="118614"/>
                </a:quadBezTo>
                <a:lnTo>
                  <a:pt x="29456" y="81096"/>
                </a:lnTo>
                <a:lnTo>
                  <a:pt x="2433" y="54944"/>
                </a:lnTo>
                <a:quadBezTo>
                  <a:pt x="1629" y="54170"/>
                  <a:pt x="1126" y="53174"/>
                </a:quadBezTo>
                <a:quadBezTo>
                  <a:pt x="618" y="52180"/>
                  <a:pt x="466" y="51074"/>
                </a:quadBezTo>
                <a:quadBezTo>
                  <a:pt x="0" y="48317"/>
                  <a:pt x="1749" y="46135"/>
                </a:quadBezTo>
                <a:quadBezTo>
                  <a:pt x="3369" y="43856"/>
                  <a:pt x="6148" y="43549"/>
                </a:quadBezTo>
                <a:lnTo>
                  <a:pt x="43588" y="38325"/>
                </a:lnTo>
                <a:lnTo>
                  <a:pt x="60130" y="4370"/>
                </a:lnTo>
                <a:quadBezTo>
                  <a:pt x="60618" y="3364"/>
                  <a:pt x="61410" y="2576"/>
                </a:quadBezTo>
                <a:quadBezTo>
                  <a:pt x="62198" y="1784"/>
                  <a:pt x="63204" y="1296"/>
                </a:quadBezTo>
                <a:quadBezTo>
                  <a:pt x="65682" y="0"/>
                  <a:pt x="68298" y="987"/>
                </a:quadBezTo>
                <a:quadBezTo>
                  <a:pt x="70967" y="1822"/>
                  <a:pt x="72118" y="4370"/>
                </a:quadBezTo>
                <a:close/>
                <a:moveTo>
                  <a:pt x="78228" y="47358"/>
                </a:moveTo>
                <a:lnTo>
                  <a:pt x="66124" y="22514"/>
                </a:lnTo>
                <a:lnTo>
                  <a:pt x="54021" y="47358"/>
                </a:lnTo>
                <a:quadBezTo>
                  <a:pt x="53301" y="48863"/>
                  <a:pt x="51945" y="49833"/>
                </a:quadBezTo>
                <a:quadBezTo>
                  <a:pt x="50602" y="50823"/>
                  <a:pt x="48948" y="51042"/>
                </a:quadBezTo>
                <a:lnTo>
                  <a:pt x="21529" y="54868"/>
                </a:lnTo>
                <a:lnTo>
                  <a:pt x="41234" y="73937"/>
                </a:lnTo>
                <a:quadBezTo>
                  <a:pt x="42420" y="75069"/>
                  <a:pt x="42926" y="76629"/>
                </a:quadBezTo>
                <a:quadBezTo>
                  <a:pt x="43452" y="78182"/>
                  <a:pt x="43178" y="79799"/>
                </a:quadBezTo>
                <a:lnTo>
                  <a:pt x="38659" y="107556"/>
                </a:lnTo>
                <a:lnTo>
                  <a:pt x="63019" y="94735"/>
                </a:lnTo>
                <a:quadBezTo>
                  <a:pt x="64474" y="93956"/>
                  <a:pt x="66124" y="93968"/>
                </a:quadBezTo>
                <a:quadBezTo>
                  <a:pt x="67775" y="93956"/>
                  <a:pt x="69230" y="94735"/>
                </a:quadBezTo>
                <a:lnTo>
                  <a:pt x="93590" y="107556"/>
                </a:lnTo>
                <a:lnTo>
                  <a:pt x="89071" y="79799"/>
                </a:lnTo>
                <a:quadBezTo>
                  <a:pt x="88796" y="78182"/>
                  <a:pt x="89323" y="76629"/>
                </a:quadBezTo>
                <a:quadBezTo>
                  <a:pt x="89829" y="75069"/>
                  <a:pt x="91015" y="73937"/>
                </a:quadBezTo>
                <a:lnTo>
                  <a:pt x="110720" y="54868"/>
                </a:lnTo>
                <a:lnTo>
                  <a:pt x="83301" y="51042"/>
                </a:lnTo>
                <a:quadBezTo>
                  <a:pt x="81647" y="50823"/>
                  <a:pt x="80304" y="49833"/>
                </a:quadBezTo>
                <a:quadBezTo>
                  <a:pt x="78948" y="48863"/>
                  <a:pt x="78228" y="47358"/>
                </a:quadBezTo>
                <a:close/>
              </a:path>
            </a:pathLst>
          </a:custGeom>
          <a:solidFill>
            <a:srgbClr val="8A3D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371475" y="638175"/>
            <a:ext cx="18288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E2806"/>
                </a:solidFill>
                <a:latin typeface="Noto Sans SC"/>
                <a:ea typeface="Noto Sans SC"/>
                <a:cs typeface="Noto Sans SC"/>
              </a:rPr>
              <a:t>折叠后仍可继续作答，进度自动保留</a:t>
            </a:r>
          </a:p>
        </p:txBody>
      </p:sp>
      <p:sp>
        <p:nvSpPr>
          <p:cNvPr id="15" name="Rectangle"/>
          <p:cNvSpPr/>
          <p:nvPr/>
        </p:nvSpPr>
        <p:spPr>
          <a:xfrm>
            <a:off x="171450" y="1057275"/>
            <a:ext cx="485775" cy="2286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257175" y="1104900"/>
            <a:ext cx="3143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学习中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3286125" y="1095375"/>
            <a:ext cx="6352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第 42 / 110 题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71450" y="1419225"/>
            <a:ext cx="35623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zh-CN" sz="12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生产经营单位应当采取的技术措施包括下列哪些？</a:t>
            </a:r>
          </a:p>
        </p:txBody>
      </p:sp>
      <p:sp>
        <p:nvSpPr>
          <p:cNvPr id="19" name="Rectangle"/>
          <p:cNvSpPr/>
          <p:nvPr/>
        </p:nvSpPr>
        <p:spPr>
          <a:xfrm>
            <a:off x="171450" y="1819275"/>
            <a:ext cx="3752850" cy="352425"/>
          </a:xfrm>
          <a:prstGeom prst="roundRect">
            <a:avLst>
              <a:gd name="adj" fmla="val 27027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266700" y="1914525"/>
            <a:ext cx="13065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多选无部分给分 · 已答 2 项</a:t>
            </a:r>
          </a:p>
        </p:txBody>
      </p:sp>
      <p:sp>
        <p:nvSpPr>
          <p:cNvPr id="21" name="Rectangle"/>
          <p:cNvSpPr/>
          <p:nvPr/>
        </p:nvSpPr>
        <p:spPr>
          <a:xfrm>
            <a:off x="171450" y="2305050"/>
            <a:ext cx="3752850" cy="447675"/>
          </a:xfrm>
          <a:prstGeom prst="roundRect">
            <a:avLst>
              <a:gd name="adj" fmla="val 25531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285750" y="2428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332778" y="2494890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590550" y="2419350"/>
            <a:ext cx="2681669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A. 对生产设备、设施进行定期检查和维护保养</a:t>
            </a:r>
          </a:p>
        </p:txBody>
      </p:sp>
      <p:sp>
        <p:nvSpPr>
          <p:cNvPr id="25" name="Rectangle"/>
          <p:cNvSpPr/>
          <p:nvPr/>
        </p:nvSpPr>
        <p:spPr>
          <a:xfrm>
            <a:off x="178594" y="2312194"/>
            <a:ext cx="3738563" cy="433388"/>
          </a:xfrm>
          <a:prstGeom prst="roundRect">
            <a:avLst>
              <a:gd name="adj" fmla="val 24725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71450" y="2828925"/>
            <a:ext cx="3752850" cy="447675"/>
          </a:xfrm>
          <a:prstGeom prst="roundRect">
            <a:avLst>
              <a:gd name="adj" fmla="val 25531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285750" y="29527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332778" y="3018765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590550" y="2943225"/>
            <a:ext cx="308825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B. 组织员工进行安全生产教育和培训，建立培训档案</a:t>
            </a:r>
          </a:p>
        </p:txBody>
      </p:sp>
      <p:sp>
        <p:nvSpPr>
          <p:cNvPr id="30" name="Rectangle"/>
          <p:cNvSpPr/>
          <p:nvPr/>
        </p:nvSpPr>
        <p:spPr>
          <a:xfrm>
            <a:off x="178594" y="2836069"/>
            <a:ext cx="3738563" cy="433388"/>
          </a:xfrm>
          <a:prstGeom prst="roundRect">
            <a:avLst>
              <a:gd name="adj" fmla="val 24725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71450" y="3352800"/>
            <a:ext cx="375285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"/>
          <p:cNvSpPr/>
          <p:nvPr/>
        </p:nvSpPr>
        <p:spPr>
          <a:xfrm>
            <a:off x="285750" y="358140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293846" y="3589496"/>
            <a:ext cx="193357" cy="193357"/>
          </a:xfrm>
          <a:prstGeom prst="roundRect">
            <a:avLst>
              <a:gd name="adj" fmla="val 30295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590550" y="3467100"/>
            <a:ext cx="3219069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C. 在有明显职业病危害因素超标的工作场所组织应急演练</a:t>
            </a:r>
          </a:p>
        </p:txBody>
      </p:sp>
      <p:sp>
        <p:nvSpPr>
          <p:cNvPr id="35" name="Rectangle"/>
          <p:cNvSpPr/>
          <p:nvPr/>
        </p:nvSpPr>
        <p:spPr>
          <a:xfrm>
            <a:off x="178594" y="3359944"/>
            <a:ext cx="37385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"/>
          <p:cNvSpPr/>
          <p:nvPr/>
        </p:nvSpPr>
        <p:spPr>
          <a:xfrm>
            <a:off x="171450" y="4095750"/>
            <a:ext cx="375285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285750" y="432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293846" y="4332446"/>
            <a:ext cx="193357" cy="193357"/>
          </a:xfrm>
          <a:prstGeom prst="roundRect">
            <a:avLst>
              <a:gd name="adj" fmla="val 30295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590550" y="4210050"/>
            <a:ext cx="3092387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D. 依法履行安全生产管理职责，对所负责安全生产工作进行检查</a:t>
            </a:r>
          </a:p>
        </p:txBody>
      </p:sp>
      <p:sp>
        <p:nvSpPr>
          <p:cNvPr id="40" name="Rectangle"/>
          <p:cNvSpPr/>
          <p:nvPr/>
        </p:nvSpPr>
        <p:spPr>
          <a:xfrm>
            <a:off x="178594" y="4102894"/>
            <a:ext cx="3738563" cy="652463"/>
          </a:xfrm>
          <a:prstGeom prst="roundRect">
            <a:avLst>
              <a:gd name="adj" fmla="val 16423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0" y="7629525"/>
            <a:ext cx="4095750" cy="1247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171450" y="7820025"/>
            <a:ext cx="4977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已选 2 项</a:t>
            </a:r>
          </a:p>
        </p:txBody>
      </p:sp>
      <p:sp>
        <p:nvSpPr>
          <p:cNvPr id="43" name="Rectangle"/>
          <p:cNvSpPr/>
          <p:nvPr/>
        </p:nvSpPr>
        <p:spPr>
          <a:xfrm>
            <a:off x="3371850" y="7753350"/>
            <a:ext cx="552450" cy="32385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3524250" y="7829550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清空</a:t>
            </a:r>
          </a:p>
        </p:txBody>
      </p:sp>
      <p:sp>
        <p:nvSpPr>
          <p:cNvPr id="45" name="Rectangle"/>
          <p:cNvSpPr/>
          <p:nvPr/>
        </p:nvSpPr>
        <p:spPr>
          <a:xfrm>
            <a:off x="171450" y="8172450"/>
            <a:ext cx="3752850" cy="49530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1743075" y="8315325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提交答案</a:t>
            </a:r>
          </a:p>
        </p:txBody>
      </p:sp>
      <p:sp>
        <p:nvSpPr>
          <p:cNvPr id="47" name="Rectangle"/>
          <p:cNvSpPr/>
          <p:nvPr/>
        </p:nvSpPr>
        <p:spPr>
          <a:xfrm>
            <a:off x="4763" y="7634288"/>
            <a:ext cx="4086225" cy="1238250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2209800" cy="857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33350" y="209550"/>
            <a:ext cx="1943100" cy="495300"/>
          </a:xfrm>
          <a:prstGeom prst="roundRect">
            <a:avLst>
              <a:gd name="adj" fmla="val 23076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247650" y="409575"/>
            <a:ext cx="104775" cy="123825"/>
          </a:xfrm>
          <a:prstGeom prst="roundRect">
            <a:avLst>
              <a:gd name="adj" fmla="val 18181"/>
            </a:avLst>
          </a:prstGeom>
          <a:noFill/>
          <a:ln w="14288">
            <a:solidFill>
              <a:srgbClr val="8A3D09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273758" y="383361"/>
            <a:ext cx="114472" cy="71544"/>
          </a:xfrm>
          <a:custGeom>
            <a:avLst/>
            <a:gdLst/>
            <a:ahLst/>
            <a:cxnLst/>
            <a:rect l="0" t="0" r="r" b="b"/>
            <a:pathLst>
              <a:path w="114472" h="71544">
                <a:moveTo>
                  <a:pt x="86" y="26214"/>
                </a:moveTo>
                <a:lnTo>
                  <a:pt x="86" y="19547"/>
                </a:lnTo>
                <a:lnTo>
                  <a:pt x="86" y="19291"/>
                </a:lnTo>
                <a:lnTo>
                  <a:pt x="104" y="19037"/>
                </a:lnTo>
                <a:quadBezTo>
                  <a:pt x="681" y="10985"/>
                  <a:pt x="6596" y="5493"/>
                </a:quadBezTo>
                <a:quadBezTo>
                  <a:pt x="12511" y="0"/>
                  <a:pt x="20583" y="21"/>
                </a:quadBezTo>
                <a:lnTo>
                  <a:pt x="90097" y="21"/>
                </a:lnTo>
                <a:lnTo>
                  <a:pt x="90286" y="21"/>
                </a:lnTo>
                <a:lnTo>
                  <a:pt x="90473" y="30"/>
                </a:lnTo>
                <a:quadBezTo>
                  <a:pt x="100538" y="561"/>
                  <a:pt x="107469" y="7877"/>
                </a:quadBezTo>
                <a:quadBezTo>
                  <a:pt x="114400" y="15194"/>
                  <a:pt x="114386" y="25272"/>
                </a:quadBezTo>
                <a:lnTo>
                  <a:pt x="114386" y="64314"/>
                </a:lnTo>
                <a:quadBezTo>
                  <a:pt x="114472" y="67309"/>
                  <a:pt x="112294" y="69366"/>
                </a:quadBezTo>
                <a:quadBezTo>
                  <a:pt x="110237" y="71544"/>
                  <a:pt x="107242" y="71458"/>
                </a:quadBezTo>
                <a:quadBezTo>
                  <a:pt x="104248" y="71544"/>
                  <a:pt x="102191" y="69366"/>
                </a:quadBezTo>
                <a:quadBezTo>
                  <a:pt x="100013" y="67309"/>
                  <a:pt x="100099" y="64314"/>
                </a:quadBezTo>
                <a:lnTo>
                  <a:pt x="100099" y="25252"/>
                </a:lnTo>
                <a:quadBezTo>
                  <a:pt x="100105" y="20878"/>
                  <a:pt x="97097" y="17703"/>
                </a:quadBezTo>
                <a:quadBezTo>
                  <a:pt x="94147" y="14589"/>
                  <a:pt x="89888" y="14308"/>
                </a:quadBezTo>
                <a:lnTo>
                  <a:pt x="20547" y="14308"/>
                </a:lnTo>
                <a:quadBezTo>
                  <a:pt x="18106" y="14302"/>
                  <a:pt x="16318" y="15962"/>
                </a:quadBezTo>
                <a:quadBezTo>
                  <a:pt x="14608" y="17551"/>
                  <a:pt x="14374" y="19847"/>
                </a:quadBezTo>
                <a:lnTo>
                  <a:pt x="14374" y="26214"/>
                </a:lnTo>
                <a:quadBezTo>
                  <a:pt x="14460" y="29209"/>
                  <a:pt x="12281" y="31266"/>
                </a:quadBezTo>
                <a:quadBezTo>
                  <a:pt x="10225" y="33444"/>
                  <a:pt x="7230" y="33358"/>
                </a:quadBezTo>
                <a:quadBezTo>
                  <a:pt x="4235" y="33444"/>
                  <a:pt x="2179" y="31266"/>
                </a:quadBezTo>
                <a:quadBezTo>
                  <a:pt x="0" y="29209"/>
                  <a:pt x="86" y="26214"/>
                </a:quadBezTo>
                <a:close/>
              </a:path>
            </a:pathLst>
          </a:custGeom>
          <a:solidFill>
            <a:srgbClr val="8A3D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ath"/>
          <p:cNvSpPr/>
          <p:nvPr/>
        </p:nvSpPr>
        <p:spPr>
          <a:xfrm>
            <a:off x="268995" y="445208"/>
            <a:ext cx="62085" cy="43035"/>
          </a:xfrm>
          <a:custGeom>
            <a:avLst/>
            <a:gdLst/>
            <a:ahLst/>
            <a:cxnLst/>
            <a:rect l="0" t="0" r="r" b="b"/>
            <a:pathLst>
              <a:path w="62085" h="43035">
                <a:moveTo>
                  <a:pt x="7230" y="86"/>
                </a:moveTo>
                <a:lnTo>
                  <a:pt x="54855" y="86"/>
                </a:lnTo>
                <a:quadBezTo>
                  <a:pt x="57850" y="0"/>
                  <a:pt x="59906" y="2179"/>
                </a:quadBezTo>
                <a:quadBezTo>
                  <a:pt x="62085" y="4235"/>
                  <a:pt x="61999" y="7230"/>
                </a:quadBezTo>
                <a:quadBezTo>
                  <a:pt x="62085" y="10225"/>
                  <a:pt x="59906" y="12281"/>
                </a:quadBezTo>
                <a:quadBezTo>
                  <a:pt x="57850" y="14460"/>
                  <a:pt x="54855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28661"/>
                </a:moveTo>
                <a:lnTo>
                  <a:pt x="40567" y="28661"/>
                </a:lnTo>
                <a:quadBezTo>
                  <a:pt x="43562" y="28575"/>
                  <a:pt x="45619" y="30754"/>
                </a:quadBezTo>
                <a:quadBezTo>
                  <a:pt x="47797" y="32810"/>
                  <a:pt x="47711" y="35805"/>
                </a:quadBezTo>
                <a:quadBezTo>
                  <a:pt x="47797" y="38800"/>
                  <a:pt x="45619" y="40856"/>
                </a:quadBezTo>
                <a:quadBezTo>
                  <a:pt x="43562" y="43035"/>
                  <a:pt x="40567" y="42949"/>
                </a:quadBezTo>
                <a:lnTo>
                  <a:pt x="7230" y="42949"/>
                </a:lnTo>
                <a:quadBezTo>
                  <a:pt x="4235" y="43035"/>
                  <a:pt x="2179" y="40856"/>
                </a:quadBezTo>
                <a:quadBezTo>
                  <a:pt x="0" y="38800"/>
                  <a:pt x="86" y="35805"/>
                </a:quadBezTo>
                <a:quadBezTo>
                  <a:pt x="0" y="32810"/>
                  <a:pt x="2179" y="30754"/>
                </a:quadBezTo>
                <a:quadBezTo>
                  <a:pt x="4235" y="28575"/>
                  <a:pt x="7230" y="28661"/>
                </a:quadBezTo>
                <a:close/>
              </a:path>
            </a:pathLst>
          </a:custGeom>
          <a:solidFill>
            <a:srgbClr val="8A3D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485775" y="304800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5E2806"/>
                </a:solidFill>
                <a:latin typeface="Noto Sans SC Bold"/>
                <a:ea typeface="Noto Sans SC Bold"/>
                <a:cs typeface="Noto Sans SC Bold"/>
              </a:rPr>
              <a:t>安全生产知识题库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485775" y="476250"/>
            <a:ext cx="1218057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第 2 卷 · 110 题 · 本地文件</a:t>
            </a:r>
          </a:p>
        </p:txBody>
      </p:sp>
      <p:sp>
        <p:nvSpPr>
          <p:cNvPr id="10" name="Path"/>
          <p:cNvSpPr/>
          <p:nvPr/>
        </p:nvSpPr>
        <p:spPr>
          <a:xfrm>
            <a:off x="246209" y="868175"/>
            <a:ext cx="126708" cy="137188"/>
          </a:xfrm>
          <a:custGeom>
            <a:avLst/>
            <a:gdLst/>
            <a:ahLst/>
            <a:cxnLst/>
            <a:rect l="0" t="0" r="r" b="b"/>
            <a:pathLst>
              <a:path w="126708" h="137188">
                <a:moveTo>
                  <a:pt x="59345" y="1259"/>
                </a:moveTo>
                <a:quadBezTo>
                  <a:pt x="61152" y="0"/>
                  <a:pt x="63354" y="28"/>
                </a:quadBezTo>
                <a:quadBezTo>
                  <a:pt x="65556" y="0"/>
                  <a:pt x="67363" y="1259"/>
                </a:quadBezTo>
                <a:lnTo>
                  <a:pt x="123560" y="39359"/>
                </a:lnTo>
                <a:quadBezTo>
                  <a:pt x="125040" y="40347"/>
                  <a:pt x="125863" y="41926"/>
                </a:quadBezTo>
                <a:quadBezTo>
                  <a:pt x="126708" y="43492"/>
                  <a:pt x="126695" y="45272"/>
                </a:quadBezTo>
                <a:lnTo>
                  <a:pt x="126695" y="118615"/>
                </a:lnTo>
                <a:quadBezTo>
                  <a:pt x="126695" y="126308"/>
                  <a:pt x="121255" y="131748"/>
                </a:quadBezTo>
                <a:quadBezTo>
                  <a:pt x="115815" y="137188"/>
                  <a:pt x="108121" y="137188"/>
                </a:quadBezTo>
                <a:lnTo>
                  <a:pt x="18586" y="137188"/>
                </a:lnTo>
                <a:quadBezTo>
                  <a:pt x="10893" y="137188"/>
                  <a:pt x="5453" y="131748"/>
                </a:quadBezTo>
                <a:quadBezTo>
                  <a:pt x="13" y="126308"/>
                  <a:pt x="13" y="118615"/>
                </a:quadBezTo>
                <a:lnTo>
                  <a:pt x="13" y="45272"/>
                </a:lnTo>
                <a:quadBezTo>
                  <a:pt x="0" y="43492"/>
                  <a:pt x="845" y="41926"/>
                </a:quadBezTo>
                <a:quadBezTo>
                  <a:pt x="1667" y="40347"/>
                  <a:pt x="3148" y="39359"/>
                </a:quadBezTo>
                <a:lnTo>
                  <a:pt x="59345" y="1259"/>
                </a:lnTo>
                <a:close/>
                <a:moveTo>
                  <a:pt x="14300" y="49060"/>
                </a:moveTo>
                <a:lnTo>
                  <a:pt x="14300" y="118615"/>
                </a:lnTo>
                <a:quadBezTo>
                  <a:pt x="14300" y="120390"/>
                  <a:pt x="15556" y="121645"/>
                </a:quadBezTo>
                <a:quadBezTo>
                  <a:pt x="16811" y="122901"/>
                  <a:pt x="18586" y="122901"/>
                </a:quadBezTo>
                <a:lnTo>
                  <a:pt x="108121" y="122901"/>
                </a:lnTo>
                <a:quadBezTo>
                  <a:pt x="109897" y="122901"/>
                  <a:pt x="111152" y="121645"/>
                </a:quadBezTo>
                <a:quadBezTo>
                  <a:pt x="112408" y="120390"/>
                  <a:pt x="112408" y="118615"/>
                </a:quadBezTo>
                <a:lnTo>
                  <a:pt x="112408" y="49060"/>
                </a:lnTo>
                <a:lnTo>
                  <a:pt x="63354" y="15803"/>
                </a:lnTo>
                <a:lnTo>
                  <a:pt x="14300" y="49060"/>
                </a:ln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283283" y="952890"/>
            <a:ext cx="52560" cy="45330"/>
          </a:xfrm>
          <a:custGeom>
            <a:avLst/>
            <a:gdLst/>
            <a:ahLst/>
            <a:cxnLst/>
            <a:rect l="0" t="0" r="r" b="b"/>
            <a:pathLst>
              <a:path w="52560" h="45330">
                <a:moveTo>
                  <a:pt x="86" y="45330"/>
                </a:move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lnTo>
                  <a:pt x="45330" y="86"/>
                </a:lnTo>
                <a:quadBezTo>
                  <a:pt x="48325" y="0"/>
                  <a:pt x="50381" y="2179"/>
                </a:quadBezTo>
                <a:quadBezTo>
                  <a:pt x="52560" y="4235"/>
                  <a:pt x="52474" y="7230"/>
                </a:quadBezTo>
                <a:lnTo>
                  <a:pt x="52474" y="45330"/>
                </a:lnTo>
                <a:lnTo>
                  <a:pt x="38186" y="45330"/>
                </a:lnTo>
                <a:lnTo>
                  <a:pt x="38186" y="14374"/>
                </a:lnTo>
                <a:lnTo>
                  <a:pt x="14374" y="14374"/>
                </a:lnTo>
                <a:lnTo>
                  <a:pt x="14374" y="45330"/>
                </a:lnTo>
                <a:lnTo>
                  <a:pt x="86" y="45330"/>
                </a:ln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485775" y="8477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今日</a:t>
            </a:r>
          </a:p>
        </p:txBody>
      </p:sp>
      <p:sp>
        <p:nvSpPr>
          <p:cNvPr id="13" name="Rectangle"/>
          <p:cNvSpPr/>
          <p:nvPr/>
        </p:nvSpPr>
        <p:spPr>
          <a:xfrm>
            <a:off x="828675" y="8382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876300" y="866775"/>
            <a:ext cx="9232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8A3D09"/>
                </a:solidFill>
                <a:latin typeface="Inter Tight Bold"/>
                <a:ea typeface="Inter Tight Bold"/>
                <a:cs typeface="Inter Tight Bold"/>
              </a:rPr>
              <a:t>12</a:t>
            </a:r>
          </a:p>
        </p:txBody>
      </p:sp>
      <p:sp>
        <p:nvSpPr>
          <p:cNvPr id="15" name="Rectangle"/>
          <p:cNvSpPr/>
          <p:nvPr/>
        </p:nvSpPr>
        <p:spPr>
          <a:xfrm>
            <a:off x="133350" y="1162050"/>
            <a:ext cx="1943100" cy="381000"/>
          </a:xfrm>
          <a:prstGeom prst="roundRect">
            <a:avLst>
              <a:gd name="adj" fmla="val 25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249555" y="1303972"/>
            <a:ext cx="120015" cy="106680"/>
          </a:xfrm>
          <a:prstGeom prst="roundRect">
            <a:avLst>
              <a:gd name="adj" fmla="val 18749"/>
            </a:avLst>
          </a:prstGeom>
          <a:noFill/>
          <a:ln w="14288">
            <a:solidFill>
              <a:srgbClr val="FFFF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277568" y="1315793"/>
            <a:ext cx="69705" cy="52560"/>
          </a:xfrm>
          <a:custGeom>
            <a:avLst/>
            <a:gdLst/>
            <a:ahLst/>
            <a:cxnLst/>
            <a:rect l="0" t="0" r="r" b="b"/>
            <a:pathLst>
              <a:path w="69705" h="52560">
                <a:moveTo>
                  <a:pt x="12281" y="23134"/>
                </a:moveTo>
                <a:lnTo>
                  <a:pt x="24375" y="35227"/>
                </a:lnTo>
                <a:lnTo>
                  <a:pt x="57424" y="2179"/>
                </a:lnTo>
                <a:quadBezTo>
                  <a:pt x="59480" y="0"/>
                  <a:pt x="62475" y="86"/>
                </a:quadBezTo>
                <a:quadBezTo>
                  <a:pt x="65470" y="0"/>
                  <a:pt x="67526" y="2179"/>
                </a:quadBezTo>
                <a:quadBezTo>
                  <a:pt x="69705" y="4235"/>
                  <a:pt x="69619" y="7230"/>
                </a:quadBezTo>
                <a:quadBezTo>
                  <a:pt x="69705" y="10225"/>
                  <a:pt x="67526" y="12281"/>
                </a:quadBezTo>
                <a:lnTo>
                  <a:pt x="29426" y="50381"/>
                </a:lnTo>
                <a:quadBezTo>
                  <a:pt x="27370" y="52560"/>
                  <a:pt x="24375" y="52474"/>
                </a:quadBezTo>
                <a:quadBezTo>
                  <a:pt x="21380" y="52560"/>
                  <a:pt x="19324" y="50381"/>
                </a:quadBezTo>
                <a:lnTo>
                  <a:pt x="2179" y="33236"/>
                </a:lnTo>
                <a:quadBezTo>
                  <a:pt x="0" y="31180"/>
                  <a:pt x="86" y="28185"/>
                </a:quadBezTo>
                <a:quadBezTo>
                  <a:pt x="0" y="25190"/>
                  <a:pt x="2179" y="23134"/>
                </a:quadBezTo>
                <a:quadBezTo>
                  <a:pt x="4235" y="20955"/>
                  <a:pt x="7230" y="21041"/>
                </a:quadBezTo>
                <a:quadBezTo>
                  <a:pt x="10225" y="20955"/>
                  <a:pt x="12281" y="23134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485775" y="12668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练习</a:t>
            </a:r>
          </a:p>
        </p:txBody>
      </p:sp>
      <p:sp>
        <p:nvSpPr>
          <p:cNvPr id="19" name="Path"/>
          <p:cNvSpPr/>
          <p:nvPr/>
        </p:nvSpPr>
        <p:spPr>
          <a:xfrm>
            <a:off x="251850" y="1714976"/>
            <a:ext cx="115339" cy="125425"/>
          </a:xfrm>
          <a:custGeom>
            <a:avLst/>
            <a:gdLst/>
            <a:ahLst/>
            <a:cxnLst/>
            <a:rect l="0" t="0" r="r" b="b"/>
            <a:pathLst>
              <a:path w="115339" h="125425">
                <a:moveTo>
                  <a:pt x="96765" y="0"/>
                </a:moveTo>
                <a:quadBezTo>
                  <a:pt x="104458" y="0"/>
                  <a:pt x="109899" y="5440"/>
                </a:quadBezTo>
                <a:quadBezTo>
                  <a:pt x="115339" y="10880"/>
                  <a:pt x="115339" y="18574"/>
                </a:quadBezTo>
                <a:lnTo>
                  <a:pt x="115339" y="117634"/>
                </a:lnTo>
                <a:quadBezTo>
                  <a:pt x="115339" y="118506"/>
                  <a:pt x="115129" y="119353"/>
                </a:quadBezTo>
                <a:quadBezTo>
                  <a:pt x="114920" y="120200"/>
                  <a:pt x="114511" y="120971"/>
                </a:quadBezTo>
                <a:quadBezTo>
                  <a:pt x="113189" y="123659"/>
                  <a:pt x="110302" y="124460"/>
                </a:quadBezTo>
                <a:quadBezTo>
                  <a:pt x="107466" y="125425"/>
                  <a:pt x="104858" y="123950"/>
                </a:quadBezTo>
                <a:lnTo>
                  <a:pt x="57712" y="99043"/>
                </a:lnTo>
                <a:lnTo>
                  <a:pt x="10567" y="123950"/>
                </a:lnTo>
                <a:quadBezTo>
                  <a:pt x="9796" y="124358"/>
                  <a:pt x="8949" y="124568"/>
                </a:quadBezTo>
                <a:quadBezTo>
                  <a:pt x="8102" y="124778"/>
                  <a:pt x="7230" y="124777"/>
                </a:quadBezTo>
                <a:quadBezTo>
                  <a:pt x="4235" y="124864"/>
                  <a:pt x="2179" y="122685"/>
                </a:quadBezTo>
                <a:quadBezTo>
                  <a:pt x="0" y="120628"/>
                  <a:pt x="86" y="117634"/>
                </a:quadBezTo>
                <a:lnTo>
                  <a:pt x="86" y="18574"/>
                </a:lnTo>
                <a:quadBezTo>
                  <a:pt x="86" y="10880"/>
                  <a:pt x="5526" y="5440"/>
                </a:quadBezTo>
                <a:quadBezTo>
                  <a:pt x="10966" y="0"/>
                  <a:pt x="18660" y="0"/>
                </a:quadBezTo>
                <a:lnTo>
                  <a:pt x="96765" y="0"/>
                </a:lnTo>
                <a:close/>
                <a:moveTo>
                  <a:pt x="96765" y="14288"/>
                </a:moveTo>
                <a:lnTo>
                  <a:pt x="18660" y="14288"/>
                </a:lnTo>
                <a:quadBezTo>
                  <a:pt x="16885" y="14288"/>
                  <a:pt x="15629" y="15543"/>
                </a:quadBezTo>
                <a:quadBezTo>
                  <a:pt x="14374" y="16798"/>
                  <a:pt x="14374" y="18574"/>
                </a:quadBezTo>
                <a:lnTo>
                  <a:pt x="14374" y="105780"/>
                </a:lnTo>
                <a:lnTo>
                  <a:pt x="54375" y="84647"/>
                </a:lnTo>
                <a:quadBezTo>
                  <a:pt x="55938" y="83807"/>
                  <a:pt x="57712" y="83820"/>
                </a:quadBezTo>
                <a:quadBezTo>
                  <a:pt x="59487" y="83807"/>
                  <a:pt x="61049" y="84647"/>
                </a:quadBezTo>
                <a:lnTo>
                  <a:pt x="101051" y="105780"/>
                </a:lnTo>
                <a:lnTo>
                  <a:pt x="101051" y="18574"/>
                </a:lnTo>
                <a:quadBezTo>
                  <a:pt x="101051" y="16798"/>
                  <a:pt x="99796" y="15543"/>
                </a:quadBezTo>
                <a:quadBezTo>
                  <a:pt x="98540" y="14288"/>
                  <a:pt x="96765" y="14288"/>
                </a:quadBez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485775" y="168592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错题本</a:t>
            </a:r>
          </a:p>
        </p:txBody>
      </p:sp>
      <p:sp>
        <p:nvSpPr>
          <p:cNvPr id="21" name="Rectangle"/>
          <p:cNvSpPr/>
          <p:nvPr/>
        </p:nvSpPr>
        <p:spPr>
          <a:xfrm>
            <a:off x="952500" y="1676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CEB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990600" y="1704975"/>
            <a:ext cx="11417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A3221C"/>
                </a:solidFill>
                <a:latin typeface="Inter Tight Bold"/>
                <a:ea typeface="Inter Tight Bold"/>
                <a:cs typeface="Inter Tight Bold"/>
              </a:rPr>
              <a:t>23</a:t>
            </a:r>
          </a:p>
        </p:txBody>
      </p:sp>
      <p:sp>
        <p:nvSpPr>
          <p:cNvPr id="23" name="Path"/>
          <p:cNvSpPr/>
          <p:nvPr/>
        </p:nvSpPr>
        <p:spPr>
          <a:xfrm>
            <a:off x="248126" y="2135981"/>
            <a:ext cx="63904" cy="116291"/>
          </a:xfrm>
          <a:custGeom>
            <a:avLst/>
            <a:gdLst/>
            <a:ahLst/>
            <a:cxnLst/>
            <a:rect l="0" t="0" r="r" b="b"/>
            <a:pathLst>
              <a:path w="63904" h="116291">
                <a:moveTo>
                  <a:pt x="19526" y="0"/>
                </a:moveTo>
                <a:lnTo>
                  <a:pt x="44291" y="0"/>
                </a:lnTo>
                <a:quadBezTo>
                  <a:pt x="52965" y="0"/>
                  <a:pt x="58391" y="5426"/>
                </a:quadBezTo>
                <a:quadBezTo>
                  <a:pt x="63817" y="10852"/>
                  <a:pt x="63817" y="19526"/>
                </a:quadBezTo>
                <a:lnTo>
                  <a:pt x="63817" y="109061"/>
                </a:lnTo>
                <a:quadBezTo>
                  <a:pt x="63904" y="112056"/>
                  <a:pt x="61725" y="114113"/>
                </a:quadBezTo>
                <a:quadBezTo>
                  <a:pt x="59668" y="116291"/>
                  <a:pt x="56674" y="116205"/>
                </a:quadBezTo>
                <a:quadBezTo>
                  <a:pt x="53679" y="116291"/>
                  <a:pt x="51622" y="114113"/>
                </a:quadBezTo>
                <a:quadBezTo>
                  <a:pt x="49444" y="112056"/>
                  <a:pt x="49530" y="109061"/>
                </a:quadBezTo>
                <a:quadBezTo>
                  <a:pt x="49530" y="106680"/>
                  <a:pt x="47149" y="106680"/>
                </a:quadBezTo>
                <a:lnTo>
                  <a:pt x="19526" y="106680"/>
                </a:lnTo>
                <a:quadBezTo>
                  <a:pt x="11507" y="106680"/>
                  <a:pt x="5922" y="101389"/>
                </a:quadBezTo>
                <a:quadBezTo>
                  <a:pt x="0" y="95779"/>
                  <a:pt x="0" y="87154"/>
                </a:quadBezTo>
                <a:lnTo>
                  <a:pt x="0" y="19526"/>
                </a:lnTo>
                <a:quadBezTo>
                  <a:pt x="0" y="10901"/>
                  <a:pt x="5922" y="5291"/>
                </a:quadBezTo>
                <a:quadBezTo>
                  <a:pt x="11507" y="0"/>
                  <a:pt x="19526" y="0"/>
                </a:quadBezTo>
                <a:close/>
                <a:moveTo>
                  <a:pt x="49530" y="19526"/>
                </a:moveTo>
                <a:quadBezTo>
                  <a:pt x="49530" y="14288"/>
                  <a:pt x="44291" y="14288"/>
                </a:quadBezTo>
                <a:lnTo>
                  <a:pt x="19526" y="14288"/>
                </a:lnTo>
                <a:quadBezTo>
                  <a:pt x="14288" y="14288"/>
                  <a:pt x="14288" y="19526"/>
                </a:quadBezTo>
                <a:lnTo>
                  <a:pt x="14288" y="87154"/>
                </a:lnTo>
                <a:quadBezTo>
                  <a:pt x="14288" y="92392"/>
                  <a:pt x="19526" y="92392"/>
                </a:quadBezTo>
                <a:lnTo>
                  <a:pt x="47149" y="92392"/>
                </a:lnTo>
                <a:quadBezTo>
                  <a:pt x="48369" y="92392"/>
                  <a:pt x="49530" y="92550"/>
                </a:quadBezTo>
                <a:lnTo>
                  <a:pt x="49530" y="19526"/>
                </a:ln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307095" y="2135981"/>
            <a:ext cx="63904" cy="116291"/>
          </a:xfrm>
          <a:custGeom>
            <a:avLst/>
            <a:gdLst/>
            <a:ahLst/>
            <a:cxnLst/>
            <a:rect l="0" t="0" r="r" b="b"/>
            <a:pathLst>
              <a:path w="63904" h="116291">
                <a:moveTo>
                  <a:pt x="44377" y="0"/>
                </a:moveTo>
                <a:quadBezTo>
                  <a:pt x="52397" y="0"/>
                  <a:pt x="57982" y="5291"/>
                </a:quadBezTo>
                <a:quadBezTo>
                  <a:pt x="63904" y="10901"/>
                  <a:pt x="63904" y="19526"/>
                </a:quadBezTo>
                <a:lnTo>
                  <a:pt x="63904" y="87154"/>
                </a:lnTo>
                <a:quadBezTo>
                  <a:pt x="63904" y="95779"/>
                  <a:pt x="57982" y="101389"/>
                </a:quadBezTo>
                <a:quadBezTo>
                  <a:pt x="52397" y="106680"/>
                  <a:pt x="44377" y="106680"/>
                </a:quadBezTo>
                <a:lnTo>
                  <a:pt x="16755" y="106680"/>
                </a:lnTo>
                <a:quadBezTo>
                  <a:pt x="15829" y="106680"/>
                  <a:pt x="15081" y="107378"/>
                </a:quadBezTo>
                <a:quadBezTo>
                  <a:pt x="14374" y="108038"/>
                  <a:pt x="14374" y="109061"/>
                </a:quadBezTo>
                <a:quadBezTo>
                  <a:pt x="14460" y="112056"/>
                  <a:pt x="12281" y="114113"/>
                </a:quadBezTo>
                <a:quadBezTo>
                  <a:pt x="10225" y="116291"/>
                  <a:pt x="7230" y="116205"/>
                </a:quadBezTo>
                <a:quadBezTo>
                  <a:pt x="4235" y="116291"/>
                  <a:pt x="2179" y="114113"/>
                </a:quadBezTo>
                <a:quadBezTo>
                  <a:pt x="0" y="112056"/>
                  <a:pt x="86" y="109061"/>
                </a:quadBezTo>
                <a:lnTo>
                  <a:pt x="86" y="19526"/>
                </a:lnTo>
                <a:quadBezTo>
                  <a:pt x="86" y="10852"/>
                  <a:pt x="5512" y="5426"/>
                </a:quadBezTo>
                <a:quadBezTo>
                  <a:pt x="10938" y="0"/>
                  <a:pt x="19612" y="0"/>
                </a:quadBezTo>
                <a:lnTo>
                  <a:pt x="44377" y="0"/>
                </a:lnTo>
                <a:close/>
                <a:moveTo>
                  <a:pt x="16755" y="92392"/>
                </a:moveTo>
                <a:lnTo>
                  <a:pt x="44377" y="92392"/>
                </a:lnTo>
                <a:quadBezTo>
                  <a:pt x="49616" y="92392"/>
                  <a:pt x="49616" y="87154"/>
                </a:quadBezTo>
                <a:lnTo>
                  <a:pt x="49616" y="19526"/>
                </a:lnTo>
                <a:quadBezTo>
                  <a:pt x="49616" y="14288"/>
                  <a:pt x="44377" y="14288"/>
                </a:quadBezTo>
                <a:lnTo>
                  <a:pt x="19612" y="14288"/>
                </a:lnTo>
                <a:quadBezTo>
                  <a:pt x="14374" y="14288"/>
                  <a:pt x="14374" y="19526"/>
                </a:quadBezTo>
                <a:lnTo>
                  <a:pt x="14374" y="92550"/>
                </a:lnTo>
                <a:quadBezTo>
                  <a:pt x="15535" y="92392"/>
                  <a:pt x="16755" y="92392"/>
                </a:quadBez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485775" y="21050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题库</a:t>
            </a:r>
          </a:p>
        </p:txBody>
      </p:sp>
      <p:sp>
        <p:nvSpPr>
          <p:cNvPr id="26" name="Rectangle"/>
          <p:cNvSpPr/>
          <p:nvPr/>
        </p:nvSpPr>
        <p:spPr>
          <a:xfrm>
            <a:off x="133350" y="7467600"/>
            <a:ext cx="1943100" cy="933450"/>
          </a:xfrm>
          <a:prstGeom prst="roundRect">
            <a:avLst>
              <a:gd name="adj" fmla="val 10204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247650" y="75819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57504A"/>
                </a:solidFill>
                <a:latin typeface="Noto Sans SC Bold"/>
                <a:ea typeface="Noto Sans SC Bold"/>
                <a:cs typeface="Noto Sans SC Bold"/>
              </a:rPr>
              <a:t>快捷键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247650" y="77724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看答案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771650" y="77724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57504A"/>
                </a:solidFill>
                <a:latin typeface="Inter Tight"/>
                <a:ea typeface="Inter Tight"/>
                <a:cs typeface="Inter Tight"/>
              </a:rPr>
              <a:t>空格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247650" y="7962900"/>
            <a:ext cx="55626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提交 / 下一题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733550" y="7962900"/>
            <a:ext cx="221614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57504A"/>
                </a:solidFill>
                <a:latin typeface="Inter Tight"/>
                <a:ea typeface="Inter Tight"/>
                <a:cs typeface="Inter Tight"/>
              </a:rPr>
              <a:t>Enter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247650" y="81534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上一题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866900" y="8153400"/>
            <a:ext cx="8687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57504A"/>
                </a:solidFill>
                <a:latin typeface="Inter Tight"/>
                <a:ea typeface="Inter Tight"/>
                <a:cs typeface="Inter Tight"/>
              </a:rPr>
              <a:t>←</a:t>
            </a:r>
          </a:p>
        </p:txBody>
      </p:sp>
      <p:sp>
        <p:nvSpPr>
          <p:cNvPr id="34" name="Rectangle"/>
          <p:cNvSpPr/>
          <p:nvPr/>
        </p:nvSpPr>
        <p:spPr>
          <a:xfrm>
            <a:off x="4763" y="4763"/>
            <a:ext cx="2200275" cy="85629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2590800" y="104775"/>
            <a:ext cx="126315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11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多选题 · 单选/多选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2590800" y="323850"/>
            <a:ext cx="25000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第 7 / 20 题 · 今日到期 · 已用 3 分 12 秒 · 已答 2 项</a:t>
            </a:r>
          </a:p>
        </p:txBody>
      </p:sp>
      <p:sp>
        <p:nvSpPr>
          <p:cNvPr id="37" name="Rectangle"/>
          <p:cNvSpPr/>
          <p:nvPr/>
        </p:nvSpPr>
        <p:spPr>
          <a:xfrm>
            <a:off x="11172825" y="152400"/>
            <a:ext cx="1095375" cy="2667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1277600" y="219075"/>
            <a:ext cx="88534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学习中 · 今日到期</a:t>
            </a:r>
          </a:p>
        </p:txBody>
      </p:sp>
      <p:sp>
        <p:nvSpPr>
          <p:cNvPr id="39" name="Rectangle"/>
          <p:cNvSpPr/>
          <p:nvPr/>
        </p:nvSpPr>
        <p:spPr>
          <a:xfrm>
            <a:off x="12344400" y="114300"/>
            <a:ext cx="9906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12520613" y="242888"/>
            <a:ext cx="24765" cy="85725"/>
          </a:xfrm>
          <a:prstGeom prst="roundRect">
            <a:avLst>
              <a:gd name="adj" fmla="val 38461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12562523" y="242888"/>
            <a:ext cx="24765" cy="85725"/>
          </a:xfrm>
          <a:prstGeom prst="roundRect">
            <a:avLst>
              <a:gd name="adj" fmla="val 38461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12677775" y="2000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暂停退出</a:t>
            </a:r>
          </a:p>
        </p:txBody>
      </p:sp>
      <p:sp>
        <p:nvSpPr>
          <p:cNvPr id="43" name="Rectangle"/>
          <p:cNvSpPr/>
          <p:nvPr/>
        </p:nvSpPr>
        <p:spPr>
          <a:xfrm>
            <a:off x="12349163" y="119063"/>
            <a:ext cx="981075" cy="3333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2214563" y="4763"/>
            <a:ext cx="11496675" cy="5619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2209800" y="571500"/>
            <a:ext cx="11506200" cy="38100"/>
          </a:xfrm>
          <a:prstGeom prst="rect">
            <a:avLst/>
          </a:prstGeom>
          <a:solidFill>
            <a:srgbClr val="EAE3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2209800" y="571500"/>
            <a:ext cx="4029075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2209800" y="609600"/>
            <a:ext cx="4572000" cy="7962900"/>
          </a:xfrm>
          <a:prstGeom prst="rect">
            <a:avLst/>
          </a:prstGeom>
          <a:solidFill>
            <a:srgbClr val="FDF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"/>
          <p:cNvSpPr/>
          <p:nvPr/>
        </p:nvSpPr>
        <p:spPr>
          <a:xfrm>
            <a:off x="2590800" y="8763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2714625" y="933450"/>
            <a:ext cx="60168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第 42 / 110 题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2590800" y="1276350"/>
            <a:ext cx="3724275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775"/>
              </a:lnSpc>
            </a:pPr>
            <a:r>
              <a:rPr lang="zh-CN" sz="17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生产经营单位应当采取的技术措施包括下列哪些？</a:t>
            </a:r>
          </a:p>
        </p:txBody>
      </p:sp>
      <p:sp>
        <p:nvSpPr>
          <p:cNvPr id="51" name="Rectangle"/>
          <p:cNvSpPr/>
          <p:nvPr/>
        </p:nvSpPr>
        <p:spPr>
          <a:xfrm>
            <a:off x="2590800" y="2133600"/>
            <a:ext cx="3848100" cy="628650"/>
          </a:xfrm>
          <a:prstGeom prst="roundRect">
            <a:avLst>
              <a:gd name="adj" fmla="val 15151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"/>
          <p:cNvSpPr txBox="1"/>
          <p:nvPr/>
        </p:nvSpPr>
        <p:spPr>
          <a:xfrm>
            <a:off x="2714625" y="2257425"/>
            <a:ext cx="210883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多选题 · 漏选、多选、错选均算整题错误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2714625" y="2476500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无部分给分，判分口径唯一</a:t>
            </a:r>
          </a:p>
        </p:txBody>
      </p:sp>
      <p:sp>
        <p:nvSpPr>
          <p:cNvPr id="54" name="Rectangle"/>
          <p:cNvSpPr/>
          <p:nvPr/>
        </p:nvSpPr>
        <p:spPr>
          <a:xfrm>
            <a:off x="2590800" y="2914650"/>
            <a:ext cx="38481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2733675" y="3057525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这道题的历史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2733675" y="332422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学过次数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6096000" y="3324225"/>
            <a:ext cx="1912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3 次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2733675" y="35718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上次结果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5514975" y="3571875"/>
            <a:ext cx="7807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C22E27"/>
                </a:solidFill>
                <a:latin typeface="Noto Sans SC Bold"/>
                <a:ea typeface="Noto Sans SC Bold"/>
                <a:cs typeface="Noto Sans SC Bold"/>
              </a:rPr>
              <a:t>答错 · 明日期满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2733675" y="381952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当前连对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6096000" y="3819525"/>
            <a:ext cx="1928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0 次</a:t>
            </a:r>
          </a:p>
        </p:txBody>
      </p:sp>
      <p:sp>
        <p:nvSpPr>
          <p:cNvPr id="62" name="TextBox"/>
          <p:cNvSpPr txBox="1"/>
          <p:nvPr/>
        </p:nvSpPr>
        <p:spPr>
          <a:xfrm>
            <a:off x="2733675" y="40671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错题记录</a:t>
            </a:r>
          </a:p>
        </p:txBody>
      </p:sp>
      <p:sp>
        <p:nvSpPr>
          <p:cNvPr id="63" name="TextBox"/>
          <p:cNvSpPr txBox="1"/>
          <p:nvPr/>
        </p:nvSpPr>
        <p:spPr>
          <a:xfrm>
            <a:off x="5505450" y="4067175"/>
            <a:ext cx="784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C22E27"/>
                </a:solidFill>
                <a:latin typeface="Noto Sans SC Bold"/>
                <a:ea typeface="Noto Sans SC Bold"/>
                <a:cs typeface="Noto Sans SC Bold"/>
              </a:rPr>
              <a:t>出错 2 次 · 新错</a:t>
            </a:r>
          </a:p>
        </p:txBody>
      </p:sp>
      <p:sp>
        <p:nvSpPr>
          <p:cNvPr id="64" name="Rectangle"/>
          <p:cNvSpPr/>
          <p:nvPr/>
        </p:nvSpPr>
        <p:spPr>
          <a:xfrm>
            <a:off x="2595563" y="2919413"/>
            <a:ext cx="3838575" cy="1438275"/>
          </a:xfrm>
          <a:prstGeom prst="roundRect">
            <a:avLst>
              <a:gd name="adj" fmla="val 7615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"/>
          <p:cNvSpPr/>
          <p:nvPr/>
        </p:nvSpPr>
        <p:spPr>
          <a:xfrm>
            <a:off x="2214563" y="614363"/>
            <a:ext cx="4562475" cy="795337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"/>
          <p:cNvSpPr/>
          <p:nvPr/>
        </p:nvSpPr>
        <p:spPr>
          <a:xfrm>
            <a:off x="7086600" y="876300"/>
            <a:ext cx="6324600" cy="514350"/>
          </a:xfrm>
          <a:prstGeom prst="roundRect">
            <a:avLst>
              <a:gd name="adj" fmla="val 22222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"/>
          <p:cNvSpPr/>
          <p:nvPr/>
        </p:nvSpPr>
        <p:spPr>
          <a:xfrm>
            <a:off x="7229475" y="101917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Path"/>
          <p:cNvSpPr/>
          <p:nvPr/>
        </p:nvSpPr>
        <p:spPr>
          <a:xfrm>
            <a:off x="7285064" y="1084226"/>
            <a:ext cx="122248" cy="90815"/>
          </a:xfrm>
          <a:custGeom>
            <a:avLst/>
            <a:gdLst/>
            <a:ahLst/>
            <a:cxnLst/>
            <a:rect l="0" t="0" r="r" b="b"/>
            <a:pathLst>
              <a:path w="122248" h="90815">
                <a:moveTo>
                  <a:pt x="18831" y="38647"/>
                </a:moveTo>
                <a:lnTo>
                  <a:pt x="44314" y="64129"/>
                </a:lnTo>
                <a:lnTo>
                  <a:pt x="103245" y="3514"/>
                </a:lnTo>
                <a:quadBezTo>
                  <a:pt x="106351" y="129"/>
                  <a:pt x="110944" y="197"/>
                </a:quadBezTo>
                <a:quadBezTo>
                  <a:pt x="115534" y="0"/>
                  <a:pt x="118734" y="3296"/>
                </a:quadBezTo>
                <a:quadBezTo>
                  <a:pt x="122119" y="6402"/>
                  <a:pt x="122051" y="10995"/>
                </a:quadBezTo>
                <a:quadBezTo>
                  <a:pt x="122248" y="15585"/>
                  <a:pt x="118952" y="18785"/>
                </a:quadBezTo>
                <a:lnTo>
                  <a:pt x="52277" y="87365"/>
                </a:lnTo>
                <a:quadBezTo>
                  <a:pt x="52250" y="87393"/>
                  <a:pt x="52223" y="87420"/>
                </a:quadBezTo>
                <a:quadBezTo>
                  <a:pt x="52196" y="87448"/>
                  <a:pt x="52169" y="87475"/>
                </a:quadBezTo>
                <a:quadBezTo>
                  <a:pt x="49015" y="90815"/>
                  <a:pt x="44423" y="90683"/>
                </a:quadBezTo>
                <a:quadBezTo>
                  <a:pt x="39831" y="90815"/>
                  <a:pt x="36678" y="87475"/>
                </a:quadBezTo>
                <a:lnTo>
                  <a:pt x="3340" y="54137"/>
                </a:lnTo>
                <a:quadBezTo>
                  <a:pt x="0" y="50984"/>
                  <a:pt x="132" y="46392"/>
                </a:quadBezTo>
                <a:quadBezTo>
                  <a:pt x="0" y="41800"/>
                  <a:pt x="3340" y="38647"/>
                </a:quadBezTo>
                <a:quadBezTo>
                  <a:pt x="6494" y="35306"/>
                  <a:pt x="11086" y="35438"/>
                </a:quadBezTo>
                <a:quadBezTo>
                  <a:pt x="15678" y="35306"/>
                  <a:pt x="18831" y="3864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"/>
          <p:cNvSpPr txBox="1"/>
          <p:nvPr/>
        </p:nvSpPr>
        <p:spPr>
          <a:xfrm>
            <a:off x="7572375" y="1019175"/>
            <a:ext cx="28732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A. 对生产设备、设施进行定期检查和维护保养</a:t>
            </a:r>
          </a:p>
        </p:txBody>
      </p:sp>
      <p:sp>
        <p:nvSpPr>
          <p:cNvPr id="70" name="Rectangle"/>
          <p:cNvSpPr/>
          <p:nvPr/>
        </p:nvSpPr>
        <p:spPr>
          <a:xfrm>
            <a:off x="13049250" y="1028700"/>
            <a:ext cx="219075" cy="20955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"/>
          <p:cNvSpPr txBox="1"/>
          <p:nvPr/>
        </p:nvSpPr>
        <p:spPr>
          <a:xfrm>
            <a:off x="13125450" y="1066800"/>
            <a:ext cx="6534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8A827B"/>
                </a:solidFill>
                <a:latin typeface="Inter Tight Bold"/>
                <a:ea typeface="Inter Tight Bold"/>
                <a:cs typeface="Inter Tight Bold"/>
              </a:rPr>
              <a:t>A</a:t>
            </a:r>
          </a:p>
        </p:txBody>
      </p:sp>
      <p:sp>
        <p:nvSpPr>
          <p:cNvPr id="72" name="Rectangle"/>
          <p:cNvSpPr/>
          <p:nvPr/>
        </p:nvSpPr>
        <p:spPr>
          <a:xfrm>
            <a:off x="13054013" y="1033463"/>
            <a:ext cx="209550" cy="200025"/>
          </a:xfrm>
          <a:prstGeom prst="roundRect">
            <a:avLst>
              <a:gd name="adj" fmla="val 26190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"/>
          <p:cNvSpPr/>
          <p:nvPr/>
        </p:nvSpPr>
        <p:spPr>
          <a:xfrm>
            <a:off x="7093744" y="883444"/>
            <a:ext cx="6310313" cy="500063"/>
          </a:xfrm>
          <a:prstGeom prst="roundRect">
            <a:avLst>
              <a:gd name="adj" fmla="val 21428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"/>
          <p:cNvSpPr/>
          <p:nvPr/>
        </p:nvSpPr>
        <p:spPr>
          <a:xfrm>
            <a:off x="7086600" y="1485900"/>
            <a:ext cx="6324600" cy="514350"/>
          </a:xfrm>
          <a:prstGeom prst="roundRect">
            <a:avLst>
              <a:gd name="adj" fmla="val 22222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"/>
          <p:cNvSpPr/>
          <p:nvPr/>
        </p:nvSpPr>
        <p:spPr>
          <a:xfrm>
            <a:off x="7229475" y="162877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Path"/>
          <p:cNvSpPr/>
          <p:nvPr/>
        </p:nvSpPr>
        <p:spPr>
          <a:xfrm>
            <a:off x="7285064" y="1693826"/>
            <a:ext cx="122248" cy="90815"/>
          </a:xfrm>
          <a:custGeom>
            <a:avLst/>
            <a:gdLst/>
            <a:ahLst/>
            <a:cxnLst/>
            <a:rect l="0" t="0" r="r" b="b"/>
            <a:pathLst>
              <a:path w="122248" h="90815">
                <a:moveTo>
                  <a:pt x="18831" y="38647"/>
                </a:moveTo>
                <a:lnTo>
                  <a:pt x="44314" y="64129"/>
                </a:lnTo>
                <a:lnTo>
                  <a:pt x="103245" y="3514"/>
                </a:lnTo>
                <a:quadBezTo>
                  <a:pt x="106351" y="129"/>
                  <a:pt x="110944" y="197"/>
                </a:quadBezTo>
                <a:quadBezTo>
                  <a:pt x="115534" y="0"/>
                  <a:pt x="118734" y="3296"/>
                </a:quadBezTo>
                <a:quadBezTo>
                  <a:pt x="122119" y="6402"/>
                  <a:pt x="122051" y="10995"/>
                </a:quadBezTo>
                <a:quadBezTo>
                  <a:pt x="122248" y="15585"/>
                  <a:pt x="118952" y="18785"/>
                </a:quadBezTo>
                <a:lnTo>
                  <a:pt x="52277" y="87365"/>
                </a:lnTo>
                <a:quadBezTo>
                  <a:pt x="52250" y="87393"/>
                  <a:pt x="52223" y="87420"/>
                </a:quadBezTo>
                <a:quadBezTo>
                  <a:pt x="52196" y="87448"/>
                  <a:pt x="52169" y="87475"/>
                </a:quadBezTo>
                <a:quadBezTo>
                  <a:pt x="49015" y="90815"/>
                  <a:pt x="44423" y="90683"/>
                </a:quadBezTo>
                <a:quadBezTo>
                  <a:pt x="39831" y="90815"/>
                  <a:pt x="36678" y="87475"/>
                </a:quadBezTo>
                <a:lnTo>
                  <a:pt x="3340" y="54137"/>
                </a:lnTo>
                <a:quadBezTo>
                  <a:pt x="0" y="50984"/>
                  <a:pt x="132" y="46392"/>
                </a:quadBezTo>
                <a:quadBezTo>
                  <a:pt x="0" y="41800"/>
                  <a:pt x="3340" y="38647"/>
                </a:quadBezTo>
                <a:quadBezTo>
                  <a:pt x="6494" y="35306"/>
                  <a:pt x="11086" y="35438"/>
                </a:quadBezTo>
                <a:quadBezTo>
                  <a:pt x="15678" y="35306"/>
                  <a:pt x="18831" y="3864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7572375" y="1628775"/>
            <a:ext cx="33088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B. 组织员工进行安全生产教育和培训，建立培训档案</a:t>
            </a:r>
          </a:p>
        </p:txBody>
      </p:sp>
      <p:sp>
        <p:nvSpPr>
          <p:cNvPr id="78" name="Rectangle"/>
          <p:cNvSpPr/>
          <p:nvPr/>
        </p:nvSpPr>
        <p:spPr>
          <a:xfrm>
            <a:off x="13049250" y="1638300"/>
            <a:ext cx="219075" cy="20955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"/>
          <p:cNvSpPr txBox="1"/>
          <p:nvPr/>
        </p:nvSpPr>
        <p:spPr>
          <a:xfrm>
            <a:off x="13125450" y="1676400"/>
            <a:ext cx="59066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750">
                <a:solidFill>
                  <a:srgbClr val="8A827B"/>
                </a:solidFill>
                <a:latin typeface="Inter Tight Bold"/>
                <a:ea typeface="Inter Tight Bold"/>
                <a:cs typeface="Inter Tight Bold"/>
              </a:rPr>
              <a:t>B</a:t>
            </a:r>
          </a:p>
        </p:txBody>
      </p:sp>
      <p:sp>
        <p:nvSpPr>
          <p:cNvPr id="80" name="Rectangle"/>
          <p:cNvSpPr/>
          <p:nvPr/>
        </p:nvSpPr>
        <p:spPr>
          <a:xfrm>
            <a:off x="13054013" y="1643063"/>
            <a:ext cx="209550" cy="200025"/>
          </a:xfrm>
          <a:prstGeom prst="roundRect">
            <a:avLst>
              <a:gd name="adj" fmla="val 26190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"/>
          <p:cNvSpPr/>
          <p:nvPr/>
        </p:nvSpPr>
        <p:spPr>
          <a:xfrm>
            <a:off x="7093744" y="1493044"/>
            <a:ext cx="6310313" cy="500063"/>
          </a:xfrm>
          <a:prstGeom prst="roundRect">
            <a:avLst>
              <a:gd name="adj" fmla="val 21428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"/>
          <p:cNvSpPr/>
          <p:nvPr/>
        </p:nvSpPr>
        <p:spPr>
          <a:xfrm>
            <a:off x="7086600" y="2095500"/>
            <a:ext cx="6324600" cy="514350"/>
          </a:xfrm>
          <a:prstGeom prst="roundRect">
            <a:avLst>
              <a:gd name="adj" fmla="val 22222"/>
            </a:avLst>
          </a:prstGeom>
          <a:solidFill>
            <a:srgbClr val="FDF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"/>
          <p:cNvSpPr/>
          <p:nvPr/>
        </p:nvSpPr>
        <p:spPr>
          <a:xfrm>
            <a:off x="7229475" y="223837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"/>
          <p:cNvSpPr/>
          <p:nvPr/>
        </p:nvSpPr>
        <p:spPr>
          <a:xfrm>
            <a:off x="7238524" y="2247424"/>
            <a:ext cx="210503" cy="210503"/>
          </a:xfrm>
          <a:prstGeom prst="roundRect">
            <a:avLst>
              <a:gd name="adj" fmla="val 27375"/>
            </a:avLst>
          </a:prstGeom>
          <a:noFill/>
          <a:ln w="18097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"/>
          <p:cNvSpPr txBox="1"/>
          <p:nvPr/>
        </p:nvSpPr>
        <p:spPr>
          <a:xfrm>
            <a:off x="7572375" y="2238375"/>
            <a:ext cx="35918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C. 在有明显职业病危害因素超标的工作场所组织应急演练</a:t>
            </a:r>
          </a:p>
        </p:txBody>
      </p:sp>
      <p:sp>
        <p:nvSpPr>
          <p:cNvPr id="86" name="Rectangle"/>
          <p:cNvSpPr/>
          <p:nvPr/>
        </p:nvSpPr>
        <p:spPr>
          <a:xfrm>
            <a:off x="12649200" y="2247900"/>
            <a:ext cx="619125" cy="209550"/>
          </a:xfrm>
          <a:prstGeom prst="roundRect">
            <a:avLst>
              <a:gd name="adj" fmla="val 27272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"/>
          <p:cNvSpPr txBox="1"/>
          <p:nvPr/>
        </p:nvSpPr>
        <p:spPr>
          <a:xfrm>
            <a:off x="12725400" y="2286000"/>
            <a:ext cx="46396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点击或按 C</a:t>
            </a:r>
          </a:p>
        </p:txBody>
      </p:sp>
      <p:sp>
        <p:nvSpPr>
          <p:cNvPr id="88" name="Rectangle"/>
          <p:cNvSpPr/>
          <p:nvPr/>
        </p:nvSpPr>
        <p:spPr>
          <a:xfrm>
            <a:off x="7093744" y="2102644"/>
            <a:ext cx="6310313" cy="500063"/>
          </a:xfrm>
          <a:prstGeom prst="roundRect">
            <a:avLst>
              <a:gd name="adj" fmla="val 21428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"/>
          <p:cNvSpPr/>
          <p:nvPr/>
        </p:nvSpPr>
        <p:spPr>
          <a:xfrm>
            <a:off x="7086600" y="2705100"/>
            <a:ext cx="63246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"/>
          <p:cNvSpPr/>
          <p:nvPr/>
        </p:nvSpPr>
        <p:spPr>
          <a:xfrm>
            <a:off x="7229475" y="2847975"/>
            <a:ext cx="228600" cy="228600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"/>
          <p:cNvSpPr/>
          <p:nvPr/>
        </p:nvSpPr>
        <p:spPr>
          <a:xfrm>
            <a:off x="7237571" y="2856071"/>
            <a:ext cx="212407" cy="212407"/>
          </a:xfrm>
          <a:prstGeom prst="roundRect">
            <a:avLst>
              <a:gd name="adj" fmla="val 27578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"/>
          <p:cNvSpPr txBox="1"/>
          <p:nvPr/>
        </p:nvSpPr>
        <p:spPr>
          <a:xfrm>
            <a:off x="7572375" y="2847975"/>
            <a:ext cx="40276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D. 依法履行安全生产管理职责，对所负责安全生产工作进行检查</a:t>
            </a:r>
          </a:p>
        </p:txBody>
      </p:sp>
      <p:sp>
        <p:nvSpPr>
          <p:cNvPr id="93" name="Rectangle"/>
          <p:cNvSpPr/>
          <p:nvPr/>
        </p:nvSpPr>
        <p:spPr>
          <a:xfrm>
            <a:off x="7093744" y="2712244"/>
            <a:ext cx="6310313" cy="500063"/>
          </a:xfrm>
          <a:prstGeom prst="roundRect">
            <a:avLst>
              <a:gd name="adj" fmla="val 21428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"/>
          <p:cNvSpPr txBox="1"/>
          <p:nvPr/>
        </p:nvSpPr>
        <p:spPr>
          <a:xfrm>
            <a:off x="7086600" y="7458075"/>
            <a:ext cx="142532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已选 2 项 · 多选无部分给分</a:t>
            </a:r>
          </a:p>
        </p:txBody>
      </p:sp>
      <p:sp>
        <p:nvSpPr>
          <p:cNvPr id="95" name="Rectangle"/>
          <p:cNvSpPr/>
          <p:nvPr/>
        </p:nvSpPr>
        <p:spPr>
          <a:xfrm>
            <a:off x="12820650" y="7372350"/>
            <a:ext cx="590550" cy="3429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"/>
          <p:cNvSpPr txBox="1"/>
          <p:nvPr/>
        </p:nvSpPr>
        <p:spPr>
          <a:xfrm>
            <a:off x="12992100" y="7458075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清空</a:t>
            </a:r>
          </a:p>
        </p:txBody>
      </p:sp>
      <p:sp>
        <p:nvSpPr>
          <p:cNvPr id="97" name="Rectangle"/>
          <p:cNvSpPr/>
          <p:nvPr/>
        </p:nvSpPr>
        <p:spPr>
          <a:xfrm>
            <a:off x="7086600" y="781050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Box"/>
          <p:cNvSpPr txBox="1"/>
          <p:nvPr/>
        </p:nvSpPr>
        <p:spPr>
          <a:xfrm>
            <a:off x="7591425" y="7962900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12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上一题</a:t>
            </a:r>
          </a:p>
        </p:txBody>
      </p:sp>
      <p:sp>
        <p:nvSpPr>
          <p:cNvPr id="99" name="Rectangle"/>
          <p:cNvSpPr/>
          <p:nvPr/>
        </p:nvSpPr>
        <p:spPr>
          <a:xfrm>
            <a:off x="7093268" y="7817168"/>
            <a:ext cx="1415415" cy="481965"/>
          </a:xfrm>
          <a:prstGeom prst="roundRect">
            <a:avLst>
              <a:gd name="adj" fmla="val 50000"/>
            </a:avLst>
          </a:prstGeom>
          <a:noFill/>
          <a:ln w="1333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"/>
          <p:cNvSpPr/>
          <p:nvPr/>
        </p:nvSpPr>
        <p:spPr>
          <a:xfrm>
            <a:off x="8610600" y="7810500"/>
            <a:ext cx="4800600" cy="49530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"/>
          <p:cNvSpPr txBox="1"/>
          <p:nvPr/>
        </p:nvSpPr>
        <p:spPr>
          <a:xfrm>
            <a:off x="10706100" y="7953375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提交答案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048000" cy="74295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71450" y="180975"/>
            <a:ext cx="25270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9:41</a:t>
            </a:r>
          </a:p>
        </p:txBody>
      </p:sp>
      <p:sp>
        <p:nvSpPr>
          <p:cNvPr id="4" name="Rectangle"/>
          <p:cNvSpPr/>
          <p:nvPr/>
        </p:nvSpPr>
        <p:spPr>
          <a:xfrm>
            <a:off x="2343150" y="276225"/>
            <a:ext cx="24765" cy="32385"/>
          </a:xfrm>
          <a:prstGeom prst="roundRect">
            <a:avLst>
              <a:gd name="adj" fmla="val 3461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2384108" y="257175"/>
            <a:ext cx="24765" cy="51435"/>
          </a:xfrm>
          <a:prstGeom prst="roundRect">
            <a:avLst>
              <a:gd name="adj" fmla="val 3461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2425065" y="238125"/>
            <a:ext cx="24765" cy="70485"/>
          </a:xfrm>
          <a:prstGeom prst="roundRect">
            <a:avLst>
              <a:gd name="adj" fmla="val 3461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466022" y="219075"/>
            <a:ext cx="24765" cy="89535"/>
          </a:xfrm>
          <a:prstGeom prst="roundRect">
            <a:avLst>
              <a:gd name="adj" fmla="val 3461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ath"/>
          <p:cNvSpPr/>
          <p:nvPr/>
        </p:nvSpPr>
        <p:spPr>
          <a:xfrm>
            <a:off x="2536256" y="236696"/>
            <a:ext cx="61463" cy="23588"/>
          </a:xfrm>
          <a:custGeom>
            <a:avLst/>
            <a:gdLst/>
            <a:ahLst/>
            <a:cxnLst/>
            <a:rect l="0" t="0" r="r" b="b"/>
            <a:pathLst>
              <a:path w="61463" h="23588">
                <a:moveTo>
                  <a:pt x="2528" y="11651"/>
                </a:moveTo>
                <a:quadBezTo>
                  <a:pt x="15844" y="0"/>
                  <a:pt x="30731" y="0"/>
                </a:quadBezTo>
                <a:quadBezTo>
                  <a:pt x="45619" y="0"/>
                  <a:pt x="58935" y="11651"/>
                </a:quadBezTo>
                <a:quadBezTo>
                  <a:pt x="61091" y="13431"/>
                  <a:pt x="61197" y="16225"/>
                </a:quadBezTo>
                <a:quadBezTo>
                  <a:pt x="61463" y="19009"/>
                  <a:pt x="59562" y="21059"/>
                </a:quadBezTo>
                <a:quadBezTo>
                  <a:pt x="57782" y="23216"/>
                  <a:pt x="54987" y="23321"/>
                </a:quadBezTo>
                <a:quadBezTo>
                  <a:pt x="52204" y="23588"/>
                  <a:pt x="50153" y="21687"/>
                </a:quadBezTo>
                <a:quadBezTo>
                  <a:pt x="30731" y="4692"/>
                  <a:pt x="11310" y="21687"/>
                </a:quadBezTo>
                <a:quadBezTo>
                  <a:pt x="9259" y="23588"/>
                  <a:pt x="6475" y="23321"/>
                </a:quadBezTo>
                <a:quadBezTo>
                  <a:pt x="3681" y="23216"/>
                  <a:pt x="1901" y="21059"/>
                </a:quadBezTo>
                <a:quadBezTo>
                  <a:pt x="0" y="19009"/>
                  <a:pt x="266" y="16225"/>
                </a:quadBezTo>
                <a:quadBezTo>
                  <a:pt x="372" y="13431"/>
                  <a:pt x="2528" y="11651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2552292" y="260032"/>
            <a:ext cx="35106" cy="23268"/>
          </a:xfrm>
          <a:custGeom>
            <a:avLst/>
            <a:gdLst/>
            <a:ahLst/>
            <a:cxnLst/>
            <a:rect l="0" t="0" r="r" b="b"/>
            <a:pathLst>
              <a:path w="35106" h="23268">
                <a:moveTo>
                  <a:pt x="3075" y="10858"/>
                </a:moveTo>
                <a:quadBezTo>
                  <a:pt x="17553" y="0"/>
                  <a:pt x="32031" y="10858"/>
                </a:quadBezTo>
                <a:quadBezTo>
                  <a:pt x="34315" y="12471"/>
                  <a:pt x="34631" y="15250"/>
                </a:quadBezTo>
                <a:quadBezTo>
                  <a:pt x="35106" y="18005"/>
                  <a:pt x="33364" y="20193"/>
                </a:quadBezTo>
                <a:quadBezTo>
                  <a:pt x="31752" y="22477"/>
                  <a:pt x="28973" y="22793"/>
                </a:quadBezTo>
                <a:quadBezTo>
                  <a:pt x="26218" y="23268"/>
                  <a:pt x="24030" y="21526"/>
                </a:quadBezTo>
                <a:quadBezTo>
                  <a:pt x="20093" y="18574"/>
                  <a:pt x="17553" y="18574"/>
                </a:quadBezTo>
                <a:quadBezTo>
                  <a:pt x="15013" y="18574"/>
                  <a:pt x="11076" y="21526"/>
                </a:quadBezTo>
                <a:quadBezTo>
                  <a:pt x="8888" y="23268"/>
                  <a:pt x="6132" y="22793"/>
                </a:quadBezTo>
                <a:quadBezTo>
                  <a:pt x="3354" y="22477"/>
                  <a:pt x="1741" y="20193"/>
                </a:quadBezTo>
                <a:quadBezTo>
                  <a:pt x="0" y="18005"/>
                  <a:pt x="475" y="15250"/>
                </a:quadBezTo>
                <a:quadBezTo>
                  <a:pt x="791" y="12471"/>
                  <a:pt x="3075" y="10858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2561272" y="288607"/>
            <a:ext cx="17145" cy="17145"/>
          </a:xfrm>
          <a:prstGeom prst="ellipse">
            <a:avLst/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2657475" y="226695"/>
            <a:ext cx="180975" cy="80010"/>
          </a:xfrm>
          <a:prstGeom prst="roundRect">
            <a:avLst>
              <a:gd name="adj" fmla="val 26190"/>
            </a:avLst>
          </a:prstGeom>
          <a:noFill/>
          <a:ln w="11430">
            <a:solidFill>
              <a:srgbClr val="211A15">
                <a:alpha val="4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2670810" y="240030"/>
            <a:ext cx="114300" cy="53340"/>
          </a:xfrm>
          <a:prstGeom prst="roundRect">
            <a:avLst>
              <a:gd name="adj" fmla="val 21428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2847424" y="247099"/>
            <a:ext cx="12532" cy="35392"/>
          </a:xfrm>
          <a:custGeom>
            <a:avLst/>
            <a:gdLst/>
            <a:ahLst/>
            <a:cxnLst/>
            <a:rect l="0" t="0" r="r" b="b"/>
            <a:pathLst>
              <a:path w="12532" h="35392">
                <a:moveTo>
                  <a:pt x="12457" y="6266"/>
                </a:moveTo>
                <a:lnTo>
                  <a:pt x="12457" y="29126"/>
                </a:lnTo>
                <a:quadBezTo>
                  <a:pt x="12532" y="31721"/>
                  <a:pt x="10644" y="33504"/>
                </a:quadBezTo>
                <a:quadBezTo>
                  <a:pt x="8861" y="35392"/>
                  <a:pt x="6266" y="35317"/>
                </a:quadBezTo>
                <a:quadBezTo>
                  <a:pt x="3671" y="35392"/>
                  <a:pt x="1888" y="33504"/>
                </a:quadBezTo>
                <a:quadBezTo>
                  <a:pt x="0" y="31721"/>
                  <a:pt x="75" y="29126"/>
                </a:quadBezTo>
                <a:lnTo>
                  <a:pt x="75" y="6266"/>
                </a:lnTo>
                <a:quadBezTo>
                  <a:pt x="0" y="3671"/>
                  <a:pt x="1888" y="1888"/>
                </a:quadBezTo>
                <a:quadBezTo>
                  <a:pt x="3671" y="0"/>
                  <a:pt x="6266" y="75"/>
                </a:quadBezTo>
                <a:quadBezTo>
                  <a:pt x="8861" y="0"/>
                  <a:pt x="10644" y="1888"/>
                </a:quadBezTo>
                <a:quadBezTo>
                  <a:pt x="12532" y="3671"/>
                  <a:pt x="12457" y="6266"/>
                </a:quadBezTo>
                <a:close/>
              </a:path>
            </a:pathLst>
          </a:custGeom>
          <a:solidFill>
            <a:srgbClr val="211A15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95250" y="5524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266784" y="704934"/>
            <a:ext cx="80795" cy="123658"/>
          </a:xfrm>
          <a:custGeom>
            <a:avLst/>
            <a:gdLst/>
            <a:ahLst/>
            <a:cxnLst/>
            <a:rect l="0" t="0" r="r" b="b"/>
            <a:pathLst>
              <a:path w="80795" h="123658">
                <a:moveTo>
                  <a:pt x="77199" y="16349"/>
                </a:moveTo>
                <a:lnTo>
                  <a:pt x="23450" y="61829"/>
                </a:lnTo>
                <a:lnTo>
                  <a:pt x="77199" y="107309"/>
                </a:lnTo>
                <a:quadBezTo>
                  <a:pt x="80165" y="109676"/>
                  <a:pt x="80371" y="113465"/>
                </a:quadBezTo>
                <a:quadBezTo>
                  <a:pt x="80795" y="117236"/>
                  <a:pt x="78262" y="120061"/>
                </a:quadBezTo>
                <a:quadBezTo>
                  <a:pt x="75895" y="123028"/>
                  <a:pt x="72105" y="123234"/>
                </a:quadBezTo>
                <a:quadBezTo>
                  <a:pt x="68334" y="123658"/>
                  <a:pt x="65509" y="121124"/>
                </a:quadBezTo>
                <a:lnTo>
                  <a:pt x="3596" y="68737"/>
                </a:lnTo>
                <a:quadBezTo>
                  <a:pt x="3309" y="68493"/>
                  <a:pt x="3043" y="68227"/>
                </a:quadBezTo>
                <a:quadBezTo>
                  <a:pt x="2777" y="67961"/>
                  <a:pt x="2534" y="67674"/>
                </a:quadBezTo>
                <a:quadBezTo>
                  <a:pt x="0" y="64849"/>
                  <a:pt x="424" y="61077"/>
                </a:quadBezTo>
                <a:quadBezTo>
                  <a:pt x="630" y="57288"/>
                  <a:pt x="3596" y="54921"/>
                </a:quadBezTo>
                <a:lnTo>
                  <a:pt x="65509" y="2534"/>
                </a:lnTo>
                <a:quadBezTo>
                  <a:pt x="68334" y="0"/>
                  <a:pt x="72105" y="424"/>
                </a:quadBezTo>
                <a:quadBezTo>
                  <a:pt x="75895" y="630"/>
                  <a:pt x="78262" y="3596"/>
                </a:quadBezTo>
                <a:quadBezTo>
                  <a:pt x="80795" y="6422"/>
                  <a:pt x="80371" y="10193"/>
                </a:quadBezTo>
                <a:quadBezTo>
                  <a:pt x="80165" y="13982"/>
                  <a:pt x="77199" y="16349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514350" y="609600"/>
            <a:ext cx="117448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多选题 · 第 7 / 20 题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514350" y="790575"/>
            <a:ext cx="90020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今日到期 · 已答 2 项</a:t>
            </a:r>
          </a:p>
        </p:txBody>
      </p:sp>
      <p:sp>
        <p:nvSpPr>
          <p:cNvPr id="18" name="Ellipse"/>
          <p:cNvSpPr/>
          <p:nvPr/>
        </p:nvSpPr>
        <p:spPr>
          <a:xfrm>
            <a:off x="2543175" y="561975"/>
            <a:ext cx="400050" cy="400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2705100" y="723900"/>
            <a:ext cx="28575" cy="76200"/>
          </a:xfrm>
          <a:prstGeom prst="roundRect">
            <a:avLst>
              <a:gd name="adj" fmla="val 4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2752725" y="723900"/>
            <a:ext cx="28575" cy="76200"/>
          </a:xfrm>
          <a:prstGeom prst="roundRect">
            <a:avLst>
              <a:gd name="adj" fmla="val 4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0" y="990600"/>
            <a:ext cx="3048000" cy="38100"/>
          </a:xfrm>
          <a:prstGeom prst="rect">
            <a:avLst/>
          </a:prstGeom>
          <a:solidFill>
            <a:srgbClr val="EAE3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0" y="990600"/>
            <a:ext cx="1000125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52400" y="1162050"/>
            <a:ext cx="485775" cy="2286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238125" y="1209675"/>
            <a:ext cx="3143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学习中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2628900" y="1209675"/>
            <a:ext cx="26212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en-US" sz="750">
                <a:solidFill>
                  <a:srgbClr val="A39C95"/>
                </a:solidFill>
                <a:latin typeface="Inter Tight"/>
                <a:ea typeface="Inter Tight"/>
                <a:cs typeface="Inter Tight"/>
              </a:rPr>
              <a:t>42/110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52400" y="1504950"/>
            <a:ext cx="25908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025"/>
              </a:lnSpc>
            </a:pPr>
            <a:r>
              <a:rPr lang="zh-CN" sz="12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生产经营单位应当采取的技术措施包括下列哪些？</a:t>
            </a:r>
          </a:p>
        </p:txBody>
      </p:sp>
      <p:sp>
        <p:nvSpPr>
          <p:cNvPr id="27" name="Rectangle"/>
          <p:cNvSpPr/>
          <p:nvPr/>
        </p:nvSpPr>
        <p:spPr>
          <a:xfrm>
            <a:off x="152400" y="2133600"/>
            <a:ext cx="2743200" cy="333375"/>
          </a:xfrm>
          <a:prstGeom prst="roundRect">
            <a:avLst>
              <a:gd name="adj" fmla="val 25714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238125" y="2219325"/>
            <a:ext cx="21776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多选无部分给分，漏选/多选/错选均算整题错误</a:t>
            </a:r>
          </a:p>
        </p:txBody>
      </p:sp>
      <p:sp>
        <p:nvSpPr>
          <p:cNvPr id="29" name="Rectangle"/>
          <p:cNvSpPr/>
          <p:nvPr/>
        </p:nvSpPr>
        <p:spPr>
          <a:xfrm>
            <a:off x="152400" y="2581275"/>
            <a:ext cx="2743200" cy="628650"/>
          </a:xfrm>
          <a:prstGeom prst="roundRect">
            <a:avLst>
              <a:gd name="adj" fmla="val 16666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257175" y="279082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304203" y="2856840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552450" y="2686050"/>
            <a:ext cx="2148269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A. 对生产设备、设施进行定期检查和维护保养</a:t>
            </a:r>
          </a:p>
        </p:txBody>
      </p:sp>
      <p:sp>
        <p:nvSpPr>
          <p:cNvPr id="33" name="Rectangle"/>
          <p:cNvSpPr/>
          <p:nvPr/>
        </p:nvSpPr>
        <p:spPr>
          <a:xfrm>
            <a:off x="159544" y="2588419"/>
            <a:ext cx="2728913" cy="614363"/>
          </a:xfrm>
          <a:prstGeom prst="roundRect">
            <a:avLst>
              <a:gd name="adj" fmla="val 15891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152400" y="3286125"/>
            <a:ext cx="2743200" cy="628650"/>
          </a:xfrm>
          <a:prstGeom prst="roundRect">
            <a:avLst>
              <a:gd name="adj" fmla="val 16666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257175" y="34956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Path"/>
          <p:cNvSpPr/>
          <p:nvPr/>
        </p:nvSpPr>
        <p:spPr>
          <a:xfrm>
            <a:off x="304203" y="3561690"/>
            <a:ext cx="111747" cy="83172"/>
          </a:xfrm>
          <a:custGeom>
            <a:avLst/>
            <a:gdLst/>
            <a:ahLst/>
            <a:cxnLst/>
            <a:rect l="0" t="0" r="r" b="b"/>
            <a:pathLst>
              <a:path w="111747" h="83172">
                <a:moveTo>
                  <a:pt x="17194" y="35498"/>
                </a:moveTo>
                <a:lnTo>
                  <a:pt x="40492" y="58797"/>
                </a:lnTo>
                <a:lnTo>
                  <a:pt x="94382" y="3223"/>
                </a:lnTo>
                <a:quadBezTo>
                  <a:pt x="97214" y="129"/>
                  <a:pt x="101408" y="185"/>
                </a:quadBezTo>
                <a:quadBezTo>
                  <a:pt x="105598" y="0"/>
                  <a:pt x="108524" y="3005"/>
                </a:quadBezTo>
                <a:quadBezTo>
                  <a:pt x="111618" y="5837"/>
                  <a:pt x="111562" y="10031"/>
                </a:quadBezTo>
                <a:quadBezTo>
                  <a:pt x="111747" y="14222"/>
                  <a:pt x="108742" y="17148"/>
                </a:quadBezTo>
                <a:lnTo>
                  <a:pt x="47782" y="80013"/>
                </a:lnTo>
                <a:quadBezTo>
                  <a:pt x="47755" y="80040"/>
                  <a:pt x="47728" y="80068"/>
                </a:quadBezTo>
                <a:quadBezTo>
                  <a:pt x="47701" y="80095"/>
                  <a:pt x="47674" y="80122"/>
                </a:quadBezTo>
                <a:quadBezTo>
                  <a:pt x="44795" y="83172"/>
                  <a:pt x="40602" y="83051"/>
                </a:quadBezTo>
                <a:quadBezTo>
                  <a:pt x="36409" y="83172"/>
                  <a:pt x="33530" y="80122"/>
                </a:quadBezTo>
                <a:lnTo>
                  <a:pt x="3050" y="49642"/>
                </a:lnTo>
                <a:quadBezTo>
                  <a:pt x="0" y="46763"/>
                  <a:pt x="121" y="42570"/>
                </a:quadBezTo>
                <a:quadBezTo>
                  <a:pt x="0" y="38378"/>
                  <a:pt x="3050" y="35498"/>
                </a:quadBezTo>
                <a:quadBezTo>
                  <a:pt x="5929" y="32448"/>
                  <a:pt x="10122" y="32569"/>
                </a:quadBezTo>
                <a:quadBezTo>
                  <a:pt x="14315" y="32448"/>
                  <a:pt x="17194" y="354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552450" y="3390900"/>
            <a:ext cx="2021453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B. 组织员工进行安全生产教育和培训，建立培训档案</a:t>
            </a:r>
          </a:p>
        </p:txBody>
      </p:sp>
      <p:sp>
        <p:nvSpPr>
          <p:cNvPr id="38" name="Rectangle"/>
          <p:cNvSpPr/>
          <p:nvPr/>
        </p:nvSpPr>
        <p:spPr>
          <a:xfrm>
            <a:off x="159544" y="3293269"/>
            <a:ext cx="2728913" cy="614363"/>
          </a:xfrm>
          <a:prstGeom prst="roundRect">
            <a:avLst>
              <a:gd name="adj" fmla="val 15891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152400" y="3990975"/>
            <a:ext cx="2743200" cy="62865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257175" y="420052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266700" y="4210050"/>
            <a:ext cx="186690" cy="18669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266700" y="4210050"/>
            <a:ext cx="186690" cy="186690"/>
          </a:xfrm>
          <a:prstGeom prst="roundRect">
            <a:avLst>
              <a:gd name="adj" fmla="val 32653"/>
            </a:avLst>
          </a:prstGeom>
          <a:noFill/>
          <a:ln w="16193">
            <a:solidFill>
              <a:srgbClr val="C6BDB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552450" y="4095750"/>
            <a:ext cx="2152269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C. 在有明显职业病危害因素超标的工作场所组织应急演练</a:t>
            </a:r>
          </a:p>
        </p:txBody>
      </p:sp>
      <p:sp>
        <p:nvSpPr>
          <p:cNvPr id="44" name="Rectangle"/>
          <p:cNvSpPr/>
          <p:nvPr/>
        </p:nvSpPr>
        <p:spPr>
          <a:xfrm>
            <a:off x="159544" y="3998119"/>
            <a:ext cx="2728913" cy="614363"/>
          </a:xfrm>
          <a:prstGeom prst="roundRect">
            <a:avLst>
              <a:gd name="adj" fmla="val 15891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152400" y="4695825"/>
            <a:ext cx="2743200" cy="62865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257175" y="49053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266700" y="4914900"/>
            <a:ext cx="186690" cy="18669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"/>
          <p:cNvSpPr/>
          <p:nvPr/>
        </p:nvSpPr>
        <p:spPr>
          <a:xfrm>
            <a:off x="266700" y="4914900"/>
            <a:ext cx="186690" cy="186690"/>
          </a:xfrm>
          <a:prstGeom prst="roundRect">
            <a:avLst>
              <a:gd name="adj" fmla="val 32653"/>
            </a:avLst>
          </a:prstGeom>
          <a:noFill/>
          <a:ln w="16193">
            <a:solidFill>
              <a:srgbClr val="C6BDB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552450" y="4800600"/>
            <a:ext cx="2158937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D. 依法履行安全生产管理职责，对所负责安全生产工作进行检查</a:t>
            </a:r>
          </a:p>
        </p:txBody>
      </p:sp>
      <p:sp>
        <p:nvSpPr>
          <p:cNvPr id="50" name="Rectangle"/>
          <p:cNvSpPr/>
          <p:nvPr/>
        </p:nvSpPr>
        <p:spPr>
          <a:xfrm>
            <a:off x="159544" y="4702969"/>
            <a:ext cx="2728913" cy="614363"/>
          </a:xfrm>
          <a:prstGeom prst="roundRect">
            <a:avLst>
              <a:gd name="adj" fmla="val 15891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"/>
          <p:cNvSpPr/>
          <p:nvPr/>
        </p:nvSpPr>
        <p:spPr>
          <a:xfrm>
            <a:off x="0" y="6334125"/>
            <a:ext cx="3048000" cy="1095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"/>
          <p:cNvSpPr txBox="1"/>
          <p:nvPr/>
        </p:nvSpPr>
        <p:spPr>
          <a:xfrm>
            <a:off x="152400" y="6505575"/>
            <a:ext cx="45948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已选 2 项</a:t>
            </a:r>
          </a:p>
        </p:txBody>
      </p:sp>
      <p:sp>
        <p:nvSpPr>
          <p:cNvPr id="53" name="Rectangle"/>
          <p:cNvSpPr/>
          <p:nvPr/>
        </p:nvSpPr>
        <p:spPr>
          <a:xfrm>
            <a:off x="2400300" y="6438900"/>
            <a:ext cx="495300" cy="3048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2533650" y="6515100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清空</a:t>
            </a:r>
          </a:p>
        </p:txBody>
      </p:sp>
      <p:sp>
        <p:nvSpPr>
          <p:cNvPr id="55" name="Rectangle"/>
          <p:cNvSpPr/>
          <p:nvPr/>
        </p:nvSpPr>
        <p:spPr>
          <a:xfrm>
            <a:off x="152400" y="6819900"/>
            <a:ext cx="2743200" cy="47625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1219200" y="6953250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提交答案</a:t>
            </a:r>
          </a:p>
        </p:txBody>
      </p:sp>
      <p:sp>
        <p:nvSpPr>
          <p:cNvPr id="57" name="Rectangle"/>
          <p:cNvSpPr/>
          <p:nvPr/>
        </p:nvSpPr>
        <p:spPr>
          <a:xfrm>
            <a:off x="4763" y="6338888"/>
            <a:ext cx="3038475" cy="1085850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048000" cy="74295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71450" y="180975"/>
            <a:ext cx="25270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en-US" sz="1050">
                <a:solidFill>
                  <a:srgbClr val="211A15"/>
                </a:solidFill>
                <a:latin typeface="Inter Tight Bold"/>
                <a:ea typeface="Inter Tight Bold"/>
                <a:cs typeface="Inter Tight Bold"/>
              </a:rPr>
              <a:t>9:41</a:t>
            </a:r>
          </a:p>
        </p:txBody>
      </p:sp>
      <p:sp>
        <p:nvSpPr>
          <p:cNvPr id="4" name="Rectangle"/>
          <p:cNvSpPr/>
          <p:nvPr/>
        </p:nvSpPr>
        <p:spPr>
          <a:xfrm>
            <a:off x="2343150" y="276225"/>
            <a:ext cx="24765" cy="32385"/>
          </a:xfrm>
          <a:prstGeom prst="roundRect">
            <a:avLst>
              <a:gd name="adj" fmla="val 3461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2384108" y="257175"/>
            <a:ext cx="24765" cy="51435"/>
          </a:xfrm>
          <a:prstGeom prst="roundRect">
            <a:avLst>
              <a:gd name="adj" fmla="val 3461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2425065" y="238125"/>
            <a:ext cx="24765" cy="70485"/>
          </a:xfrm>
          <a:prstGeom prst="roundRect">
            <a:avLst>
              <a:gd name="adj" fmla="val 3461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2466022" y="219075"/>
            <a:ext cx="24765" cy="89535"/>
          </a:xfrm>
          <a:prstGeom prst="roundRect">
            <a:avLst>
              <a:gd name="adj" fmla="val 34615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ath"/>
          <p:cNvSpPr/>
          <p:nvPr/>
        </p:nvSpPr>
        <p:spPr>
          <a:xfrm>
            <a:off x="2536256" y="236696"/>
            <a:ext cx="61463" cy="23588"/>
          </a:xfrm>
          <a:custGeom>
            <a:avLst/>
            <a:gdLst/>
            <a:ahLst/>
            <a:cxnLst/>
            <a:rect l="0" t="0" r="r" b="b"/>
            <a:pathLst>
              <a:path w="61463" h="23588">
                <a:moveTo>
                  <a:pt x="2528" y="11651"/>
                </a:moveTo>
                <a:quadBezTo>
                  <a:pt x="15844" y="0"/>
                  <a:pt x="30731" y="0"/>
                </a:quadBezTo>
                <a:quadBezTo>
                  <a:pt x="45619" y="0"/>
                  <a:pt x="58935" y="11651"/>
                </a:quadBezTo>
                <a:quadBezTo>
                  <a:pt x="61091" y="13431"/>
                  <a:pt x="61197" y="16225"/>
                </a:quadBezTo>
                <a:quadBezTo>
                  <a:pt x="61463" y="19009"/>
                  <a:pt x="59562" y="21059"/>
                </a:quadBezTo>
                <a:quadBezTo>
                  <a:pt x="57782" y="23216"/>
                  <a:pt x="54987" y="23321"/>
                </a:quadBezTo>
                <a:quadBezTo>
                  <a:pt x="52204" y="23588"/>
                  <a:pt x="50153" y="21687"/>
                </a:quadBezTo>
                <a:quadBezTo>
                  <a:pt x="30731" y="4692"/>
                  <a:pt x="11310" y="21687"/>
                </a:quadBezTo>
                <a:quadBezTo>
                  <a:pt x="9259" y="23588"/>
                  <a:pt x="6475" y="23321"/>
                </a:quadBezTo>
                <a:quadBezTo>
                  <a:pt x="3681" y="23216"/>
                  <a:pt x="1901" y="21059"/>
                </a:quadBezTo>
                <a:quadBezTo>
                  <a:pt x="0" y="19009"/>
                  <a:pt x="266" y="16225"/>
                </a:quadBezTo>
                <a:quadBezTo>
                  <a:pt x="372" y="13431"/>
                  <a:pt x="2528" y="11651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2552292" y="260032"/>
            <a:ext cx="35106" cy="23268"/>
          </a:xfrm>
          <a:custGeom>
            <a:avLst/>
            <a:gdLst/>
            <a:ahLst/>
            <a:cxnLst/>
            <a:rect l="0" t="0" r="r" b="b"/>
            <a:pathLst>
              <a:path w="35106" h="23268">
                <a:moveTo>
                  <a:pt x="3075" y="10858"/>
                </a:moveTo>
                <a:quadBezTo>
                  <a:pt x="17553" y="0"/>
                  <a:pt x="32031" y="10858"/>
                </a:quadBezTo>
                <a:quadBezTo>
                  <a:pt x="34315" y="12471"/>
                  <a:pt x="34631" y="15250"/>
                </a:quadBezTo>
                <a:quadBezTo>
                  <a:pt x="35106" y="18005"/>
                  <a:pt x="33364" y="20193"/>
                </a:quadBezTo>
                <a:quadBezTo>
                  <a:pt x="31752" y="22477"/>
                  <a:pt x="28973" y="22793"/>
                </a:quadBezTo>
                <a:quadBezTo>
                  <a:pt x="26218" y="23268"/>
                  <a:pt x="24030" y="21526"/>
                </a:quadBezTo>
                <a:quadBezTo>
                  <a:pt x="20093" y="18574"/>
                  <a:pt x="17553" y="18574"/>
                </a:quadBezTo>
                <a:quadBezTo>
                  <a:pt x="15013" y="18574"/>
                  <a:pt x="11076" y="21526"/>
                </a:quadBezTo>
                <a:quadBezTo>
                  <a:pt x="8888" y="23268"/>
                  <a:pt x="6132" y="22793"/>
                </a:quadBezTo>
                <a:quadBezTo>
                  <a:pt x="3354" y="22477"/>
                  <a:pt x="1741" y="20193"/>
                </a:quadBezTo>
                <a:quadBezTo>
                  <a:pt x="0" y="18005"/>
                  <a:pt x="475" y="15250"/>
                </a:quadBezTo>
                <a:quadBezTo>
                  <a:pt x="791" y="12471"/>
                  <a:pt x="3075" y="10858"/>
                </a:quadBezTo>
                <a:close/>
              </a:path>
            </a:pathLst>
          </a:cu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2561272" y="288607"/>
            <a:ext cx="17145" cy="17145"/>
          </a:xfrm>
          <a:prstGeom prst="ellipse">
            <a:avLst/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2657475" y="226695"/>
            <a:ext cx="180975" cy="80010"/>
          </a:xfrm>
          <a:prstGeom prst="roundRect">
            <a:avLst>
              <a:gd name="adj" fmla="val 26190"/>
            </a:avLst>
          </a:prstGeom>
          <a:noFill/>
          <a:ln w="11430">
            <a:solidFill>
              <a:srgbClr val="211A15">
                <a:alpha val="4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2670810" y="240030"/>
            <a:ext cx="114300" cy="53340"/>
          </a:xfrm>
          <a:prstGeom prst="roundRect">
            <a:avLst>
              <a:gd name="adj" fmla="val 21428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2847424" y="247099"/>
            <a:ext cx="12532" cy="35392"/>
          </a:xfrm>
          <a:custGeom>
            <a:avLst/>
            <a:gdLst/>
            <a:ahLst/>
            <a:cxnLst/>
            <a:rect l="0" t="0" r="r" b="b"/>
            <a:pathLst>
              <a:path w="12532" h="35392">
                <a:moveTo>
                  <a:pt x="12457" y="6266"/>
                </a:moveTo>
                <a:lnTo>
                  <a:pt x="12457" y="29126"/>
                </a:lnTo>
                <a:quadBezTo>
                  <a:pt x="12532" y="31721"/>
                  <a:pt x="10644" y="33504"/>
                </a:quadBezTo>
                <a:quadBezTo>
                  <a:pt x="8861" y="35392"/>
                  <a:pt x="6266" y="35317"/>
                </a:quadBezTo>
                <a:quadBezTo>
                  <a:pt x="3671" y="35392"/>
                  <a:pt x="1888" y="33504"/>
                </a:quadBezTo>
                <a:quadBezTo>
                  <a:pt x="0" y="31721"/>
                  <a:pt x="75" y="29126"/>
                </a:quadBezTo>
                <a:lnTo>
                  <a:pt x="75" y="6266"/>
                </a:lnTo>
                <a:quadBezTo>
                  <a:pt x="0" y="3671"/>
                  <a:pt x="1888" y="1888"/>
                </a:quadBezTo>
                <a:quadBezTo>
                  <a:pt x="3671" y="0"/>
                  <a:pt x="6266" y="75"/>
                </a:quadBezTo>
                <a:quadBezTo>
                  <a:pt x="8861" y="0"/>
                  <a:pt x="10644" y="1888"/>
                </a:quadBezTo>
                <a:quadBezTo>
                  <a:pt x="12532" y="3671"/>
                  <a:pt x="12457" y="6266"/>
                </a:quadBezTo>
                <a:close/>
              </a:path>
            </a:pathLst>
          </a:custGeom>
          <a:solidFill>
            <a:srgbClr val="211A15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171450" y="638175"/>
            <a:ext cx="104775" cy="123825"/>
          </a:xfrm>
          <a:prstGeom prst="roundRect">
            <a:avLst>
              <a:gd name="adj" fmla="val 18181"/>
            </a:avLst>
          </a:prstGeom>
          <a:noFill/>
          <a:ln w="15240">
            <a:solidFill>
              <a:srgbClr val="B45309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197076" y="611484"/>
            <a:ext cx="115436" cy="72503"/>
          </a:xfrm>
          <a:custGeom>
            <a:avLst/>
            <a:gdLst/>
            <a:ahLst/>
            <a:cxnLst/>
            <a:rect l="0" t="0" r="r" b="b"/>
            <a:pathLst>
              <a:path w="115436" h="72503">
                <a:moveTo>
                  <a:pt x="92" y="26691"/>
                </a:moveTo>
                <a:lnTo>
                  <a:pt x="92" y="20024"/>
                </a:lnTo>
                <a:lnTo>
                  <a:pt x="92" y="19751"/>
                </a:lnTo>
                <a:lnTo>
                  <a:pt x="111" y="19479"/>
                </a:lnTo>
                <a:quadBezTo>
                  <a:pt x="701" y="11241"/>
                  <a:pt x="6754" y="5620"/>
                </a:quadBezTo>
                <a:quadBezTo>
                  <a:pt x="12807" y="0"/>
                  <a:pt x="21066" y="21"/>
                </a:quadBezTo>
                <a:lnTo>
                  <a:pt x="90579" y="21"/>
                </a:lnTo>
                <a:lnTo>
                  <a:pt x="90780" y="21"/>
                </a:lnTo>
                <a:lnTo>
                  <a:pt x="90981" y="32"/>
                </a:lnTo>
                <a:quadBezTo>
                  <a:pt x="101235" y="572"/>
                  <a:pt x="108297" y="8026"/>
                </a:quadBezTo>
                <a:quadBezTo>
                  <a:pt x="115359" y="15481"/>
                  <a:pt x="115344" y="25749"/>
                </a:quadBezTo>
                <a:lnTo>
                  <a:pt x="115344" y="64791"/>
                </a:lnTo>
                <a:quadBezTo>
                  <a:pt x="115436" y="67985"/>
                  <a:pt x="113113" y="70179"/>
                </a:quadBezTo>
                <a:quadBezTo>
                  <a:pt x="110919" y="72503"/>
                  <a:pt x="107724" y="72411"/>
                </a:quadBezTo>
                <a:quadBezTo>
                  <a:pt x="104530" y="72503"/>
                  <a:pt x="102336" y="70179"/>
                </a:quadBezTo>
                <a:quadBezTo>
                  <a:pt x="100013" y="67985"/>
                  <a:pt x="100104" y="64791"/>
                </a:quadBezTo>
                <a:lnTo>
                  <a:pt x="100104" y="25728"/>
                </a:lnTo>
                <a:quadBezTo>
                  <a:pt x="100110" y="21545"/>
                  <a:pt x="97233" y="18508"/>
                </a:quadBezTo>
                <a:quadBezTo>
                  <a:pt x="94417" y="15535"/>
                  <a:pt x="90354" y="15261"/>
                </a:quadBezTo>
                <a:lnTo>
                  <a:pt x="21027" y="15261"/>
                </a:lnTo>
                <a:quadBezTo>
                  <a:pt x="18775" y="15255"/>
                  <a:pt x="17124" y="16788"/>
                </a:quadBezTo>
                <a:quadBezTo>
                  <a:pt x="15555" y="18245"/>
                  <a:pt x="15332" y="20348"/>
                </a:quadBezTo>
                <a:lnTo>
                  <a:pt x="15332" y="26691"/>
                </a:lnTo>
                <a:quadBezTo>
                  <a:pt x="15424" y="29885"/>
                  <a:pt x="13100" y="32079"/>
                </a:quadBezTo>
                <a:quadBezTo>
                  <a:pt x="10906" y="34403"/>
                  <a:pt x="7712" y="34311"/>
                </a:quadBezTo>
                <a:quadBezTo>
                  <a:pt x="4518" y="34403"/>
                  <a:pt x="2324" y="32079"/>
                </a:quadBezTo>
                <a:quadBezTo>
                  <a:pt x="0" y="29885"/>
                  <a:pt x="92" y="26691"/>
                </a:quadBez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381000" y="590550"/>
            <a:ext cx="9906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安全生产知识题库</a:t>
            </a:r>
          </a:p>
        </p:txBody>
      </p:sp>
      <p:sp>
        <p:nvSpPr>
          <p:cNvPr id="17" name="Path"/>
          <p:cNvSpPr/>
          <p:nvPr/>
        </p:nvSpPr>
        <p:spPr>
          <a:xfrm>
            <a:off x="2763099" y="658074"/>
            <a:ext cx="93552" cy="55452"/>
          </a:xfrm>
          <a:custGeom>
            <a:avLst/>
            <a:gdLst/>
            <a:ahLst/>
            <a:cxnLst/>
            <a:rect l="0" t="0" r="r" b="b"/>
            <a:pathLst>
              <a:path w="93552" h="55452">
                <a:moveTo>
                  <a:pt x="14738" y="2614"/>
                </a:moveTo>
                <a:lnTo>
                  <a:pt x="46776" y="34653"/>
                </a:lnTo>
                <a:lnTo>
                  <a:pt x="78814" y="2614"/>
                </a:lnTo>
                <a:quadBezTo>
                  <a:pt x="81282" y="0"/>
                  <a:pt x="84876" y="103"/>
                </a:quadBezTo>
                <a:quadBezTo>
                  <a:pt x="88470" y="0"/>
                  <a:pt x="90938" y="2614"/>
                </a:quadBezTo>
                <a:quadBezTo>
                  <a:pt x="93552" y="5082"/>
                  <a:pt x="93448" y="8676"/>
                </a:quadBezTo>
                <a:quadBezTo>
                  <a:pt x="93552" y="12270"/>
                  <a:pt x="90938" y="14738"/>
                </a:quadBezTo>
                <a:lnTo>
                  <a:pt x="52838" y="52838"/>
                </a:lnTo>
                <a:quadBezTo>
                  <a:pt x="50370" y="55452"/>
                  <a:pt x="46776" y="55348"/>
                </a:quadBezTo>
                <a:quadBezTo>
                  <a:pt x="43182" y="55452"/>
                  <a:pt x="40714" y="52838"/>
                </a:quadBezTo>
                <a:lnTo>
                  <a:pt x="2614" y="14738"/>
                </a:lnTo>
                <a:quadBezTo>
                  <a:pt x="0" y="12270"/>
                  <a:pt x="103" y="8676"/>
                </a:quadBezTo>
                <a:quadBezTo>
                  <a:pt x="0" y="5082"/>
                  <a:pt x="2614" y="2614"/>
                </a:quadBezTo>
                <a:quadBezTo>
                  <a:pt x="5082" y="0"/>
                  <a:pt x="8676" y="103"/>
                </a:quadBezTo>
                <a:quadBezTo>
                  <a:pt x="12270" y="0"/>
                  <a:pt x="14738" y="2614"/>
                </a:quadBezTo>
                <a:close/>
              </a:path>
            </a:pathLst>
          </a:custGeom>
          <a:solidFill>
            <a:srgbClr val="6F68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52400" y="914400"/>
            <a:ext cx="10041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10 月 9 日 · 星期五</a:t>
            </a:r>
          </a:p>
        </p:txBody>
      </p:sp>
      <p:sp>
        <p:nvSpPr>
          <p:cNvPr id="19" name="Rectangle"/>
          <p:cNvSpPr/>
          <p:nvPr/>
        </p:nvSpPr>
        <p:spPr>
          <a:xfrm>
            <a:off x="2200275" y="885825"/>
            <a:ext cx="695325" cy="2286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2286000" y="933450"/>
            <a:ext cx="52177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本周 3/5 天</a:t>
            </a:r>
          </a:p>
        </p:txBody>
      </p:sp>
      <p:sp>
        <p:nvSpPr>
          <p:cNvPr id="21" name="Rectangle"/>
          <p:cNvSpPr/>
          <p:nvPr/>
        </p:nvSpPr>
        <p:spPr>
          <a:xfrm>
            <a:off x="152400" y="1228725"/>
            <a:ext cx="2743200" cy="2162175"/>
          </a:xfrm>
          <a:prstGeom prst="roundRect">
            <a:avLst>
              <a:gd name="adj" fmla="val 7929"/>
            </a:avLst>
          </a:prstGeom>
          <a:solidFill>
            <a:srgbClr val="FFFFFF"/>
          </a:solidFill>
          <a:ln>
            <a:noFill/>
          </a:ln>
          <a:effectLst>
            <a:outerShdw blurRad="66675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304800" y="14097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6F6862"/>
                </a:solidFill>
                <a:effectLst>
                  <a:outerShdw blurRad="66675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今日任务</a:t>
            </a:r>
          </a:p>
        </p:txBody>
      </p:sp>
      <p:sp>
        <p:nvSpPr>
          <p:cNvPr id="23" name="Rectangle"/>
          <p:cNvSpPr/>
          <p:nvPr/>
        </p:nvSpPr>
        <p:spPr>
          <a:xfrm>
            <a:off x="2085975" y="1381125"/>
            <a:ext cx="657225" cy="2286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  <a:effectLst>
            <a:outerShdw blurRad="66675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2171700" y="1428750"/>
            <a:ext cx="47756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6F6862"/>
                </a:solidFill>
                <a:effectLst>
                  <a:outerShdw blurRad="66675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目标 20 题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304800" y="1724025"/>
            <a:ext cx="4062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600"/>
              </a:lnSpc>
            </a:pPr>
            <a:r>
              <a:rPr lang="en-US" sz="3300">
                <a:solidFill>
                  <a:srgbClr val="211A15"/>
                </a:solidFill>
                <a:effectLst>
                  <a:outerShdw blurRad="66675" dist="38100" dir="5400000" algn="ctr" rotWithShape="0">
                    <a:srgbClr val="211A14">
                      <a:alpha val="8000"/>
                    </a:srgbClr>
                  </a:outerShdw>
                </a:effectLst>
                <a:latin typeface="Inter Tight Bold"/>
                <a:ea typeface="Inter Tight Bold"/>
                <a:cs typeface="Inter Tight Bold"/>
              </a:rPr>
              <a:t>12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781050" y="1724025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6F6862"/>
                </a:solidFill>
                <a:effectLst>
                  <a:outerShdw blurRad="66675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题待学</a:t>
            </a:r>
          </a:p>
        </p:txBody>
      </p:sp>
      <p:sp>
        <p:nvSpPr>
          <p:cNvPr id="27" name="Rectangle"/>
          <p:cNvSpPr/>
          <p:nvPr/>
        </p:nvSpPr>
        <p:spPr>
          <a:xfrm>
            <a:off x="304800" y="2295525"/>
            <a:ext cx="2438400" cy="66675"/>
          </a:xfrm>
          <a:prstGeom prst="roundRect">
            <a:avLst>
              <a:gd name="adj" fmla="val 50000"/>
            </a:avLst>
          </a:prstGeom>
          <a:solidFill>
            <a:srgbClr val="EFE9E0"/>
          </a:solidFill>
          <a:ln>
            <a:noFill/>
          </a:ln>
          <a:effectLst>
            <a:outerShdw blurRad="66675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304800" y="2295525"/>
            <a:ext cx="1085850" cy="666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>
            <a:outerShdw blurRad="66675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304800" y="2476500"/>
            <a:ext cx="74992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effectLst>
                  <a:outerShdw blurRad="66675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已学 8 · 剩 12</a:t>
            </a:r>
          </a:p>
        </p:txBody>
      </p:sp>
      <p:sp>
        <p:nvSpPr>
          <p:cNvPr id="30" name="Rectangle"/>
          <p:cNvSpPr/>
          <p:nvPr/>
        </p:nvSpPr>
        <p:spPr>
          <a:xfrm>
            <a:off x="304800" y="2762250"/>
            <a:ext cx="2438400" cy="476250"/>
          </a:xfrm>
          <a:prstGeom prst="roundRect">
            <a:avLst>
              <a:gd name="adj" fmla="val 50000"/>
            </a:avLst>
          </a:prstGeom>
          <a:solidFill>
            <a:srgbClr val="211A15"/>
          </a:solidFill>
          <a:ln>
            <a:noFill/>
          </a:ln>
          <a:effectLst>
            <a:outerShdw blurRad="66675" dist="38100" dir="5400000" algn="ctr" rotWithShape="0">
              <a:srgbClr val="211A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219200" y="2895600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200">
                <a:solidFill>
                  <a:srgbClr val="FFFFFF"/>
                </a:solidFill>
                <a:effectLst>
                  <a:outerShdw blurRad="66675" dist="38100" dir="5400000" algn="ctr" rotWithShape="0">
                    <a:srgbClr val="211A14">
                      <a:alpha val="8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开始学习</a:t>
            </a:r>
          </a:p>
        </p:txBody>
      </p:sp>
      <p:sp>
        <p:nvSpPr>
          <p:cNvPr id="32" name="Rectangle"/>
          <p:cNvSpPr/>
          <p:nvPr/>
        </p:nvSpPr>
        <p:spPr>
          <a:xfrm>
            <a:off x="152400" y="3505200"/>
            <a:ext cx="274320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295275" y="3648075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记忆进度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2295525" y="3667125"/>
            <a:ext cx="454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已掌握 34</a:t>
            </a:r>
          </a:p>
        </p:txBody>
      </p:sp>
      <p:sp>
        <p:nvSpPr>
          <p:cNvPr id="35" name="Rectangle"/>
          <p:cNvSpPr/>
          <p:nvPr/>
        </p:nvSpPr>
        <p:spPr>
          <a:xfrm>
            <a:off x="295275" y="3952875"/>
            <a:ext cx="2457450" cy="85725"/>
          </a:xfrm>
          <a:prstGeom prst="roundRect">
            <a:avLst>
              <a:gd name="adj" fmla="val 50000"/>
            </a:avLst>
          </a:prstGeom>
          <a:solidFill>
            <a:srgbClr val="EFE9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"/>
          <p:cNvSpPr/>
          <p:nvPr/>
        </p:nvSpPr>
        <p:spPr>
          <a:xfrm>
            <a:off x="295275" y="3952875"/>
            <a:ext cx="1162050" cy="85725"/>
          </a:xfrm>
          <a:prstGeom prst="roundRect">
            <a:avLst>
              <a:gd name="adj" fmla="val 50000"/>
            </a:avLst>
          </a:prstGeom>
          <a:solidFill>
            <a:srgbClr val="CEC7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1476375" y="3952875"/>
            <a:ext cx="342900" cy="85725"/>
          </a:xfrm>
          <a:prstGeom prst="rect">
            <a:avLst/>
          </a:prstGeom>
          <a:solidFill>
            <a:srgbClr val="E893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1838325" y="3952875"/>
            <a:ext cx="342900" cy="85725"/>
          </a:xfrm>
          <a:prstGeom prst="rect">
            <a:avLst/>
          </a:prstGeom>
          <a:solidFill>
            <a:srgbClr val="2F6B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2200275" y="3952875"/>
            <a:ext cx="838200" cy="85725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295275" y="4152900"/>
            <a:ext cx="628650" cy="2286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371475" y="42386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CEC7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485775" y="4200525"/>
            <a:ext cx="34932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新题 48</a:t>
            </a:r>
          </a:p>
        </p:txBody>
      </p:sp>
      <p:sp>
        <p:nvSpPr>
          <p:cNvPr id="43" name="Rectangle"/>
          <p:cNvSpPr/>
          <p:nvPr/>
        </p:nvSpPr>
        <p:spPr>
          <a:xfrm>
            <a:off x="1000125" y="4152900"/>
            <a:ext cx="733425" cy="2286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1076325" y="42386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1190625" y="4200525"/>
            <a:ext cx="4540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A3D09"/>
                </a:solidFill>
                <a:latin typeface="Noto Sans SC"/>
                <a:ea typeface="Noto Sans SC"/>
                <a:cs typeface="Noto Sans SC"/>
              </a:rPr>
              <a:t>学习中 14</a:t>
            </a:r>
          </a:p>
        </p:txBody>
      </p:sp>
      <p:sp>
        <p:nvSpPr>
          <p:cNvPr id="46" name="Rectangle"/>
          <p:cNvSpPr/>
          <p:nvPr/>
        </p:nvSpPr>
        <p:spPr>
          <a:xfrm>
            <a:off x="1809750" y="4152900"/>
            <a:ext cx="733425" cy="2286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1885950" y="42386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F6B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"/>
          <p:cNvSpPr txBox="1"/>
          <p:nvPr/>
        </p:nvSpPr>
        <p:spPr>
          <a:xfrm>
            <a:off x="2000250" y="4200525"/>
            <a:ext cx="4540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1B4A99"/>
                </a:solidFill>
                <a:latin typeface="Noto Sans SC"/>
                <a:ea typeface="Noto Sans SC"/>
                <a:cs typeface="Noto Sans SC"/>
              </a:rPr>
              <a:t>需复习 14</a:t>
            </a:r>
          </a:p>
        </p:txBody>
      </p:sp>
      <p:sp>
        <p:nvSpPr>
          <p:cNvPr id="49" name="Rectangle"/>
          <p:cNvSpPr/>
          <p:nvPr/>
        </p:nvSpPr>
        <p:spPr>
          <a:xfrm>
            <a:off x="295275" y="4457700"/>
            <a:ext cx="733425" cy="22860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371475" y="45434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485775" y="4505325"/>
            <a:ext cx="4540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14602D"/>
                </a:solidFill>
                <a:latin typeface="Noto Sans SC"/>
                <a:ea typeface="Noto Sans SC"/>
                <a:cs typeface="Noto Sans SC"/>
              </a:rPr>
              <a:t>已掌握 34</a:t>
            </a:r>
          </a:p>
        </p:txBody>
      </p:sp>
      <p:sp>
        <p:nvSpPr>
          <p:cNvPr id="52" name="Rectangle"/>
          <p:cNvSpPr/>
          <p:nvPr/>
        </p:nvSpPr>
        <p:spPr>
          <a:xfrm>
            <a:off x="295275" y="4800600"/>
            <a:ext cx="2457450" cy="333375"/>
          </a:xfrm>
          <a:prstGeom prst="roundRect">
            <a:avLst>
              <a:gd name="adj" fmla="val 25714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381000" y="4886325"/>
            <a:ext cx="218958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今日到期 26 题 · 新题 12、学习中 8、需复习 6</a:t>
            </a:r>
          </a:p>
        </p:txBody>
      </p:sp>
      <p:sp>
        <p:nvSpPr>
          <p:cNvPr id="54" name="Rectangle"/>
          <p:cNvSpPr/>
          <p:nvPr/>
        </p:nvSpPr>
        <p:spPr>
          <a:xfrm>
            <a:off x="157163" y="3509963"/>
            <a:ext cx="2733675" cy="1762125"/>
          </a:xfrm>
          <a:prstGeom prst="roundRect">
            <a:avLst>
              <a:gd name="adj" fmla="val 8378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"/>
          <p:cNvSpPr/>
          <p:nvPr/>
        </p:nvSpPr>
        <p:spPr>
          <a:xfrm>
            <a:off x="152400" y="5391150"/>
            <a:ext cx="2743200" cy="1123950"/>
          </a:xfrm>
          <a:prstGeom prst="roundRect">
            <a:avLst>
              <a:gd name="adj" fmla="val 10169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266700" y="5505450"/>
            <a:ext cx="681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57504A"/>
                </a:solidFill>
                <a:latin typeface="Noto Sans SC Bold"/>
                <a:ea typeface="Noto Sans SC Bold"/>
                <a:cs typeface="Noto Sans SC Bold"/>
              </a:rPr>
              <a:t>320 窄屏取舍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266700" y="5715000"/>
            <a:ext cx="2474681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水平内边距 16（常规 20）· 错题四档由 4 列降 2 列 · 隐藏「预计用时」「已掌握 N」等次要元信息 · 底部导航由 4 栏收为「今日 / 练习 / 更多」3 栏，错题本与题库收进「更多」</a:t>
            </a:r>
          </a:p>
        </p:txBody>
      </p:sp>
      <p:sp>
        <p:nvSpPr>
          <p:cNvPr id="58" name="Rectangle"/>
          <p:cNvSpPr/>
          <p:nvPr/>
        </p:nvSpPr>
        <p:spPr>
          <a:xfrm>
            <a:off x="0" y="6686550"/>
            <a:ext cx="3048000" cy="742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"/>
          <p:cNvSpPr/>
          <p:nvPr/>
        </p:nvSpPr>
        <p:spPr>
          <a:xfrm>
            <a:off x="57150" y="6715125"/>
            <a:ext cx="977900" cy="381000"/>
          </a:xfrm>
          <a:prstGeom prst="roundRect">
            <a:avLst>
              <a:gd name="adj" fmla="val 32500"/>
            </a:avLst>
          </a:prstGeom>
          <a:solidFill>
            <a:srgbClr val="211A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Path"/>
          <p:cNvSpPr/>
          <p:nvPr/>
        </p:nvSpPr>
        <p:spPr>
          <a:xfrm>
            <a:off x="485285" y="6755572"/>
            <a:ext cx="134330" cy="146720"/>
          </a:xfrm>
          <a:custGeom>
            <a:avLst/>
            <a:gdLst/>
            <a:ahLst/>
            <a:cxnLst/>
            <a:rect l="0" t="0" r="r" b="b"/>
            <a:pathLst>
              <a:path w="134330" h="146720">
                <a:moveTo>
                  <a:pt x="62551" y="1478"/>
                </a:moveTo>
                <a:quadBezTo>
                  <a:pt x="64621" y="0"/>
                  <a:pt x="67165" y="34"/>
                </a:quadBezTo>
                <a:quadBezTo>
                  <a:pt x="69709" y="0"/>
                  <a:pt x="71779" y="1478"/>
                </a:quadBezTo>
                <a:lnTo>
                  <a:pt x="130834" y="42435"/>
                </a:lnTo>
                <a:quadBezTo>
                  <a:pt x="132480" y="43561"/>
                  <a:pt x="133393" y="45334"/>
                </a:quadBezTo>
                <a:quadBezTo>
                  <a:pt x="134330" y="47094"/>
                  <a:pt x="134316" y="49088"/>
                </a:quadBezTo>
                <a:lnTo>
                  <a:pt x="134316" y="127193"/>
                </a:lnTo>
                <a:quadBezTo>
                  <a:pt x="134316" y="135281"/>
                  <a:pt x="128597" y="141000"/>
                </a:quadBezTo>
                <a:quadBezTo>
                  <a:pt x="122878" y="146719"/>
                  <a:pt x="114790" y="146720"/>
                </a:quadBezTo>
                <a:lnTo>
                  <a:pt x="19540" y="146720"/>
                </a:lnTo>
                <a:quadBezTo>
                  <a:pt x="11452" y="146719"/>
                  <a:pt x="5733" y="141000"/>
                </a:quadBezTo>
                <a:quadBezTo>
                  <a:pt x="14" y="135281"/>
                  <a:pt x="14" y="127193"/>
                </a:quadBezTo>
                <a:lnTo>
                  <a:pt x="14" y="49088"/>
                </a:lnTo>
                <a:quadBezTo>
                  <a:pt x="0" y="47094"/>
                  <a:pt x="937" y="45334"/>
                </a:quadBezTo>
                <a:quadBezTo>
                  <a:pt x="1850" y="43561"/>
                  <a:pt x="3496" y="42435"/>
                </a:quadBezTo>
                <a:lnTo>
                  <a:pt x="62551" y="1478"/>
                </a:lnTo>
                <a:close/>
                <a:moveTo>
                  <a:pt x="16206" y="53326"/>
                </a:moveTo>
                <a:lnTo>
                  <a:pt x="16206" y="127193"/>
                </a:lnTo>
                <a:quadBezTo>
                  <a:pt x="16206" y="128574"/>
                  <a:pt x="17183" y="129551"/>
                </a:quadBezTo>
                <a:quadBezTo>
                  <a:pt x="18159" y="130527"/>
                  <a:pt x="19540" y="130527"/>
                </a:quadBezTo>
                <a:lnTo>
                  <a:pt x="114790" y="130527"/>
                </a:lnTo>
                <a:quadBezTo>
                  <a:pt x="116171" y="130527"/>
                  <a:pt x="117147" y="129551"/>
                </a:quadBezTo>
                <a:quadBezTo>
                  <a:pt x="118124" y="128574"/>
                  <a:pt x="118124" y="127193"/>
                </a:quadBezTo>
                <a:lnTo>
                  <a:pt x="118124" y="53326"/>
                </a:lnTo>
                <a:lnTo>
                  <a:pt x="67165" y="17984"/>
                </a:lnTo>
                <a:lnTo>
                  <a:pt x="16206" y="533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ath"/>
          <p:cNvSpPr/>
          <p:nvPr/>
        </p:nvSpPr>
        <p:spPr>
          <a:xfrm>
            <a:off x="523301" y="6845996"/>
            <a:ext cx="58298" cy="48199"/>
          </a:xfrm>
          <a:custGeom>
            <a:avLst/>
            <a:gdLst/>
            <a:ahLst/>
            <a:cxnLst/>
            <a:rect l="0" t="0" r="r" b="b"/>
            <a:pathLst>
              <a:path w="58298" h="48199">
                <a:moveTo>
                  <a:pt x="98" y="48199"/>
                </a:moveTo>
                <a:lnTo>
                  <a:pt x="98" y="8194"/>
                </a:lnTo>
                <a:quadBezTo>
                  <a:pt x="0" y="4800"/>
                  <a:pt x="2469" y="2469"/>
                </a:quadBezTo>
                <a:quadBezTo>
                  <a:pt x="4800" y="0"/>
                  <a:pt x="8194" y="98"/>
                </a:quadBezTo>
                <a:lnTo>
                  <a:pt x="50104" y="98"/>
                </a:lnTo>
                <a:quadBezTo>
                  <a:pt x="53498" y="0"/>
                  <a:pt x="55829" y="2469"/>
                </a:quadBezTo>
                <a:quadBezTo>
                  <a:pt x="58298" y="4800"/>
                  <a:pt x="58200" y="8194"/>
                </a:quadBezTo>
                <a:lnTo>
                  <a:pt x="58200" y="48199"/>
                </a:lnTo>
                <a:lnTo>
                  <a:pt x="42008" y="48199"/>
                </a:lnTo>
                <a:lnTo>
                  <a:pt x="42008" y="16290"/>
                </a:lnTo>
                <a:lnTo>
                  <a:pt x="16290" y="16290"/>
                </a:lnTo>
                <a:lnTo>
                  <a:pt x="16290" y="48199"/>
                </a:lnTo>
                <a:lnTo>
                  <a:pt x="98" y="481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"/>
          <p:cNvSpPr txBox="1"/>
          <p:nvPr/>
        </p:nvSpPr>
        <p:spPr>
          <a:xfrm>
            <a:off x="457200" y="69342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今日</a:t>
            </a:r>
          </a:p>
        </p:txBody>
      </p:sp>
      <p:sp>
        <p:nvSpPr>
          <p:cNvPr id="63" name="Rectangle"/>
          <p:cNvSpPr/>
          <p:nvPr/>
        </p:nvSpPr>
        <p:spPr>
          <a:xfrm>
            <a:off x="1038225" y="6715125"/>
            <a:ext cx="977900" cy="381000"/>
          </a:xfrm>
          <a:prstGeom prst="roundRect">
            <a:avLst>
              <a:gd name="adj" fmla="val 32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"/>
          <p:cNvSpPr/>
          <p:nvPr/>
        </p:nvSpPr>
        <p:spPr>
          <a:xfrm>
            <a:off x="1461135" y="6774180"/>
            <a:ext cx="125730" cy="110490"/>
          </a:xfrm>
          <a:prstGeom prst="roundRect">
            <a:avLst>
              <a:gd name="adj" fmla="val 18965"/>
            </a:avLst>
          </a:prstGeom>
          <a:noFill/>
          <a:ln w="16193">
            <a:solidFill>
              <a:srgbClr val="7A736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5" name="Path"/>
          <p:cNvSpPr/>
          <p:nvPr/>
        </p:nvSpPr>
        <p:spPr>
          <a:xfrm>
            <a:off x="1489136" y="6784997"/>
            <a:ext cx="74530" cy="57385"/>
          </a:xfrm>
          <a:custGeom>
            <a:avLst/>
            <a:gdLst/>
            <a:ahLst/>
            <a:cxnLst/>
            <a:rect l="0" t="0" r="r" b="b"/>
            <a:pathLst>
              <a:path w="74530" h="57385">
                <a:moveTo>
                  <a:pt x="13919" y="25368"/>
                </a:moveTo>
                <a:lnTo>
                  <a:pt x="26224" y="37673"/>
                </a:lnTo>
                <a:lnTo>
                  <a:pt x="60505" y="2576"/>
                </a:lnTo>
                <a:quadBezTo>
                  <a:pt x="62806" y="80"/>
                  <a:pt x="66201" y="138"/>
                </a:quadBezTo>
                <a:quadBezTo>
                  <a:pt x="69594" y="0"/>
                  <a:pt x="71954" y="2441"/>
                </a:quadBezTo>
                <a:quadBezTo>
                  <a:pt x="74450" y="4743"/>
                  <a:pt x="74392" y="8138"/>
                </a:quadBezTo>
                <a:quadBezTo>
                  <a:pt x="74530" y="11531"/>
                  <a:pt x="72088" y="13890"/>
                </a:quadBezTo>
                <a:lnTo>
                  <a:pt x="32083" y="54848"/>
                </a:lnTo>
                <a:quadBezTo>
                  <a:pt x="32067" y="54865"/>
                  <a:pt x="32050" y="54882"/>
                </a:quadBezTo>
                <a:quadBezTo>
                  <a:pt x="32033" y="54899"/>
                  <a:pt x="32016" y="54916"/>
                </a:quadBezTo>
                <a:quadBezTo>
                  <a:pt x="29685" y="57385"/>
                  <a:pt x="26291" y="57287"/>
                </a:quadBezTo>
                <a:quadBezTo>
                  <a:pt x="22897" y="57385"/>
                  <a:pt x="20567" y="54916"/>
                </a:quadBezTo>
                <a:lnTo>
                  <a:pt x="2469" y="36818"/>
                </a:lnTo>
                <a:quadBezTo>
                  <a:pt x="0" y="34487"/>
                  <a:pt x="98" y="31093"/>
                </a:quadBezTo>
                <a:quadBezTo>
                  <a:pt x="0" y="27699"/>
                  <a:pt x="2469" y="25368"/>
                </a:quadBezTo>
                <a:quadBezTo>
                  <a:pt x="4800" y="22899"/>
                  <a:pt x="8194" y="22997"/>
                </a:quadBezTo>
                <a:quadBezTo>
                  <a:pt x="11588" y="22899"/>
                  <a:pt x="13919" y="25368"/>
                </a:quadBezTo>
                <a:close/>
              </a:path>
            </a:pathLst>
          </a:custGeom>
          <a:solidFill>
            <a:srgbClr val="7A73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Box"/>
          <p:cNvSpPr txBox="1"/>
          <p:nvPr/>
        </p:nvSpPr>
        <p:spPr>
          <a:xfrm>
            <a:off x="1428750" y="69342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7A736C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67" name="Rectangle"/>
          <p:cNvSpPr/>
          <p:nvPr/>
        </p:nvSpPr>
        <p:spPr>
          <a:xfrm>
            <a:off x="2009775" y="6715125"/>
            <a:ext cx="977900" cy="381000"/>
          </a:xfrm>
          <a:prstGeom prst="roundRect">
            <a:avLst>
              <a:gd name="adj" fmla="val 32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Ellipse"/>
          <p:cNvSpPr/>
          <p:nvPr/>
        </p:nvSpPr>
        <p:spPr>
          <a:xfrm>
            <a:off x="2442210" y="6814185"/>
            <a:ext cx="30480" cy="30480"/>
          </a:xfrm>
          <a:prstGeom prst="ellipse">
            <a:avLst/>
          </a:prstGeom>
          <a:solidFill>
            <a:srgbClr val="7A73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Ellipse"/>
          <p:cNvSpPr/>
          <p:nvPr/>
        </p:nvSpPr>
        <p:spPr>
          <a:xfrm>
            <a:off x="2489835" y="6814185"/>
            <a:ext cx="30480" cy="30480"/>
          </a:xfrm>
          <a:prstGeom prst="ellipse">
            <a:avLst/>
          </a:prstGeom>
          <a:solidFill>
            <a:srgbClr val="7A73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Ellipse"/>
          <p:cNvSpPr/>
          <p:nvPr/>
        </p:nvSpPr>
        <p:spPr>
          <a:xfrm>
            <a:off x="2537460" y="6814185"/>
            <a:ext cx="30480" cy="30480"/>
          </a:xfrm>
          <a:prstGeom prst="ellipse">
            <a:avLst/>
          </a:prstGeom>
          <a:solidFill>
            <a:srgbClr val="7A73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"/>
          <p:cNvSpPr txBox="1"/>
          <p:nvPr/>
        </p:nvSpPr>
        <p:spPr>
          <a:xfrm>
            <a:off x="2409825" y="69342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7A736C"/>
                </a:solidFill>
                <a:latin typeface="Noto Sans SC"/>
                <a:ea typeface="Noto Sans SC"/>
                <a:cs typeface="Noto Sans SC"/>
              </a:rPr>
              <a:t>更多</a:t>
            </a:r>
          </a:p>
        </p:txBody>
      </p:sp>
      <p:sp>
        <p:nvSpPr>
          <p:cNvPr id="72" name="Rectangle"/>
          <p:cNvSpPr/>
          <p:nvPr/>
        </p:nvSpPr>
        <p:spPr>
          <a:xfrm>
            <a:off x="0" y="7124700"/>
            <a:ext cx="3048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"/>
          <p:cNvSpPr/>
          <p:nvPr/>
        </p:nvSpPr>
        <p:spPr>
          <a:xfrm>
            <a:off x="952500" y="72580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211A15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"/>
          <p:cNvSpPr/>
          <p:nvPr/>
        </p:nvSpPr>
        <p:spPr>
          <a:xfrm>
            <a:off x="4763" y="6691313"/>
            <a:ext cx="3038475" cy="733425"/>
          </a:xfrm>
          <a:prstGeom prst="rect">
            <a:avLst/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525500" cy="2398395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42900" y="342900"/>
            <a:ext cx="413023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250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六种题型 · 作答控件与答案契约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342900" y="809625"/>
            <a:ext cx="10047656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仅判断 / 单选 / 多选由系统判分；填空 / 问答 / 专项一律用户自评。所有题型共用同一个判分结果组件，差异只在作答控件与答案呈现。多选无部分给分（漏选/多选/错选均算整题错）。</a:t>
            </a:r>
          </a:p>
        </p:txBody>
      </p:sp>
      <p:sp>
        <p:nvSpPr>
          <p:cNvPr id="5" name="Rectangle"/>
          <p:cNvSpPr/>
          <p:nvPr/>
        </p:nvSpPr>
        <p:spPr>
          <a:xfrm>
            <a:off x="342900" y="1247775"/>
            <a:ext cx="12839700" cy="9525"/>
          </a:xfrm>
          <a:prstGeom prst="rect">
            <a:avLst/>
          </a:prstGeom>
          <a:solidFill>
            <a:srgbClr val="E4DE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342900" y="1485900"/>
            <a:ext cx="4381500" cy="49720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533400" y="1676400"/>
            <a:ext cx="4857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2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判断题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33400" y="1924050"/>
            <a:ext cx="9256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Inter Tight"/>
                <a:ea typeface="Inter Tight"/>
                <a:cs typeface="Inter Tight"/>
              </a:rPr>
              <a:t>true_false · 布尔答案</a:t>
            </a:r>
          </a:p>
        </p:txBody>
      </p:sp>
      <p:sp>
        <p:nvSpPr>
          <p:cNvPr id="9" name="Rectangle"/>
          <p:cNvSpPr/>
          <p:nvPr/>
        </p:nvSpPr>
        <p:spPr>
          <a:xfrm>
            <a:off x="3943350" y="1762125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4029075" y="1809750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14602D"/>
                </a:solidFill>
                <a:latin typeface="Noto Sans SC"/>
                <a:ea typeface="Noto Sans SC"/>
                <a:cs typeface="Noto Sans SC"/>
              </a:rPr>
              <a:t>系统判分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33400" y="220980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生产经营单位的主要负责人对本单位的安全生产工作负有全面责任。（　）</a:t>
            </a:r>
          </a:p>
        </p:txBody>
      </p:sp>
      <p:sp>
        <p:nvSpPr>
          <p:cNvPr id="12" name="Rectangle"/>
          <p:cNvSpPr/>
          <p:nvPr/>
        </p:nvSpPr>
        <p:spPr>
          <a:xfrm>
            <a:off x="533400" y="2838450"/>
            <a:ext cx="19526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"/>
          <p:cNvSpPr/>
          <p:nvPr/>
        </p:nvSpPr>
        <p:spPr>
          <a:xfrm>
            <a:off x="1381125" y="2990850"/>
            <a:ext cx="266700" cy="266700"/>
          </a:xfrm>
          <a:prstGeom prst="ellipse">
            <a:avLst/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1456246" y="3081149"/>
            <a:ext cx="118425" cy="87945"/>
          </a:xfrm>
          <a:custGeom>
            <a:avLst/>
            <a:gdLst/>
            <a:ahLst/>
            <a:cxnLst/>
            <a:rect l="0" t="0" r="r" b="b"/>
            <a:pathLst>
              <a:path w="118425" h="87945">
                <a:moveTo>
                  <a:pt x="18013" y="37548"/>
                </a:moveTo>
                <a:lnTo>
                  <a:pt x="42881" y="62416"/>
                </a:lnTo>
                <a:lnTo>
                  <a:pt x="100244" y="3366"/>
                </a:lnTo>
                <a:quadBezTo>
                  <a:pt x="103213" y="127"/>
                  <a:pt x="107607" y="190"/>
                </a:quadBezTo>
                <a:quadBezTo>
                  <a:pt x="111997" y="0"/>
                  <a:pt x="115060" y="3151"/>
                </a:quadBezTo>
                <a:quadBezTo>
                  <a:pt x="118298" y="6121"/>
                  <a:pt x="118235" y="10515"/>
                </a:quadBezTo>
                <a:quadBezTo>
                  <a:pt x="118425" y="14905"/>
                  <a:pt x="115274" y="17967"/>
                </a:quadBezTo>
                <a:lnTo>
                  <a:pt x="50504" y="84642"/>
                </a:lnTo>
                <a:quadBezTo>
                  <a:pt x="50478" y="84669"/>
                  <a:pt x="50451" y="84696"/>
                </a:quadBezTo>
                <a:quadBezTo>
                  <a:pt x="50424" y="84723"/>
                  <a:pt x="50398" y="84750"/>
                </a:quadBezTo>
                <a:quadBezTo>
                  <a:pt x="47381" y="87945"/>
                  <a:pt x="42989" y="87819"/>
                </a:quadBezTo>
                <a:quadBezTo>
                  <a:pt x="38597" y="87945"/>
                  <a:pt x="35580" y="84750"/>
                </a:quadBezTo>
                <a:lnTo>
                  <a:pt x="3195" y="52365"/>
                </a:lnTo>
                <a:quadBezTo>
                  <a:pt x="0" y="49349"/>
                  <a:pt x="126" y="44956"/>
                </a:quadBezTo>
                <a:quadBezTo>
                  <a:pt x="0" y="40564"/>
                  <a:pt x="3195" y="37548"/>
                </a:quadBezTo>
                <a:quadBezTo>
                  <a:pt x="6212" y="34353"/>
                  <a:pt x="10604" y="34479"/>
                </a:quadBezTo>
                <a:quadBezTo>
                  <a:pt x="14996" y="34353"/>
                  <a:pt x="18013" y="37548"/>
                </a:quadBezTo>
                <a:close/>
              </a:path>
            </a:pathLst>
          </a:custGeom>
          <a:solidFill>
            <a:srgbClr val="8A82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1371600" y="3324225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125">
                <a:solidFill>
                  <a:srgbClr val="57504A"/>
                </a:solidFill>
                <a:latin typeface="Noto Sans SC Bold"/>
                <a:ea typeface="Noto Sans SC Bold"/>
                <a:cs typeface="Noto Sans SC Bold"/>
              </a:rPr>
              <a:t>正确</a:t>
            </a:r>
          </a:p>
        </p:txBody>
      </p:sp>
      <p:sp>
        <p:nvSpPr>
          <p:cNvPr id="16" name="Rectangle"/>
          <p:cNvSpPr/>
          <p:nvPr/>
        </p:nvSpPr>
        <p:spPr>
          <a:xfrm>
            <a:off x="541973" y="2847022"/>
            <a:ext cx="1935480" cy="821055"/>
          </a:xfrm>
          <a:prstGeom prst="roundRect">
            <a:avLst>
              <a:gd name="adj" fmla="val 15197"/>
            </a:avLst>
          </a:prstGeom>
          <a:noFill/>
          <a:ln w="1714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2581275" y="2838450"/>
            <a:ext cx="1952625" cy="838200"/>
          </a:xfrm>
          <a:prstGeom prst="roundRect">
            <a:avLst>
              <a:gd name="adj" fmla="val 15909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3419475" y="29813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ath"/>
          <p:cNvSpPr/>
          <p:nvPr/>
        </p:nvSpPr>
        <p:spPr>
          <a:xfrm>
            <a:off x="3512682" y="3074532"/>
            <a:ext cx="108861" cy="108861"/>
          </a:xfrm>
          <a:custGeom>
            <a:avLst/>
            <a:gdLst/>
            <a:ahLst/>
            <a:cxnLst/>
            <a:rect l="0" t="0" r="r" b="b"/>
            <a:pathLst>
              <a:path w="108861" h="108861">
                <a:moveTo>
                  <a:pt x="105375" y="19650"/>
                </a:moveTo>
                <a:lnTo>
                  <a:pt x="70595" y="54430"/>
                </a:lnTo>
                <a:lnTo>
                  <a:pt x="105375" y="89211"/>
                </a:lnTo>
                <a:quadBezTo>
                  <a:pt x="108861" y="92501"/>
                  <a:pt x="108723" y="97293"/>
                </a:quadBezTo>
                <a:quadBezTo>
                  <a:pt x="108861" y="102084"/>
                  <a:pt x="105375" y="105375"/>
                </a:quadBezTo>
                <a:quadBezTo>
                  <a:pt x="102084" y="108861"/>
                  <a:pt x="97293" y="108723"/>
                </a:quadBezTo>
                <a:quadBezTo>
                  <a:pt x="92501" y="108861"/>
                  <a:pt x="89211" y="105375"/>
                </a:quadBezTo>
                <a:lnTo>
                  <a:pt x="54430" y="70595"/>
                </a:lnTo>
                <a:lnTo>
                  <a:pt x="19650" y="105375"/>
                </a:lnTo>
                <a:quadBezTo>
                  <a:pt x="16360" y="108861"/>
                  <a:pt x="11568" y="108723"/>
                </a:quadBezTo>
                <a:quadBezTo>
                  <a:pt x="6776" y="108861"/>
                  <a:pt x="3486" y="105375"/>
                </a:quadBezTo>
                <a:quadBezTo>
                  <a:pt x="0" y="102084"/>
                  <a:pt x="138" y="97293"/>
                </a:quadBezTo>
                <a:quadBezTo>
                  <a:pt x="0" y="92501"/>
                  <a:pt x="3486" y="89211"/>
                </a:quadBezTo>
                <a:lnTo>
                  <a:pt x="38266" y="54430"/>
                </a:lnTo>
                <a:lnTo>
                  <a:pt x="3486" y="19650"/>
                </a:lnTo>
                <a:quadBezTo>
                  <a:pt x="0" y="16360"/>
                  <a:pt x="138" y="11568"/>
                </a:quadBezTo>
                <a:quadBezTo>
                  <a:pt x="0" y="6776"/>
                  <a:pt x="3486" y="3486"/>
                </a:quadBezTo>
                <a:quadBezTo>
                  <a:pt x="6776" y="0"/>
                  <a:pt x="11568" y="138"/>
                </a:quadBezTo>
                <a:quadBezTo>
                  <a:pt x="16360" y="0"/>
                  <a:pt x="19650" y="3486"/>
                </a:quadBezTo>
                <a:lnTo>
                  <a:pt x="54430" y="38266"/>
                </a:lnTo>
                <a:lnTo>
                  <a:pt x="89211" y="3486"/>
                </a:lnTo>
                <a:quadBezTo>
                  <a:pt x="92501" y="0"/>
                  <a:pt x="97293" y="138"/>
                </a:quadBezTo>
                <a:quadBezTo>
                  <a:pt x="102084" y="0"/>
                  <a:pt x="105375" y="3486"/>
                </a:quadBezTo>
                <a:quadBezTo>
                  <a:pt x="108861" y="6776"/>
                  <a:pt x="108723" y="11568"/>
                </a:quadBezTo>
                <a:quadBezTo>
                  <a:pt x="108861" y="16360"/>
                  <a:pt x="105375" y="1965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3419475" y="3324225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12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错误</a:t>
            </a:r>
          </a:p>
        </p:txBody>
      </p:sp>
      <p:sp>
        <p:nvSpPr>
          <p:cNvPr id="21" name="Rectangle"/>
          <p:cNvSpPr/>
          <p:nvPr/>
        </p:nvSpPr>
        <p:spPr>
          <a:xfrm>
            <a:off x="2589847" y="2847022"/>
            <a:ext cx="1935480" cy="821055"/>
          </a:xfrm>
          <a:prstGeom prst="roundRect">
            <a:avLst>
              <a:gd name="adj" fmla="val 15197"/>
            </a:avLst>
          </a:prstGeom>
          <a:noFill/>
          <a:ln w="17145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533400" y="3810000"/>
            <a:ext cx="4000500" cy="361950"/>
          </a:xfrm>
          <a:prstGeom prst="roundRect">
            <a:avLst>
              <a:gd name="adj" fmla="val 26315"/>
            </a:avLst>
          </a:prstGeom>
          <a:solidFill>
            <a:srgbClr val="FCEB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638013" y="3924138"/>
            <a:ext cx="133122" cy="123597"/>
          </a:xfrm>
          <a:custGeom>
            <a:avLst/>
            <a:gdLst/>
            <a:ahLst/>
            <a:cxnLst/>
            <a:rect l="0" t="0" r="r" b="b"/>
            <a:pathLst>
              <a:path w="133122" h="123597">
                <a:moveTo>
                  <a:pt x="132168" y="112954"/>
                </a:moveTo>
                <a:quadBezTo>
                  <a:pt x="132596" y="113739"/>
                  <a:pt x="132816" y="114606"/>
                </a:quadBezTo>
                <a:quadBezTo>
                  <a:pt x="133037" y="115473"/>
                  <a:pt x="133036" y="116367"/>
                </a:quadBezTo>
                <a:quadBezTo>
                  <a:pt x="133122" y="119362"/>
                  <a:pt x="130944" y="121419"/>
                </a:quadBezTo>
                <a:quadBezTo>
                  <a:pt x="128887" y="123597"/>
                  <a:pt x="125892" y="123511"/>
                </a:quadBezTo>
                <a:lnTo>
                  <a:pt x="7782" y="123511"/>
                </a:lnTo>
                <a:quadBezTo>
                  <a:pt x="6888" y="123512"/>
                  <a:pt x="6021" y="123291"/>
                </a:quadBezTo>
                <a:quadBezTo>
                  <a:pt x="5154" y="123071"/>
                  <a:pt x="4369" y="122643"/>
                </a:quadBezTo>
                <a:quadBezTo>
                  <a:pt x="1697" y="121288"/>
                  <a:pt x="931" y="118391"/>
                </a:quadBezTo>
                <a:quadBezTo>
                  <a:pt x="0" y="115544"/>
                  <a:pt x="1507" y="112954"/>
                </a:quadBezTo>
                <a:lnTo>
                  <a:pt x="60562" y="4369"/>
                </a:lnTo>
                <a:quadBezTo>
                  <a:pt x="61054" y="3460"/>
                  <a:pt x="61786" y="2731"/>
                </a:quadBezTo>
                <a:quadBezTo>
                  <a:pt x="62515" y="1999"/>
                  <a:pt x="63424" y="1507"/>
                </a:quadBezTo>
                <a:quadBezTo>
                  <a:pt x="66014" y="0"/>
                  <a:pt x="68861" y="931"/>
                </a:quadBezTo>
                <a:quadBezTo>
                  <a:pt x="71758" y="1697"/>
                  <a:pt x="73113" y="4369"/>
                </a:quadBezTo>
                <a:lnTo>
                  <a:pt x="132168" y="112954"/>
                </a:lnTo>
                <a:close/>
                <a:moveTo>
                  <a:pt x="66837" y="22734"/>
                </a:moveTo>
                <a:lnTo>
                  <a:pt x="19799" y="109223"/>
                </a:lnTo>
                <a:lnTo>
                  <a:pt x="113875" y="109223"/>
                </a:lnTo>
                <a:lnTo>
                  <a:pt x="66837" y="22734"/>
                </a:lnTo>
                <a:close/>
              </a:path>
            </a:pathLst>
          </a:custGeom>
          <a:solidFill>
            <a:srgbClr val="A322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697620" y="3968505"/>
            <a:ext cx="14460" cy="69705"/>
          </a:xfrm>
          <a:custGeom>
            <a:avLst/>
            <a:gdLst/>
            <a:ahLst/>
            <a:cxnLst/>
            <a:rect l="0" t="0" r="r" b="b"/>
            <a:pathLst>
              <a:path w="14460" h="69705">
                <a:moveTo>
                  <a:pt x="14374" y="7230"/>
                </a:moveTo>
                <a:lnTo>
                  <a:pt x="14374" y="37710"/>
                </a:lnTo>
                <a:quadBezTo>
                  <a:pt x="14460" y="40705"/>
                  <a:pt x="12281" y="42761"/>
                </a:quadBezTo>
                <a:quadBezTo>
                  <a:pt x="10225" y="44940"/>
                  <a:pt x="7230" y="44854"/>
                </a:quadBezTo>
                <a:quadBezTo>
                  <a:pt x="4235" y="44940"/>
                  <a:pt x="2179" y="42761"/>
                </a:quadBezTo>
                <a:quadBezTo>
                  <a:pt x="0" y="40705"/>
                  <a:pt x="86" y="37710"/>
                </a:quadBezTo>
                <a:lnTo>
                  <a:pt x="86" y="7230"/>
                </a:ln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quadBezTo>
                  <a:pt x="14460" y="4235"/>
                  <a:pt x="14374" y="7230"/>
                </a:quadBezTo>
                <a:close/>
                <a:moveTo>
                  <a:pt x="14374" y="56760"/>
                </a:moveTo>
                <a:lnTo>
                  <a:pt x="14374" y="62475"/>
                </a:lnTo>
                <a:quadBezTo>
                  <a:pt x="14460" y="65470"/>
                  <a:pt x="12281" y="67526"/>
                </a:quadBezTo>
                <a:quadBezTo>
                  <a:pt x="10225" y="69705"/>
                  <a:pt x="7230" y="69619"/>
                </a:quadBezTo>
                <a:quadBezTo>
                  <a:pt x="4235" y="69705"/>
                  <a:pt x="2179" y="67526"/>
                </a:quadBezTo>
                <a:quadBezTo>
                  <a:pt x="0" y="65470"/>
                  <a:pt x="86" y="62475"/>
                </a:quadBezTo>
                <a:lnTo>
                  <a:pt x="86" y="56760"/>
                </a:lnTo>
                <a:quadBezTo>
                  <a:pt x="0" y="53765"/>
                  <a:pt x="2179" y="51709"/>
                </a:quadBezTo>
                <a:quadBezTo>
                  <a:pt x="4235" y="49530"/>
                  <a:pt x="7230" y="49616"/>
                </a:quadBezTo>
                <a:quadBezTo>
                  <a:pt x="10225" y="49530"/>
                  <a:pt x="12281" y="51709"/>
                </a:quadBezTo>
                <a:quadBezTo>
                  <a:pt x="14460" y="53765"/>
                  <a:pt x="14374" y="56760"/>
                </a:quadBezTo>
                <a:close/>
              </a:path>
            </a:pathLst>
          </a:custGeom>
          <a:solidFill>
            <a:srgbClr val="A322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857250" y="3905250"/>
            <a:ext cx="18288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A3221C"/>
                </a:solidFill>
                <a:latin typeface="Noto Sans SC"/>
                <a:ea typeface="Noto Sans SC"/>
                <a:cs typeface="Noto Sans SC"/>
              </a:rPr>
              <a:t>未作答直接提交按判错处理，不送分</a:t>
            </a:r>
          </a:p>
        </p:txBody>
      </p:sp>
      <p:sp>
        <p:nvSpPr>
          <p:cNvPr id="26" name="Rectangle"/>
          <p:cNvSpPr/>
          <p:nvPr/>
        </p:nvSpPr>
        <p:spPr>
          <a:xfrm>
            <a:off x="533400" y="4305300"/>
            <a:ext cx="4000500" cy="904875"/>
          </a:xfrm>
          <a:prstGeom prst="roundRect">
            <a:avLst>
              <a:gd name="adj" fmla="val 12631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657225" y="4429125"/>
            <a:ext cx="533400" cy="20955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733425" y="44672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正确答案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266825" y="4429125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125">
                <a:solidFill>
                  <a:srgbClr val="1E7A3C"/>
                </a:solidFill>
                <a:latin typeface="Noto Sans SC Bold"/>
                <a:ea typeface="Noto Sans SC Bold"/>
                <a:cs typeface="Noto Sans SC Bold"/>
              </a:rPr>
              <a:t>错误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657225" y="470535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解析：主要负责人对安全生产工作负全面责任是《安全生产法》第五条的规定，本题表述与法条一致，故为错误。</a:t>
            </a:r>
          </a:p>
        </p:txBody>
      </p:sp>
      <p:sp>
        <p:nvSpPr>
          <p:cNvPr id="31" name="Rectangle"/>
          <p:cNvSpPr/>
          <p:nvPr/>
        </p:nvSpPr>
        <p:spPr>
          <a:xfrm>
            <a:off x="533400" y="5343525"/>
            <a:ext cx="4000500" cy="923925"/>
          </a:xfrm>
          <a:prstGeom prst="roundRect">
            <a:avLst>
              <a:gd name="adj" fmla="val 10309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638175" y="54483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57504A"/>
                </a:solidFill>
                <a:latin typeface="Noto Sans SC Bold"/>
                <a:ea typeface="Noto Sans SC Bold"/>
                <a:cs typeface="Noto Sans SC Bold"/>
              </a:rPr>
              <a:t>开发要点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638175" y="5648325"/>
            <a:ext cx="37909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用两个大按钮，不用开关（开关暗示状态，作答是动作）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答案布尔直接比较，不做模糊匹配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解析可选，题库未提供时隐藏该区</a:t>
            </a:r>
          </a:p>
        </p:txBody>
      </p:sp>
      <p:sp>
        <p:nvSpPr>
          <p:cNvPr id="34" name="Rectangle"/>
          <p:cNvSpPr/>
          <p:nvPr/>
        </p:nvSpPr>
        <p:spPr>
          <a:xfrm>
            <a:off x="347663" y="1490663"/>
            <a:ext cx="4371975" cy="4962525"/>
          </a:xfrm>
          <a:prstGeom prst="roundRect">
            <a:avLst>
              <a:gd name="adj" fmla="val 3376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4914900" y="1485900"/>
            <a:ext cx="4381500" cy="53054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5105400" y="1676400"/>
            <a:ext cx="4857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2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单选题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5105400" y="1924050"/>
            <a:ext cx="11996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Inter Tight"/>
                <a:ea typeface="Inter Tight"/>
                <a:cs typeface="Inter Tight"/>
              </a:rPr>
              <a:t>single_choice · 单个选项键</a:t>
            </a:r>
          </a:p>
        </p:txBody>
      </p:sp>
      <p:sp>
        <p:nvSpPr>
          <p:cNvPr id="38" name="Rectangle"/>
          <p:cNvSpPr/>
          <p:nvPr/>
        </p:nvSpPr>
        <p:spPr>
          <a:xfrm>
            <a:off x="8515350" y="1762125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8601075" y="1809750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14602D"/>
                </a:solidFill>
                <a:latin typeface="Noto Sans SC"/>
                <a:ea typeface="Noto Sans SC"/>
                <a:cs typeface="Noto Sans SC"/>
              </a:rPr>
              <a:t>系统判分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5105400" y="220980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根据《安全生产法》，生产经营单位的安全生产管理机构应当具备下列哪一项职能？</a:t>
            </a:r>
          </a:p>
        </p:txBody>
      </p:sp>
      <p:sp>
        <p:nvSpPr>
          <p:cNvPr id="41" name="Rectangle"/>
          <p:cNvSpPr/>
          <p:nvPr/>
        </p:nvSpPr>
        <p:spPr>
          <a:xfrm>
            <a:off x="5105400" y="2838450"/>
            <a:ext cx="4000500" cy="447675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5219700" y="2962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"/>
          <p:cNvSpPr/>
          <p:nvPr/>
        </p:nvSpPr>
        <p:spPr>
          <a:xfrm>
            <a:off x="5227796" y="2970371"/>
            <a:ext cx="193357" cy="193357"/>
          </a:xfrm>
          <a:prstGeom prst="roundRect">
            <a:avLst>
              <a:gd name="adj" fmla="val 50000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5534025" y="2952750"/>
            <a:ext cx="20002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组织安全生产责任制落实情况检查</a:t>
            </a:r>
          </a:p>
        </p:txBody>
      </p:sp>
      <p:sp>
        <p:nvSpPr>
          <p:cNvPr id="45" name="Rectangle"/>
          <p:cNvSpPr/>
          <p:nvPr/>
        </p:nvSpPr>
        <p:spPr>
          <a:xfrm>
            <a:off x="5112544" y="2845594"/>
            <a:ext cx="3986213" cy="433388"/>
          </a:xfrm>
          <a:prstGeom prst="roundRect">
            <a:avLst>
              <a:gd name="adj" fmla="val 24725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5105400" y="3362325"/>
            <a:ext cx="4000500" cy="447675"/>
          </a:xfrm>
          <a:prstGeom prst="roundRect">
            <a:avLst>
              <a:gd name="adj" fmla="val 25531"/>
            </a:avLst>
          </a:prstGeom>
          <a:solidFill>
            <a:srgbClr val="FBF1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5219700" y="34861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Ellipse"/>
          <p:cNvSpPr/>
          <p:nvPr/>
        </p:nvSpPr>
        <p:spPr>
          <a:xfrm>
            <a:off x="5276850" y="3543300"/>
            <a:ext cx="87630" cy="8763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"/>
          <p:cNvSpPr/>
          <p:nvPr/>
        </p:nvSpPr>
        <p:spPr>
          <a:xfrm>
            <a:off x="5227796" y="3494246"/>
            <a:ext cx="193357" cy="193357"/>
          </a:xfrm>
          <a:prstGeom prst="roundRect">
            <a:avLst>
              <a:gd name="adj" fmla="val 50000"/>
            </a:avLst>
          </a:prstGeom>
          <a:noFill/>
          <a:ln w="16193">
            <a:solidFill>
              <a:srgbClr val="B45309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5534025" y="34766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组织员工安全生产教育和培训</a:t>
            </a:r>
          </a:p>
        </p:txBody>
      </p:sp>
      <p:sp>
        <p:nvSpPr>
          <p:cNvPr id="51" name="Rectangle"/>
          <p:cNvSpPr/>
          <p:nvPr/>
        </p:nvSpPr>
        <p:spPr>
          <a:xfrm>
            <a:off x="5112544" y="3369469"/>
            <a:ext cx="3986213" cy="433388"/>
          </a:xfrm>
          <a:prstGeom prst="roundRect">
            <a:avLst>
              <a:gd name="adj" fmla="val 24725"/>
            </a:avLst>
          </a:prstGeom>
          <a:noFill/>
          <a:ln w="14288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"/>
          <p:cNvSpPr/>
          <p:nvPr/>
        </p:nvSpPr>
        <p:spPr>
          <a:xfrm>
            <a:off x="5105400" y="3886200"/>
            <a:ext cx="4000500" cy="447675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5219700" y="4010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"/>
          <p:cNvSpPr/>
          <p:nvPr/>
        </p:nvSpPr>
        <p:spPr>
          <a:xfrm>
            <a:off x="5227796" y="4018121"/>
            <a:ext cx="193357" cy="193357"/>
          </a:xfrm>
          <a:prstGeom prst="roundRect">
            <a:avLst>
              <a:gd name="adj" fmla="val 50000"/>
            </a:avLst>
          </a:prstGeom>
          <a:noFill/>
          <a:ln w="16193">
            <a:solidFill>
              <a:srgbClr val="C7BFB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"/>
          <p:cNvSpPr txBox="1"/>
          <p:nvPr/>
        </p:nvSpPr>
        <p:spPr>
          <a:xfrm>
            <a:off x="5534025" y="4000500"/>
            <a:ext cx="21336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对发生的生产安全事故进行调查处理</a:t>
            </a:r>
          </a:p>
        </p:txBody>
      </p:sp>
      <p:sp>
        <p:nvSpPr>
          <p:cNvPr id="56" name="Rectangle"/>
          <p:cNvSpPr/>
          <p:nvPr/>
        </p:nvSpPr>
        <p:spPr>
          <a:xfrm>
            <a:off x="5112544" y="3893344"/>
            <a:ext cx="3986213" cy="433388"/>
          </a:xfrm>
          <a:prstGeom prst="roundRect">
            <a:avLst>
              <a:gd name="adj" fmla="val 24725"/>
            </a:avLst>
          </a:prstGeom>
          <a:noFill/>
          <a:ln w="14288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"/>
          <p:cNvSpPr/>
          <p:nvPr/>
        </p:nvSpPr>
        <p:spPr>
          <a:xfrm>
            <a:off x="5105400" y="4467225"/>
            <a:ext cx="4000500" cy="904875"/>
          </a:xfrm>
          <a:prstGeom prst="roundRect">
            <a:avLst>
              <a:gd name="adj" fmla="val 12631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"/>
          <p:cNvSpPr/>
          <p:nvPr/>
        </p:nvSpPr>
        <p:spPr>
          <a:xfrm>
            <a:off x="5229225" y="4591050"/>
            <a:ext cx="533400" cy="20955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"/>
          <p:cNvSpPr txBox="1"/>
          <p:nvPr/>
        </p:nvSpPr>
        <p:spPr>
          <a:xfrm>
            <a:off x="5305425" y="46291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正确答案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5838825" y="4591050"/>
            <a:ext cx="88599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en-US" sz="1125">
                <a:solidFill>
                  <a:srgbClr val="1E7A3C"/>
                </a:solidFill>
                <a:latin typeface="Inter Tight Bold"/>
                <a:ea typeface="Inter Tight Bold"/>
                <a:cs typeface="Inter Tight Bold"/>
              </a:rPr>
              <a:t>B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5229225" y="4867275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生产经营单位应当建立全员安全生产责任制，并应当对从业人员进行安全生产教育和培训，保证从业人员具备必要的安全生产知识。</a:t>
            </a:r>
          </a:p>
        </p:txBody>
      </p:sp>
      <p:sp>
        <p:nvSpPr>
          <p:cNvPr id="62" name="Rectangle"/>
          <p:cNvSpPr/>
          <p:nvPr/>
        </p:nvSpPr>
        <p:spPr>
          <a:xfrm>
            <a:off x="5105400" y="5505450"/>
            <a:ext cx="4000500" cy="1095375"/>
          </a:xfrm>
          <a:prstGeom prst="roundRect">
            <a:avLst>
              <a:gd name="adj" fmla="val 8695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5210175" y="561022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57504A"/>
                </a:solidFill>
                <a:latin typeface="Noto Sans SC Bold"/>
                <a:ea typeface="Noto Sans SC Bold"/>
                <a:cs typeface="Noto Sans SC Bold"/>
              </a:rPr>
              <a:t>开发要点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5210175" y="5810250"/>
            <a:ext cx="37909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圆形单选点，区别于多选的方形勾选框（形状即语义）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选中后自动提交，或由用户点提交；未选不提交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选项键固定大写 A–Z，最多 26 个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答案形状异常时按空集处理，永远判错但不崩溃</a:t>
            </a:r>
          </a:p>
        </p:txBody>
      </p:sp>
      <p:sp>
        <p:nvSpPr>
          <p:cNvPr id="65" name="Rectangle"/>
          <p:cNvSpPr/>
          <p:nvPr/>
        </p:nvSpPr>
        <p:spPr>
          <a:xfrm>
            <a:off x="4919663" y="1490663"/>
            <a:ext cx="4371975" cy="5295900"/>
          </a:xfrm>
          <a:prstGeom prst="roundRect">
            <a:avLst>
              <a:gd name="adj" fmla="val 3376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"/>
          <p:cNvSpPr/>
          <p:nvPr/>
        </p:nvSpPr>
        <p:spPr>
          <a:xfrm>
            <a:off x="342900" y="6981825"/>
            <a:ext cx="4381500" cy="66675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533400" y="7172325"/>
            <a:ext cx="4857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2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填空题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533400" y="7419975"/>
            <a:ext cx="13972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Inter Tight"/>
                <a:ea typeface="Inter Tight"/>
                <a:cs typeface="Inter Tight"/>
              </a:rPr>
              <a:t>fill_blank · 若干空，每空一答案</a:t>
            </a:r>
          </a:p>
        </p:txBody>
      </p:sp>
      <p:sp>
        <p:nvSpPr>
          <p:cNvPr id="69" name="Rectangle"/>
          <p:cNvSpPr/>
          <p:nvPr/>
        </p:nvSpPr>
        <p:spPr>
          <a:xfrm>
            <a:off x="3943350" y="7258050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Box"/>
          <p:cNvSpPr txBox="1"/>
          <p:nvPr/>
        </p:nvSpPr>
        <p:spPr>
          <a:xfrm>
            <a:off x="4029075" y="730567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1B4A99"/>
                </a:solidFill>
                <a:latin typeface="Noto Sans SC"/>
                <a:ea typeface="Noto Sans SC"/>
                <a:cs typeface="Noto Sans SC"/>
              </a:rPr>
              <a:t>用户自评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533400" y="7705725"/>
            <a:ext cx="40005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生产经营单位应当对从业人员进行安全生产教育和培训，保证从业人员具备必要的__________，熟悉有关的安全生产规章制度。</a:t>
            </a:r>
          </a:p>
        </p:txBody>
      </p:sp>
      <p:sp>
        <p:nvSpPr>
          <p:cNvPr id="72" name="Rectangle"/>
          <p:cNvSpPr/>
          <p:nvPr/>
        </p:nvSpPr>
        <p:spPr>
          <a:xfrm>
            <a:off x="533400" y="8582025"/>
            <a:ext cx="4000500" cy="457200"/>
          </a:xfrm>
          <a:prstGeom prst="roundRect">
            <a:avLst>
              <a:gd name="adj" fmla="val 20833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"/>
          <p:cNvSpPr/>
          <p:nvPr/>
        </p:nvSpPr>
        <p:spPr>
          <a:xfrm>
            <a:off x="647700" y="8705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Box"/>
          <p:cNvSpPr txBox="1"/>
          <p:nvPr/>
        </p:nvSpPr>
        <p:spPr>
          <a:xfrm>
            <a:off x="733425" y="8743950"/>
            <a:ext cx="40314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825">
                <a:solidFill>
                  <a:srgbClr val="FFFFFF"/>
                </a:solidFill>
                <a:latin typeface="Inter Tight Bold"/>
                <a:ea typeface="Inter Tight Bold"/>
                <a:cs typeface="Inter Tight Bold"/>
              </a:rPr>
              <a:t>1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952500" y="8705850"/>
            <a:ext cx="8001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安全生产知识</a:t>
            </a:r>
          </a:p>
        </p:txBody>
      </p:sp>
      <p:sp>
        <p:nvSpPr>
          <p:cNvPr id="76" name="Rectangle"/>
          <p:cNvSpPr/>
          <p:nvPr/>
        </p:nvSpPr>
        <p:spPr>
          <a:xfrm>
            <a:off x="540544" y="8589169"/>
            <a:ext cx="3986213" cy="442913"/>
          </a:xfrm>
          <a:prstGeom prst="roundRect">
            <a:avLst>
              <a:gd name="adj" fmla="val 19892"/>
            </a:avLst>
          </a:prstGeom>
          <a:noFill/>
          <a:ln w="14288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"/>
          <p:cNvSpPr/>
          <p:nvPr/>
        </p:nvSpPr>
        <p:spPr>
          <a:xfrm>
            <a:off x="533400" y="9124950"/>
            <a:ext cx="400050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"/>
          <p:cNvSpPr/>
          <p:nvPr/>
        </p:nvSpPr>
        <p:spPr>
          <a:xfrm>
            <a:off x="647700" y="92487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"/>
          <p:cNvSpPr txBox="1"/>
          <p:nvPr/>
        </p:nvSpPr>
        <p:spPr>
          <a:xfrm>
            <a:off x="723900" y="9286875"/>
            <a:ext cx="6123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825">
                <a:solidFill>
                  <a:srgbClr val="FFFFFF"/>
                </a:solidFill>
                <a:latin typeface="Inter Tight Bold"/>
                <a:ea typeface="Inter Tight Bold"/>
                <a:cs typeface="Inter Tight Bold"/>
              </a:rPr>
              <a:t>2</a:t>
            </a:r>
          </a:p>
        </p:txBody>
      </p:sp>
      <p:sp>
        <p:nvSpPr>
          <p:cNvPr id="80" name="TextBox"/>
          <p:cNvSpPr txBox="1"/>
          <p:nvPr/>
        </p:nvSpPr>
        <p:spPr>
          <a:xfrm>
            <a:off x="952500" y="9248775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请输入…</a:t>
            </a:r>
          </a:p>
        </p:txBody>
      </p:sp>
      <p:sp>
        <p:nvSpPr>
          <p:cNvPr id="81" name="Rectangle"/>
          <p:cNvSpPr/>
          <p:nvPr/>
        </p:nvSpPr>
        <p:spPr>
          <a:xfrm>
            <a:off x="542925" y="9134475"/>
            <a:ext cx="3981450" cy="438150"/>
          </a:xfrm>
          <a:prstGeom prst="roundRect">
            <a:avLst>
              <a:gd name="adj" fmla="val 19565"/>
            </a:avLst>
          </a:prstGeom>
          <a:noFill/>
          <a:ln w="19050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"/>
          <p:cNvSpPr/>
          <p:nvPr/>
        </p:nvSpPr>
        <p:spPr>
          <a:xfrm>
            <a:off x="533400" y="9667875"/>
            <a:ext cx="400050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"/>
          <p:cNvSpPr/>
          <p:nvPr/>
        </p:nvSpPr>
        <p:spPr>
          <a:xfrm>
            <a:off x="647700" y="97917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4DE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Box"/>
          <p:cNvSpPr txBox="1"/>
          <p:nvPr/>
        </p:nvSpPr>
        <p:spPr>
          <a:xfrm>
            <a:off x="723900" y="9829800"/>
            <a:ext cx="6435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825">
                <a:solidFill>
                  <a:srgbClr val="6F6862"/>
                </a:solidFill>
                <a:latin typeface="Inter Tight Bold"/>
                <a:ea typeface="Inter Tight Bold"/>
                <a:cs typeface="Inter Tight Bold"/>
              </a:rPr>
              <a:t>3</a:t>
            </a:r>
          </a:p>
        </p:txBody>
      </p:sp>
      <p:sp>
        <p:nvSpPr>
          <p:cNvPr id="85" name="TextBox"/>
          <p:cNvSpPr txBox="1"/>
          <p:nvPr/>
        </p:nvSpPr>
        <p:spPr>
          <a:xfrm>
            <a:off x="952500" y="97917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请输入…</a:t>
            </a:r>
          </a:p>
        </p:txBody>
      </p:sp>
      <p:sp>
        <p:nvSpPr>
          <p:cNvPr id="86" name="Rectangle"/>
          <p:cNvSpPr/>
          <p:nvPr/>
        </p:nvSpPr>
        <p:spPr>
          <a:xfrm>
            <a:off x="540544" y="9675019"/>
            <a:ext cx="3986213" cy="442913"/>
          </a:xfrm>
          <a:prstGeom prst="roundRect">
            <a:avLst>
              <a:gd name="adj" fmla="val 19892"/>
            </a:avLst>
          </a:prstGeom>
          <a:noFill/>
          <a:ln w="14288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"/>
          <p:cNvSpPr/>
          <p:nvPr/>
        </p:nvSpPr>
        <p:spPr>
          <a:xfrm>
            <a:off x="533400" y="10258425"/>
            <a:ext cx="628650" cy="3429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"/>
          <p:cNvSpPr txBox="1"/>
          <p:nvPr/>
        </p:nvSpPr>
        <p:spPr>
          <a:xfrm>
            <a:off x="666750" y="10353675"/>
            <a:ext cx="342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上一空</a:t>
            </a:r>
          </a:p>
        </p:txBody>
      </p:sp>
      <p:sp>
        <p:nvSpPr>
          <p:cNvPr id="89" name="TextBox"/>
          <p:cNvSpPr txBox="1"/>
          <p:nvPr/>
        </p:nvSpPr>
        <p:spPr>
          <a:xfrm>
            <a:off x="3648075" y="10353675"/>
            <a:ext cx="88576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75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共 3 空 · 已填 1 空</a:t>
            </a:r>
          </a:p>
        </p:txBody>
      </p:sp>
      <p:sp>
        <p:nvSpPr>
          <p:cNvPr id="90" name="Rectangle"/>
          <p:cNvSpPr/>
          <p:nvPr/>
        </p:nvSpPr>
        <p:spPr>
          <a:xfrm>
            <a:off x="533400" y="10734675"/>
            <a:ext cx="4000500" cy="1152525"/>
          </a:xfrm>
          <a:prstGeom prst="roundRect">
            <a:avLst>
              <a:gd name="adj" fmla="val 9917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"/>
          <p:cNvSpPr txBox="1"/>
          <p:nvPr/>
        </p:nvSpPr>
        <p:spPr>
          <a:xfrm>
            <a:off x="657225" y="108585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参考答案</a:t>
            </a:r>
          </a:p>
        </p:txBody>
      </p:sp>
      <p:sp>
        <p:nvSpPr>
          <p:cNvPr id="92" name="Rectangle"/>
          <p:cNvSpPr/>
          <p:nvPr/>
        </p:nvSpPr>
        <p:spPr>
          <a:xfrm>
            <a:off x="657225" y="110775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Box"/>
          <p:cNvSpPr txBox="1"/>
          <p:nvPr/>
        </p:nvSpPr>
        <p:spPr>
          <a:xfrm>
            <a:off x="733425" y="11115675"/>
            <a:ext cx="36649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975"/>
              </a:lnSpc>
            </a:pPr>
            <a:r>
              <a:rPr lang="en-US" sz="750">
                <a:solidFill>
                  <a:srgbClr val="14602D"/>
                </a:solidFill>
                <a:latin typeface="Inter Tight Bold"/>
                <a:ea typeface="Inter Tight Bold"/>
                <a:cs typeface="Inter Tight Bold"/>
              </a:rPr>
              <a:t>1</a:t>
            </a:r>
          </a:p>
        </p:txBody>
      </p:sp>
      <p:sp>
        <p:nvSpPr>
          <p:cNvPr id="94" name="TextBox"/>
          <p:cNvSpPr txBox="1"/>
          <p:nvPr/>
        </p:nvSpPr>
        <p:spPr>
          <a:xfrm>
            <a:off x="923925" y="11077575"/>
            <a:ext cx="7429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安全生产知识</a:t>
            </a:r>
          </a:p>
        </p:txBody>
      </p:sp>
      <p:sp>
        <p:nvSpPr>
          <p:cNvPr id="95" name="Rectangle"/>
          <p:cNvSpPr/>
          <p:nvPr/>
        </p:nvSpPr>
        <p:spPr>
          <a:xfrm>
            <a:off x="657225" y="1132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"/>
          <p:cNvSpPr txBox="1"/>
          <p:nvPr/>
        </p:nvSpPr>
        <p:spPr>
          <a:xfrm>
            <a:off x="723900" y="11363325"/>
            <a:ext cx="55671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975"/>
              </a:lnSpc>
            </a:pPr>
            <a:r>
              <a:rPr lang="en-US" sz="750">
                <a:solidFill>
                  <a:srgbClr val="14602D"/>
                </a:solidFill>
                <a:latin typeface="Inter Tight Bold"/>
                <a:ea typeface="Inter Tight Bold"/>
                <a:cs typeface="Inter Tight Bold"/>
              </a:rPr>
              <a:t>2</a:t>
            </a:r>
          </a:p>
        </p:txBody>
      </p:sp>
      <p:sp>
        <p:nvSpPr>
          <p:cNvPr id="97" name="TextBox"/>
          <p:cNvSpPr txBox="1"/>
          <p:nvPr/>
        </p:nvSpPr>
        <p:spPr>
          <a:xfrm>
            <a:off x="923925" y="11325225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安全生产操作规程</a:t>
            </a:r>
          </a:p>
        </p:txBody>
      </p:sp>
      <p:sp>
        <p:nvSpPr>
          <p:cNvPr id="98" name="Rectangle"/>
          <p:cNvSpPr/>
          <p:nvPr/>
        </p:nvSpPr>
        <p:spPr>
          <a:xfrm>
            <a:off x="657225" y="115728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Box"/>
          <p:cNvSpPr txBox="1"/>
          <p:nvPr/>
        </p:nvSpPr>
        <p:spPr>
          <a:xfrm>
            <a:off x="723900" y="11610975"/>
            <a:ext cx="58508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975"/>
              </a:lnSpc>
            </a:pPr>
            <a:r>
              <a:rPr lang="en-US" sz="750">
                <a:solidFill>
                  <a:srgbClr val="14602D"/>
                </a:solidFill>
                <a:latin typeface="Inter Tight Bold"/>
                <a:ea typeface="Inter Tight Bold"/>
                <a:cs typeface="Inter Tight Bold"/>
              </a:rPr>
              <a:t>3</a:t>
            </a:r>
          </a:p>
        </p:txBody>
      </p:sp>
      <p:sp>
        <p:nvSpPr>
          <p:cNvPr id="100" name="TextBox"/>
          <p:cNvSpPr txBox="1"/>
          <p:nvPr/>
        </p:nvSpPr>
        <p:spPr>
          <a:xfrm>
            <a:off x="923925" y="11572875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本岗位的安全操作技能</a:t>
            </a:r>
          </a:p>
        </p:txBody>
      </p:sp>
      <p:sp>
        <p:nvSpPr>
          <p:cNvPr id="101" name="Rectangle"/>
          <p:cNvSpPr/>
          <p:nvPr/>
        </p:nvSpPr>
        <p:spPr>
          <a:xfrm>
            <a:off x="533400" y="12020550"/>
            <a:ext cx="4000500" cy="1438275"/>
          </a:xfrm>
          <a:prstGeom prst="roundRect">
            <a:avLst>
              <a:gd name="adj" fmla="val 6622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"/>
          <p:cNvSpPr txBox="1"/>
          <p:nvPr/>
        </p:nvSpPr>
        <p:spPr>
          <a:xfrm>
            <a:off x="638175" y="12125325"/>
            <a:ext cx="11525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1B4A99"/>
                </a:solidFill>
                <a:latin typeface="Noto Sans SC Bold"/>
                <a:ea typeface="Noto Sans SC Bold"/>
                <a:cs typeface="Noto Sans SC Bold"/>
              </a:rPr>
              <a:t>设计决策：改为逐空输入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638175" y="12325350"/>
            <a:ext cx="379095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放弃「单输入 + 手写竖线分隔」：分隔符不参与判分，只靠用户手动约定，输错无从校验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逐空输入让每空独立可定位，序号显式，对照参考答案时更准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兼容：题库里的 | 分隔符仅在导入时拆分为逐空答案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判分仍为用户自评——没有逐空判分，也没有文本比对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键盘「上一空/下一空」在移动端改为点击序号或输入框</a:t>
            </a:r>
          </a:p>
        </p:txBody>
      </p:sp>
      <p:sp>
        <p:nvSpPr>
          <p:cNvPr id="104" name="Rectangle"/>
          <p:cNvSpPr/>
          <p:nvPr/>
        </p:nvSpPr>
        <p:spPr>
          <a:xfrm>
            <a:off x="347663" y="6986588"/>
            <a:ext cx="4371975" cy="6657975"/>
          </a:xfrm>
          <a:prstGeom prst="roundRect">
            <a:avLst>
              <a:gd name="adj" fmla="val 3376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"/>
          <p:cNvSpPr/>
          <p:nvPr/>
        </p:nvSpPr>
        <p:spPr>
          <a:xfrm>
            <a:off x="4914900" y="6981825"/>
            <a:ext cx="4381500" cy="608647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"/>
          <p:cNvSpPr txBox="1"/>
          <p:nvPr/>
        </p:nvSpPr>
        <p:spPr>
          <a:xfrm>
            <a:off x="5105400" y="7172325"/>
            <a:ext cx="4857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2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问答题</a:t>
            </a:r>
          </a:p>
        </p:txBody>
      </p:sp>
      <p:sp>
        <p:nvSpPr>
          <p:cNvPr id="107" name="TextBox"/>
          <p:cNvSpPr txBox="1"/>
          <p:nvPr/>
        </p:nvSpPr>
        <p:spPr>
          <a:xfrm>
            <a:off x="5105400" y="7419975"/>
            <a:ext cx="9637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Inter Tight"/>
                <a:ea typeface="Inter Tight"/>
                <a:cs typeface="Inter Tight"/>
              </a:rPr>
              <a:t>essay · 一段参考文本</a:t>
            </a:r>
          </a:p>
        </p:txBody>
      </p:sp>
      <p:sp>
        <p:nvSpPr>
          <p:cNvPr id="108" name="Rectangle"/>
          <p:cNvSpPr/>
          <p:nvPr/>
        </p:nvSpPr>
        <p:spPr>
          <a:xfrm>
            <a:off x="8515350" y="7258050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Box"/>
          <p:cNvSpPr txBox="1"/>
          <p:nvPr/>
        </p:nvSpPr>
        <p:spPr>
          <a:xfrm>
            <a:off x="8601075" y="730567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1B4A99"/>
                </a:solidFill>
                <a:latin typeface="Noto Sans SC"/>
                <a:ea typeface="Noto Sans SC"/>
                <a:cs typeface="Noto Sans SC"/>
              </a:rPr>
              <a:t>用户自评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5105400" y="770572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95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简述生产经营单位安全生产管理的基本职责。</a:t>
            </a:r>
          </a:p>
        </p:txBody>
      </p:sp>
      <p:sp>
        <p:nvSpPr>
          <p:cNvPr id="111" name="Rectangle"/>
          <p:cNvSpPr/>
          <p:nvPr/>
        </p:nvSpPr>
        <p:spPr>
          <a:xfrm>
            <a:off x="5105400" y="8086725"/>
            <a:ext cx="4000500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"/>
          <p:cNvSpPr txBox="1"/>
          <p:nvPr/>
        </p:nvSpPr>
        <p:spPr>
          <a:xfrm>
            <a:off x="5219700" y="8201025"/>
            <a:ext cx="37338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725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建立健全安全生产责任制；组织安全生产教育和培训；保证安全生产投入；开展隐患排查治理；组织应急演练。</a:t>
            </a:r>
          </a:p>
        </p:txBody>
      </p:sp>
      <p:sp>
        <p:nvSpPr>
          <p:cNvPr id="113" name="TextBox"/>
          <p:cNvSpPr txBox="1"/>
          <p:nvPr/>
        </p:nvSpPr>
        <p:spPr>
          <a:xfrm>
            <a:off x="5219700" y="872490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zh-CN" sz="750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你的作答会保留在恢复点，退出不丢</a:t>
            </a:r>
          </a:p>
        </p:txBody>
      </p:sp>
      <p:sp>
        <p:nvSpPr>
          <p:cNvPr id="114" name="TextBox"/>
          <p:cNvSpPr txBox="1"/>
          <p:nvPr/>
        </p:nvSpPr>
        <p:spPr>
          <a:xfrm>
            <a:off x="8743950" y="8715375"/>
            <a:ext cx="24689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8A827B"/>
                </a:solidFill>
                <a:latin typeface="Inter Tight"/>
                <a:ea typeface="Inter Tight"/>
                <a:cs typeface="Inter Tight"/>
              </a:rPr>
              <a:t>58 字</a:t>
            </a:r>
          </a:p>
        </p:txBody>
      </p:sp>
      <p:sp>
        <p:nvSpPr>
          <p:cNvPr id="115" name="Rectangle"/>
          <p:cNvSpPr/>
          <p:nvPr/>
        </p:nvSpPr>
        <p:spPr>
          <a:xfrm>
            <a:off x="5114925" y="8096250"/>
            <a:ext cx="3981450" cy="866775"/>
          </a:xfrm>
          <a:prstGeom prst="roundRect">
            <a:avLst>
              <a:gd name="adj" fmla="val 9890"/>
            </a:avLst>
          </a:prstGeom>
          <a:noFill/>
          <a:ln w="19050">
            <a:solidFill>
              <a:srgbClr val="B5540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6" name="Rectangle"/>
          <p:cNvSpPr/>
          <p:nvPr/>
        </p:nvSpPr>
        <p:spPr>
          <a:xfrm>
            <a:off x="5105400" y="9105900"/>
            <a:ext cx="4000500" cy="361950"/>
          </a:xfrm>
          <a:prstGeom prst="roundRect">
            <a:avLst>
              <a:gd name="adj" fmla="val 26315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Ellipse"/>
          <p:cNvSpPr/>
          <p:nvPr/>
        </p:nvSpPr>
        <p:spPr>
          <a:xfrm>
            <a:off x="5212080" y="9222105"/>
            <a:ext cx="129540" cy="129540"/>
          </a:xfrm>
          <a:prstGeom prst="ellipse">
            <a:avLst/>
          </a:prstGeom>
          <a:noFill/>
          <a:ln w="14288">
            <a:solidFill>
              <a:srgbClr val="1B4A99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8" name="Path"/>
          <p:cNvSpPr/>
          <p:nvPr/>
        </p:nvSpPr>
        <p:spPr>
          <a:xfrm>
            <a:off x="5269138" y="9248683"/>
            <a:ext cx="15424" cy="76384"/>
          </a:xfrm>
          <a:custGeom>
            <a:avLst/>
            <a:gdLst/>
            <a:ahLst/>
            <a:cxnLst/>
            <a:rect l="0" t="0" r="r" b="b"/>
            <a:pathLst>
              <a:path w="15424" h="76384">
                <a:moveTo>
                  <a:pt x="15332" y="7712"/>
                </a:moveTo>
                <a:lnTo>
                  <a:pt x="15332" y="13427"/>
                </a:lnTo>
                <a:quadBezTo>
                  <a:pt x="15424" y="16621"/>
                  <a:pt x="13100" y="18815"/>
                </a:quadBezTo>
                <a:quadBezTo>
                  <a:pt x="10906" y="21139"/>
                  <a:pt x="7712" y="21047"/>
                </a:quadBezTo>
                <a:quadBezTo>
                  <a:pt x="4518" y="21139"/>
                  <a:pt x="2324" y="18815"/>
                </a:quadBezTo>
                <a:quadBezTo>
                  <a:pt x="0" y="16621"/>
                  <a:pt x="92" y="13427"/>
                </a:quadBezTo>
                <a:lnTo>
                  <a:pt x="92" y="7712"/>
                </a:lnTo>
                <a:quadBezTo>
                  <a:pt x="0" y="4518"/>
                  <a:pt x="2324" y="2324"/>
                </a:quadBezTo>
                <a:quadBezTo>
                  <a:pt x="4518" y="0"/>
                  <a:pt x="7712" y="92"/>
                </a:quadBezTo>
                <a:quadBezTo>
                  <a:pt x="10906" y="0"/>
                  <a:pt x="13100" y="2324"/>
                </a:quadBezTo>
                <a:quadBezTo>
                  <a:pt x="15424" y="4518"/>
                  <a:pt x="15332" y="7712"/>
                </a:quadBezTo>
                <a:close/>
                <a:moveTo>
                  <a:pt x="15332" y="30572"/>
                </a:moveTo>
                <a:lnTo>
                  <a:pt x="15332" y="68672"/>
                </a:lnTo>
                <a:quadBezTo>
                  <a:pt x="15424" y="71866"/>
                  <a:pt x="13100" y="74060"/>
                </a:quadBezTo>
                <a:quadBezTo>
                  <a:pt x="10906" y="76384"/>
                  <a:pt x="7712" y="76292"/>
                </a:quadBezTo>
                <a:quadBezTo>
                  <a:pt x="4518" y="76384"/>
                  <a:pt x="2324" y="74060"/>
                </a:quadBezTo>
                <a:quadBezTo>
                  <a:pt x="0" y="71866"/>
                  <a:pt x="92" y="68672"/>
                </a:quadBezTo>
                <a:lnTo>
                  <a:pt x="92" y="30572"/>
                </a:lnTo>
                <a:quadBezTo>
                  <a:pt x="0" y="27378"/>
                  <a:pt x="2324" y="25184"/>
                </a:quadBezTo>
                <a:quadBezTo>
                  <a:pt x="4518" y="22860"/>
                  <a:pt x="7712" y="22952"/>
                </a:quadBezTo>
                <a:quadBezTo>
                  <a:pt x="10906" y="22860"/>
                  <a:pt x="13100" y="25184"/>
                </a:quadBezTo>
                <a:quadBezTo>
                  <a:pt x="15424" y="27378"/>
                  <a:pt x="15332" y="30572"/>
                </a:quadBezTo>
                <a:close/>
              </a:path>
            </a:pathLst>
          </a:custGeom>
          <a:solidFill>
            <a:srgbClr val="1B4A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Box"/>
          <p:cNvSpPr txBox="1"/>
          <p:nvPr/>
        </p:nvSpPr>
        <p:spPr>
          <a:xfrm>
            <a:off x="5429250" y="920115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1B4A99"/>
                </a:solidFill>
                <a:latin typeface="Noto Sans SC"/>
                <a:ea typeface="Noto Sans SC"/>
                <a:cs typeface="Noto Sans SC"/>
              </a:rPr>
              <a:t>无文本比对：不判大小写、同义词、逐空对齐</a:t>
            </a:r>
          </a:p>
        </p:txBody>
      </p:sp>
      <p:sp>
        <p:nvSpPr>
          <p:cNvPr id="120" name="Rectangle"/>
          <p:cNvSpPr/>
          <p:nvPr/>
        </p:nvSpPr>
        <p:spPr>
          <a:xfrm>
            <a:off x="5105400" y="9601200"/>
            <a:ext cx="4000500" cy="1228725"/>
          </a:xfrm>
          <a:prstGeom prst="roundRect">
            <a:avLst>
              <a:gd name="adj" fmla="val 9302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Box"/>
          <p:cNvSpPr txBox="1"/>
          <p:nvPr/>
        </p:nvSpPr>
        <p:spPr>
          <a:xfrm>
            <a:off x="5229225" y="972502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参考答案</a:t>
            </a:r>
          </a:p>
        </p:txBody>
      </p:sp>
      <p:sp>
        <p:nvSpPr>
          <p:cNvPr id="122" name="TextBox"/>
          <p:cNvSpPr txBox="1"/>
          <p:nvPr/>
        </p:nvSpPr>
        <p:spPr>
          <a:xfrm>
            <a:off x="5229225" y="9944100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生产经营单位应当建立全员安全生产责任制；组织安全生产教育和培训，保证从业人员具备必要的安全生产知识；保证安全生产投入；建立健全安全生产规章制度和操作规程；开展事故隐患排查治理；组织制定并实施生产安全事故应急救援预案；及时、如实报告生产安全事故。</a:t>
            </a:r>
          </a:p>
        </p:txBody>
      </p:sp>
      <p:sp>
        <p:nvSpPr>
          <p:cNvPr id="123" name="TextBox"/>
          <p:cNvSpPr txBox="1"/>
          <p:nvPr/>
        </p:nvSpPr>
        <p:spPr>
          <a:xfrm>
            <a:off x="5105400" y="10963275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对照参考答案后自评</a:t>
            </a:r>
          </a:p>
        </p:txBody>
      </p:sp>
      <p:sp>
        <p:nvSpPr>
          <p:cNvPr id="124" name="Rectangle"/>
          <p:cNvSpPr/>
          <p:nvPr/>
        </p:nvSpPr>
        <p:spPr>
          <a:xfrm>
            <a:off x="5105400" y="11210925"/>
            <a:ext cx="1957388" cy="438150"/>
          </a:xfrm>
          <a:prstGeom prst="roundRect">
            <a:avLst>
              <a:gd name="adj" fmla="val 26086"/>
            </a:avLst>
          </a:prstGeom>
          <a:solidFill>
            <a:srgbClr val="E4F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Box"/>
          <p:cNvSpPr txBox="1"/>
          <p:nvPr/>
        </p:nvSpPr>
        <p:spPr>
          <a:xfrm>
            <a:off x="5819775" y="113347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算我答对</a:t>
            </a:r>
          </a:p>
        </p:txBody>
      </p:sp>
      <p:sp>
        <p:nvSpPr>
          <p:cNvPr id="126" name="Rectangle"/>
          <p:cNvSpPr/>
          <p:nvPr/>
        </p:nvSpPr>
        <p:spPr>
          <a:xfrm>
            <a:off x="5112544" y="11218069"/>
            <a:ext cx="1943100" cy="423863"/>
          </a:xfrm>
          <a:prstGeom prst="roundRect">
            <a:avLst>
              <a:gd name="adj" fmla="val 25280"/>
            </a:avLst>
          </a:prstGeom>
          <a:noFill/>
          <a:ln w="14288">
            <a:solidFill>
              <a:srgbClr val="1F7A3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7" name="Rectangle"/>
          <p:cNvSpPr/>
          <p:nvPr/>
        </p:nvSpPr>
        <p:spPr>
          <a:xfrm>
            <a:off x="7153275" y="11210925"/>
            <a:ext cx="1957388" cy="438150"/>
          </a:xfrm>
          <a:prstGeom prst="roundRect">
            <a:avLst>
              <a:gd name="adj" fmla="val 26086"/>
            </a:avLst>
          </a:prstGeom>
          <a:solidFill>
            <a:srgbClr val="FCEB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Box"/>
          <p:cNvSpPr txBox="1"/>
          <p:nvPr/>
        </p:nvSpPr>
        <p:spPr>
          <a:xfrm>
            <a:off x="7867650" y="113347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A3221C"/>
                </a:solidFill>
                <a:latin typeface="Noto Sans SC Bold"/>
                <a:ea typeface="Noto Sans SC Bold"/>
                <a:cs typeface="Noto Sans SC Bold"/>
              </a:rPr>
              <a:t>还是答错</a:t>
            </a:r>
          </a:p>
        </p:txBody>
      </p:sp>
      <p:sp>
        <p:nvSpPr>
          <p:cNvPr id="129" name="Rectangle"/>
          <p:cNvSpPr/>
          <p:nvPr/>
        </p:nvSpPr>
        <p:spPr>
          <a:xfrm>
            <a:off x="7160419" y="11218069"/>
            <a:ext cx="1943100" cy="423863"/>
          </a:xfrm>
          <a:prstGeom prst="roundRect">
            <a:avLst>
              <a:gd name="adj" fmla="val 25280"/>
            </a:avLst>
          </a:prstGeom>
          <a:noFill/>
          <a:ln w="14288">
            <a:solidFill>
              <a:srgbClr val="C22E2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angle"/>
          <p:cNvSpPr/>
          <p:nvPr/>
        </p:nvSpPr>
        <p:spPr>
          <a:xfrm>
            <a:off x="5105400" y="11782425"/>
            <a:ext cx="4000500" cy="1095375"/>
          </a:xfrm>
          <a:prstGeom prst="roundRect">
            <a:avLst>
              <a:gd name="adj" fmla="val 8695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Box"/>
          <p:cNvSpPr txBox="1"/>
          <p:nvPr/>
        </p:nvSpPr>
        <p:spPr>
          <a:xfrm>
            <a:off x="5210175" y="118872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57504A"/>
                </a:solidFill>
                <a:latin typeface="Noto Sans SC Bold"/>
                <a:ea typeface="Noto Sans SC Bold"/>
                <a:cs typeface="Noto Sans SC Bold"/>
              </a:rPr>
              <a:t>开发要点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5210175" y="12087225"/>
            <a:ext cx="37909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文本域字号 ≥16px，防 iOS 自动缩放；提交按钮需在键盘收起后才可达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参考答案可达 300 字，完整展示不折叠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自评前必须先展示参考答案，否则用户无从判断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827B"/>
                </a:solidFill>
                <a:latin typeface="Noto Sans SC"/>
                <a:ea typeface="Noto Sans SC"/>
                <a:cs typeface="Noto Sans SC"/>
              </a:rPr>
              <a:t>· 模拟考试中交卷后转「待自评」，此时不算错、不计分</a:t>
            </a:r>
          </a:p>
        </p:txBody>
      </p:sp>
      <p:sp>
        <p:nvSpPr>
          <p:cNvPr id="133" name="Rectangle"/>
          <p:cNvSpPr/>
          <p:nvPr/>
        </p:nvSpPr>
        <p:spPr>
          <a:xfrm>
            <a:off x="4919663" y="6986588"/>
            <a:ext cx="4371975" cy="6076950"/>
          </a:xfrm>
          <a:prstGeom prst="roundRect">
            <a:avLst>
              <a:gd name="adj" fmla="val 3376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4" name="Rectangle"/>
          <p:cNvSpPr/>
          <p:nvPr/>
        </p:nvSpPr>
        <p:spPr>
          <a:xfrm>
            <a:off x="342900" y="13839825"/>
            <a:ext cx="4381500" cy="54864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"/>
          <p:cNvSpPr txBox="1"/>
          <p:nvPr/>
        </p:nvSpPr>
        <p:spPr>
          <a:xfrm>
            <a:off x="533400" y="14030325"/>
            <a:ext cx="4857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2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专项题</a:t>
            </a:r>
          </a:p>
        </p:txBody>
      </p:sp>
      <p:sp>
        <p:nvSpPr>
          <p:cNvPr id="136" name="TextBox"/>
          <p:cNvSpPr txBox="1"/>
          <p:nvPr/>
        </p:nvSpPr>
        <p:spPr>
          <a:xfrm>
            <a:off x="533400" y="14277975"/>
            <a:ext cx="12319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Inter Tight"/>
                <a:ea typeface="Inter Tight"/>
                <a:cs typeface="Inter Tight"/>
              </a:rPr>
              <a:t>special_fill_blank · 同填空题</a:t>
            </a:r>
          </a:p>
        </p:txBody>
      </p:sp>
      <p:sp>
        <p:nvSpPr>
          <p:cNvPr id="137" name="Rectangle"/>
          <p:cNvSpPr/>
          <p:nvPr/>
        </p:nvSpPr>
        <p:spPr>
          <a:xfrm>
            <a:off x="3943350" y="14116050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Box"/>
          <p:cNvSpPr txBox="1"/>
          <p:nvPr/>
        </p:nvSpPr>
        <p:spPr>
          <a:xfrm>
            <a:off x="4029075" y="1416367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1B4A99"/>
                </a:solidFill>
                <a:latin typeface="Noto Sans SC"/>
                <a:ea typeface="Noto Sans SC"/>
                <a:cs typeface="Noto Sans SC"/>
              </a:rPr>
              <a:t>用户自评</a:t>
            </a:r>
          </a:p>
        </p:txBody>
      </p:sp>
      <p:sp>
        <p:nvSpPr>
          <p:cNvPr id="139" name="TextBox"/>
          <p:cNvSpPr txBox="1"/>
          <p:nvPr/>
        </p:nvSpPr>
        <p:spPr>
          <a:xfrm>
            <a:off x="533400" y="14563725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请填写企业主要负责人安全生产责任制中，应当包括的具体内容（不少于三项）。</a:t>
            </a:r>
          </a:p>
        </p:txBody>
      </p:sp>
      <p:sp>
        <p:nvSpPr>
          <p:cNvPr id="140" name="Rectangle"/>
          <p:cNvSpPr/>
          <p:nvPr/>
        </p:nvSpPr>
        <p:spPr>
          <a:xfrm>
            <a:off x="533400" y="15192375"/>
            <a:ext cx="4000500" cy="457200"/>
          </a:xfrm>
          <a:prstGeom prst="roundRect">
            <a:avLst>
              <a:gd name="adj" fmla="val 20833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Rectangle"/>
          <p:cNvSpPr/>
          <p:nvPr/>
        </p:nvSpPr>
        <p:spPr>
          <a:xfrm>
            <a:off x="647700" y="153162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F6B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Box"/>
          <p:cNvSpPr txBox="1"/>
          <p:nvPr/>
        </p:nvSpPr>
        <p:spPr>
          <a:xfrm>
            <a:off x="733425" y="15354300"/>
            <a:ext cx="40314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825">
                <a:solidFill>
                  <a:srgbClr val="FFFFFF"/>
                </a:solidFill>
                <a:latin typeface="Inter Tight Bold"/>
                <a:ea typeface="Inter Tight Bold"/>
                <a:cs typeface="Inter Tight Bold"/>
              </a:rPr>
              <a:t>1</a:t>
            </a:r>
          </a:p>
        </p:txBody>
      </p:sp>
      <p:sp>
        <p:nvSpPr>
          <p:cNvPr id="143" name="TextBox"/>
          <p:cNvSpPr txBox="1"/>
          <p:nvPr/>
        </p:nvSpPr>
        <p:spPr>
          <a:xfrm>
            <a:off x="952500" y="153162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组织制定并实施安全生产规章制度</a:t>
            </a:r>
          </a:p>
        </p:txBody>
      </p:sp>
      <p:sp>
        <p:nvSpPr>
          <p:cNvPr id="144" name="Rectangle"/>
          <p:cNvSpPr/>
          <p:nvPr/>
        </p:nvSpPr>
        <p:spPr>
          <a:xfrm>
            <a:off x="540544" y="15199519"/>
            <a:ext cx="3986213" cy="442913"/>
          </a:xfrm>
          <a:prstGeom prst="roundRect">
            <a:avLst>
              <a:gd name="adj" fmla="val 19892"/>
            </a:avLst>
          </a:prstGeom>
          <a:noFill/>
          <a:ln w="14288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5" name="Rectangle"/>
          <p:cNvSpPr/>
          <p:nvPr/>
        </p:nvSpPr>
        <p:spPr>
          <a:xfrm>
            <a:off x="533400" y="15735300"/>
            <a:ext cx="4000500" cy="457200"/>
          </a:xfrm>
          <a:prstGeom prst="roundRect">
            <a:avLst>
              <a:gd name="adj" fmla="val 20833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Rectangle"/>
          <p:cNvSpPr/>
          <p:nvPr/>
        </p:nvSpPr>
        <p:spPr>
          <a:xfrm>
            <a:off x="647700" y="158591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4DE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Box"/>
          <p:cNvSpPr txBox="1"/>
          <p:nvPr/>
        </p:nvSpPr>
        <p:spPr>
          <a:xfrm>
            <a:off x="723900" y="15897225"/>
            <a:ext cx="6123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825">
                <a:solidFill>
                  <a:srgbClr val="6F6862"/>
                </a:solidFill>
                <a:latin typeface="Inter Tight Bold"/>
                <a:ea typeface="Inter Tight Bold"/>
                <a:cs typeface="Inter Tight Bold"/>
              </a:rPr>
              <a:t>2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952500" y="15859125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请输入…</a:t>
            </a:r>
          </a:p>
        </p:txBody>
      </p:sp>
      <p:sp>
        <p:nvSpPr>
          <p:cNvPr id="149" name="Rectangle"/>
          <p:cNvSpPr/>
          <p:nvPr/>
        </p:nvSpPr>
        <p:spPr>
          <a:xfrm>
            <a:off x="540544" y="15742444"/>
            <a:ext cx="3986213" cy="442913"/>
          </a:xfrm>
          <a:prstGeom prst="roundRect">
            <a:avLst>
              <a:gd name="adj" fmla="val 19892"/>
            </a:avLst>
          </a:prstGeom>
          <a:noFill/>
          <a:ln w="14288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0" name="Rectangle"/>
          <p:cNvSpPr/>
          <p:nvPr/>
        </p:nvSpPr>
        <p:spPr>
          <a:xfrm>
            <a:off x="533400" y="16278225"/>
            <a:ext cx="4000500" cy="457200"/>
          </a:xfrm>
          <a:prstGeom prst="roundRect">
            <a:avLst>
              <a:gd name="adj" fmla="val 20833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Rectangle"/>
          <p:cNvSpPr/>
          <p:nvPr/>
        </p:nvSpPr>
        <p:spPr>
          <a:xfrm>
            <a:off x="647700" y="16402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4DE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Box"/>
          <p:cNvSpPr txBox="1"/>
          <p:nvPr/>
        </p:nvSpPr>
        <p:spPr>
          <a:xfrm>
            <a:off x="723900" y="16440150"/>
            <a:ext cx="6435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050"/>
              </a:lnSpc>
            </a:pPr>
            <a:r>
              <a:rPr lang="en-US" sz="825">
                <a:solidFill>
                  <a:srgbClr val="6F6862"/>
                </a:solidFill>
                <a:latin typeface="Inter Tight Bold"/>
                <a:ea typeface="Inter Tight Bold"/>
                <a:cs typeface="Inter Tight Bold"/>
              </a:rPr>
              <a:t>3</a:t>
            </a:r>
          </a:p>
        </p:txBody>
      </p:sp>
      <p:sp>
        <p:nvSpPr>
          <p:cNvPr id="153" name="TextBox"/>
          <p:cNvSpPr txBox="1"/>
          <p:nvPr/>
        </p:nvSpPr>
        <p:spPr>
          <a:xfrm>
            <a:off x="952500" y="164020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请输入…</a:t>
            </a:r>
          </a:p>
        </p:txBody>
      </p:sp>
      <p:sp>
        <p:nvSpPr>
          <p:cNvPr id="154" name="Rectangle"/>
          <p:cNvSpPr/>
          <p:nvPr/>
        </p:nvSpPr>
        <p:spPr>
          <a:xfrm>
            <a:off x="540544" y="16285369"/>
            <a:ext cx="3986213" cy="442913"/>
          </a:xfrm>
          <a:prstGeom prst="roundRect">
            <a:avLst>
              <a:gd name="adj" fmla="val 19892"/>
            </a:avLst>
          </a:prstGeom>
          <a:noFill/>
          <a:ln w="14288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5" name="Rectangle"/>
          <p:cNvSpPr/>
          <p:nvPr/>
        </p:nvSpPr>
        <p:spPr>
          <a:xfrm>
            <a:off x="533400" y="16868775"/>
            <a:ext cx="4000500" cy="1038225"/>
          </a:xfrm>
          <a:prstGeom prst="roundRect">
            <a:avLst>
              <a:gd name="adj" fmla="val 11009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Box"/>
          <p:cNvSpPr txBox="1"/>
          <p:nvPr/>
        </p:nvSpPr>
        <p:spPr>
          <a:xfrm>
            <a:off x="657225" y="16992600"/>
            <a:ext cx="13417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参考答案（3 空，顺序对应）</a:t>
            </a:r>
          </a:p>
        </p:txBody>
      </p:sp>
      <p:sp>
        <p:nvSpPr>
          <p:cNvPr id="157" name="TextBox"/>
          <p:cNvSpPr txBox="1"/>
          <p:nvPr/>
        </p:nvSpPr>
        <p:spPr>
          <a:xfrm>
            <a:off x="657225" y="17211675"/>
            <a:ext cx="37528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1. 组织制定并实施安全生产规章制度与操作规程</a:t>
            </a:r>
          </a:p>
          <a:p>
            <a:pPr>
              <a:lnSpc>
                <a:spcPts val="1500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2. 组织制定并实施生产安全事故应急救援预案</a:t>
            </a:r>
          </a:p>
          <a:p>
            <a:pPr>
              <a:lnSpc>
                <a:spcPts val="1500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3. 及时、如实报告生产安全事故</a:t>
            </a:r>
          </a:p>
        </p:txBody>
      </p:sp>
      <p:sp>
        <p:nvSpPr>
          <p:cNvPr id="158" name="Rectangle"/>
          <p:cNvSpPr/>
          <p:nvPr/>
        </p:nvSpPr>
        <p:spPr>
          <a:xfrm>
            <a:off x="533400" y="18040350"/>
            <a:ext cx="4000500" cy="1095375"/>
          </a:xfrm>
          <a:prstGeom prst="roundRect">
            <a:avLst>
              <a:gd name="adj" fmla="val 8695"/>
            </a:avLst>
          </a:prstGeom>
          <a:solidFill>
            <a:srgbClr val="E8EF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Box"/>
          <p:cNvSpPr txBox="1"/>
          <p:nvPr/>
        </p:nvSpPr>
        <p:spPr>
          <a:xfrm>
            <a:off x="638175" y="18145125"/>
            <a:ext cx="11525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1B4A99"/>
                </a:solidFill>
                <a:latin typeface="Noto Sans SC Bold"/>
                <a:ea typeface="Noto Sans SC Bold"/>
                <a:cs typeface="Noto Sans SC Bold"/>
              </a:rPr>
              <a:t>与填空题共用同一套控件</a:t>
            </a:r>
          </a:p>
        </p:txBody>
      </p:sp>
      <p:sp>
        <p:nvSpPr>
          <p:cNvPr id="160" name="TextBox"/>
          <p:cNvSpPr txBox="1"/>
          <p:nvPr/>
        </p:nvSpPr>
        <p:spPr>
          <a:xfrm>
            <a:off x="638175" y="18345150"/>
            <a:ext cx="37909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答案形状与填空题完全一致，界面视觉不区分，仅题型标签不同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用序号色（蓝）区分于普通填空（琥珀），让用户知道这是另一类题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复用 FillBlank 组件，不另写一套实现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若需区分展示，在题型标签处显示「专项题」即可</a:t>
            </a:r>
          </a:p>
        </p:txBody>
      </p:sp>
      <p:sp>
        <p:nvSpPr>
          <p:cNvPr id="161" name="Rectangle"/>
          <p:cNvSpPr/>
          <p:nvPr/>
        </p:nvSpPr>
        <p:spPr>
          <a:xfrm>
            <a:off x="347663" y="13844588"/>
            <a:ext cx="4371975" cy="5476875"/>
          </a:xfrm>
          <a:prstGeom prst="roundRect">
            <a:avLst>
              <a:gd name="adj" fmla="val 3376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2" name="Rectangle"/>
          <p:cNvSpPr/>
          <p:nvPr/>
        </p:nvSpPr>
        <p:spPr>
          <a:xfrm>
            <a:off x="4914900" y="13839825"/>
            <a:ext cx="4381500" cy="4086225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Box"/>
          <p:cNvSpPr txBox="1"/>
          <p:nvPr/>
        </p:nvSpPr>
        <p:spPr>
          <a:xfrm>
            <a:off x="5105400" y="14030325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275">
                <a:solidFill>
                  <a:srgbClr val="6F6862"/>
                </a:solidFill>
                <a:latin typeface="Noto Sans SC Bold"/>
                <a:ea typeface="Noto Sans SC Bold"/>
                <a:cs typeface="Noto Sans SC Bold"/>
              </a:rPr>
              <a:t>未知题型</a:t>
            </a:r>
          </a:p>
        </p:txBody>
      </p:sp>
      <p:sp>
        <p:nvSpPr>
          <p:cNvPr id="164" name="TextBox"/>
          <p:cNvSpPr txBox="1"/>
          <p:nvPr/>
        </p:nvSpPr>
        <p:spPr>
          <a:xfrm>
            <a:off x="5105400" y="14277975"/>
            <a:ext cx="10169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Inter Tight"/>
                <a:ea typeface="Inter Tight"/>
                <a:cs typeface="Inter Tight"/>
              </a:rPr>
              <a:t>未注册标识 · 兜底只读</a:t>
            </a:r>
          </a:p>
        </p:txBody>
      </p:sp>
      <p:sp>
        <p:nvSpPr>
          <p:cNvPr id="165" name="Rectangle"/>
          <p:cNvSpPr/>
          <p:nvPr/>
        </p:nvSpPr>
        <p:spPr>
          <a:xfrm>
            <a:off x="8620125" y="14116050"/>
            <a:ext cx="485775" cy="228600"/>
          </a:xfrm>
          <a:prstGeom prst="roundRect">
            <a:avLst>
              <a:gd name="adj" fmla="val 50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Box"/>
          <p:cNvSpPr txBox="1"/>
          <p:nvPr/>
        </p:nvSpPr>
        <p:spPr>
          <a:xfrm>
            <a:off x="8705850" y="14163675"/>
            <a:ext cx="3143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125"/>
              </a:lnSpc>
            </a:pPr>
            <a:r>
              <a:rPr lang="zh-CN" sz="825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不判分</a:t>
            </a:r>
          </a:p>
        </p:txBody>
      </p:sp>
      <p:sp>
        <p:nvSpPr>
          <p:cNvPr id="167" name="Rectangle"/>
          <p:cNvSpPr/>
          <p:nvPr/>
        </p:nvSpPr>
        <p:spPr>
          <a:xfrm>
            <a:off x="5105400" y="14563725"/>
            <a:ext cx="4000500" cy="381000"/>
          </a:xfrm>
          <a:prstGeom prst="roundRect">
            <a:avLst>
              <a:gd name="adj" fmla="val 25000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Ellipse"/>
          <p:cNvSpPr/>
          <p:nvPr/>
        </p:nvSpPr>
        <p:spPr>
          <a:xfrm>
            <a:off x="5221605" y="14689455"/>
            <a:ext cx="129540" cy="129540"/>
          </a:xfrm>
          <a:prstGeom prst="ellipse">
            <a:avLst/>
          </a:prstGeom>
          <a:noFill/>
          <a:ln w="14288">
            <a:solidFill>
              <a:srgbClr val="57504A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9" name="Path"/>
          <p:cNvSpPr/>
          <p:nvPr/>
        </p:nvSpPr>
        <p:spPr>
          <a:xfrm>
            <a:off x="5278663" y="14716033"/>
            <a:ext cx="15424" cy="76384"/>
          </a:xfrm>
          <a:custGeom>
            <a:avLst/>
            <a:gdLst/>
            <a:ahLst/>
            <a:cxnLst/>
            <a:rect l="0" t="0" r="r" b="b"/>
            <a:pathLst>
              <a:path w="15424" h="76384">
                <a:moveTo>
                  <a:pt x="15332" y="7712"/>
                </a:moveTo>
                <a:lnTo>
                  <a:pt x="15332" y="13427"/>
                </a:lnTo>
                <a:quadBezTo>
                  <a:pt x="15424" y="16621"/>
                  <a:pt x="13100" y="18815"/>
                </a:quadBezTo>
                <a:quadBezTo>
                  <a:pt x="10906" y="21139"/>
                  <a:pt x="7712" y="21047"/>
                </a:quadBezTo>
                <a:quadBezTo>
                  <a:pt x="4518" y="21139"/>
                  <a:pt x="2324" y="18815"/>
                </a:quadBezTo>
                <a:quadBezTo>
                  <a:pt x="0" y="16621"/>
                  <a:pt x="92" y="13427"/>
                </a:quadBezTo>
                <a:lnTo>
                  <a:pt x="92" y="7712"/>
                </a:lnTo>
                <a:quadBezTo>
                  <a:pt x="0" y="4518"/>
                  <a:pt x="2324" y="2324"/>
                </a:quadBezTo>
                <a:quadBezTo>
                  <a:pt x="4518" y="0"/>
                  <a:pt x="7712" y="92"/>
                </a:quadBezTo>
                <a:quadBezTo>
                  <a:pt x="10906" y="0"/>
                  <a:pt x="13100" y="2324"/>
                </a:quadBezTo>
                <a:quadBezTo>
                  <a:pt x="15424" y="4518"/>
                  <a:pt x="15332" y="7712"/>
                </a:quadBezTo>
                <a:close/>
                <a:moveTo>
                  <a:pt x="15332" y="30572"/>
                </a:moveTo>
                <a:lnTo>
                  <a:pt x="15332" y="68672"/>
                </a:lnTo>
                <a:quadBezTo>
                  <a:pt x="15424" y="71866"/>
                  <a:pt x="13100" y="74060"/>
                </a:quadBezTo>
                <a:quadBezTo>
                  <a:pt x="10906" y="76384"/>
                  <a:pt x="7712" y="76292"/>
                </a:quadBezTo>
                <a:quadBezTo>
                  <a:pt x="4518" y="76384"/>
                  <a:pt x="2324" y="74060"/>
                </a:quadBezTo>
                <a:quadBezTo>
                  <a:pt x="0" y="71866"/>
                  <a:pt x="92" y="68672"/>
                </a:quadBezTo>
                <a:lnTo>
                  <a:pt x="92" y="30572"/>
                </a:lnTo>
                <a:quadBezTo>
                  <a:pt x="0" y="27378"/>
                  <a:pt x="2324" y="25184"/>
                </a:quadBezTo>
                <a:quadBezTo>
                  <a:pt x="4518" y="22860"/>
                  <a:pt x="7712" y="22952"/>
                </a:quadBezTo>
                <a:quadBezTo>
                  <a:pt x="10906" y="22860"/>
                  <a:pt x="13100" y="25184"/>
                </a:quadBezTo>
                <a:quadBezTo>
                  <a:pt x="15424" y="27378"/>
                  <a:pt x="15332" y="30572"/>
                </a:quadBezTo>
                <a:close/>
              </a:path>
            </a:pathLst>
          </a:custGeom>
          <a:solidFill>
            <a:srgbClr val="5750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Box"/>
          <p:cNvSpPr txBox="1"/>
          <p:nvPr/>
        </p:nvSpPr>
        <p:spPr>
          <a:xfrm>
            <a:off x="5438775" y="14668500"/>
            <a:ext cx="19431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latin typeface="Noto Sans SC"/>
                <a:ea typeface="Noto Sans SC"/>
                <a:cs typeface="Noto Sans SC"/>
              </a:rPr>
              <a:t>本应用不支持此题型，仅显示原始内容</a:t>
            </a:r>
          </a:p>
        </p:txBody>
      </p:sp>
      <p:sp>
        <p:nvSpPr>
          <p:cNvPr id="171" name="TextBox"/>
          <p:cNvSpPr txBox="1"/>
          <p:nvPr/>
        </p:nvSpPr>
        <p:spPr>
          <a:xfrm>
            <a:off x="5105400" y="150780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A39C95"/>
                </a:solidFill>
                <a:latin typeface="Noto Sans SC"/>
                <a:ea typeface="Noto Sans SC"/>
                <a:cs typeface="Noto Sans SC"/>
              </a:rPr>
              <a:t>题干</a:t>
            </a:r>
          </a:p>
        </p:txBody>
      </p:sp>
      <p:sp>
        <p:nvSpPr>
          <p:cNvPr id="172" name="TextBox"/>
          <p:cNvSpPr txBox="1"/>
          <p:nvPr/>
        </p:nvSpPr>
        <p:spPr>
          <a:xfrm>
            <a:off x="5105400" y="15287625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950"/>
              </a:lnSpc>
            </a:pPr>
            <a:r>
              <a:rPr lang="zh-CN" sz="1125">
                <a:solidFill>
                  <a:srgbClr val="211A15"/>
                </a:solidFill>
                <a:latin typeface="Noto Sans SC"/>
                <a:ea typeface="Noto Sans SC"/>
                <a:cs typeface="Noto Sans SC"/>
              </a:rPr>
              <a:t>下列关于安全生产责任制的说法，正确的是（　）。</a:t>
            </a:r>
          </a:p>
        </p:txBody>
      </p:sp>
      <p:sp>
        <p:nvSpPr>
          <p:cNvPr id="173" name="Rectangle"/>
          <p:cNvSpPr/>
          <p:nvPr/>
        </p:nvSpPr>
        <p:spPr>
          <a:xfrm>
            <a:off x="5105400" y="15668625"/>
            <a:ext cx="4000500" cy="666750"/>
          </a:xfrm>
          <a:prstGeom prst="roundRect">
            <a:avLst>
              <a:gd name="adj" fmla="val 17142"/>
            </a:avLst>
          </a:prstGeom>
          <a:solidFill>
            <a:srgbClr val="F8F5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Box"/>
          <p:cNvSpPr txBox="1"/>
          <p:nvPr/>
        </p:nvSpPr>
        <p:spPr>
          <a:xfrm>
            <a:off x="5229225" y="1579245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6F6862"/>
                </a:solidFill>
                <a:latin typeface="Noto Sans SC Bold"/>
                <a:ea typeface="Noto Sans SC Bold"/>
                <a:cs typeface="Noto Sans SC Bold"/>
              </a:rPr>
              <a:t>原始答案字段（原样展示，不解析）</a:t>
            </a:r>
          </a:p>
        </p:txBody>
      </p:sp>
      <p:sp>
        <p:nvSpPr>
          <p:cNvPr id="175" name="TextBox"/>
          <p:cNvSpPr txBox="1"/>
          <p:nvPr/>
        </p:nvSpPr>
        <p:spPr>
          <a:xfrm>
            <a:off x="5229225" y="16011525"/>
            <a:ext cx="2904134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en-US" sz="900">
                <a:solidFill>
                  <a:srgbClr val="3D3833"/>
                </a:solidFill>
                <a:latin typeface="Sarasa Gothic SC"/>
                <a:ea typeface="Sarasa Gothic SC"/>
                <a:cs typeface="Sarasa Gothic SC"/>
              </a:rPr>
              <a:t>{ "answer": "A", "options": ["…"], "type": "matching" }</a:t>
            </a:r>
          </a:p>
        </p:txBody>
      </p:sp>
      <p:sp>
        <p:nvSpPr>
          <p:cNvPr id="176" name="Rectangle"/>
          <p:cNvSpPr/>
          <p:nvPr/>
        </p:nvSpPr>
        <p:spPr>
          <a:xfrm>
            <a:off x="5105400" y="16468725"/>
            <a:ext cx="4000500" cy="1266825"/>
          </a:xfrm>
          <a:prstGeom prst="roundRect">
            <a:avLst>
              <a:gd name="adj" fmla="val 7518"/>
            </a:avLst>
          </a:prstGeom>
          <a:solidFill>
            <a:srgbClr val="FDF0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Box"/>
          <p:cNvSpPr txBox="1"/>
          <p:nvPr/>
        </p:nvSpPr>
        <p:spPr>
          <a:xfrm>
            <a:off x="5210175" y="16573500"/>
            <a:ext cx="9429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zh-CN" sz="825">
                <a:solidFill>
                  <a:srgbClr val="8A3D09"/>
                </a:solidFill>
                <a:latin typeface="Noto Sans SC Bold"/>
                <a:ea typeface="Noto Sans SC Bold"/>
                <a:cs typeface="Noto Sans SC Bold"/>
              </a:rPr>
              <a:t>开发要点：绝不崩溃</a:t>
            </a:r>
          </a:p>
        </p:txBody>
      </p:sp>
      <p:sp>
        <p:nvSpPr>
          <p:cNvPr id="178" name="TextBox"/>
          <p:cNvSpPr txBox="1"/>
          <p:nvPr/>
        </p:nvSpPr>
        <p:spPr>
          <a:xfrm>
            <a:off x="5210175" y="16773525"/>
            <a:ext cx="37909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· 题型注册表驱动，未注册标识走 DefaultRenderer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· 显示题干 + 答案字段原样展示，不尝试解析结构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· 不提供作答控件，不写进度、不判错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· 题型标签显示原始 type 字符串，便于用户反馈给部署者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A5A3A"/>
                </a:solidFill>
                <a:latin typeface="Noto Sans SC"/>
                <a:ea typeface="Noto Sans SC"/>
                <a:cs typeface="Noto Sans SC"/>
              </a:rPr>
              <a:t>· 未知题型不计入取题管线的题型过滤结果（除非归入「全部」）</a:t>
            </a:r>
          </a:p>
        </p:txBody>
      </p:sp>
      <p:sp>
        <p:nvSpPr>
          <p:cNvPr id="179" name="Rectangle"/>
          <p:cNvSpPr/>
          <p:nvPr/>
        </p:nvSpPr>
        <p:spPr>
          <a:xfrm>
            <a:off x="4919663" y="13844588"/>
            <a:ext cx="4371975" cy="4076700"/>
          </a:xfrm>
          <a:prstGeom prst="roundRect">
            <a:avLst>
              <a:gd name="adj" fmla="val 3621"/>
            </a:avLst>
          </a:prstGeom>
          <a:noFill/>
          <a:ln w="9525">
            <a:solidFill>
              <a:srgbClr val="E3DED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0" name="Rectangle"/>
          <p:cNvSpPr/>
          <p:nvPr/>
        </p:nvSpPr>
        <p:spPr>
          <a:xfrm>
            <a:off x="342900" y="19516725"/>
            <a:ext cx="8953500" cy="4124325"/>
          </a:xfrm>
          <a:prstGeom prst="roundRect">
            <a:avLst>
              <a:gd name="adj" fmla="val 369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Box"/>
          <p:cNvSpPr txBox="1"/>
          <p:nvPr/>
        </p:nvSpPr>
        <p:spPr>
          <a:xfrm>
            <a:off x="533400" y="19707225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zh-CN" sz="1275">
                <a:solidFill>
                  <a:srgbClr val="211A15"/>
                </a:solidFill>
                <a:latin typeface="Noto Sans SC Bold"/>
                <a:ea typeface="Noto Sans SC Bold"/>
                <a:cs typeface="Noto Sans SC Bold"/>
              </a:rPr>
              <a:t>共享判分结果组件</a:t>
            </a:r>
          </a:p>
        </p:txBody>
      </p:sp>
      <p:sp>
        <p:nvSpPr>
          <p:cNvPr id="182" name="TextBox"/>
          <p:cNvSpPr txBox="1"/>
          <p:nvPr/>
        </p:nvSpPr>
        <p:spPr>
          <a:xfrm>
            <a:off x="533400" y="19973925"/>
            <a:ext cx="552709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6F6862"/>
                </a:solidFill>
                <a:latin typeface="Noto Sans SC"/>
                <a:ea typeface="Noto Sans SC"/>
                <a:cs typeface="Noto Sans SC"/>
              </a:rPr>
              <a:t>判断 / 单选 / 多选共用同一组件，仅判分逻辑不同。答错必须停在本题直到用户看懂——这是本产品的硬要求。</a:t>
            </a:r>
          </a:p>
        </p:txBody>
      </p:sp>
      <p:sp>
        <p:nvSpPr>
          <p:cNvPr id="183" name="Rectangle"/>
          <p:cNvSpPr/>
          <p:nvPr/>
        </p:nvSpPr>
        <p:spPr>
          <a:xfrm>
            <a:off x="533400" y="20316825"/>
            <a:ext cx="2768600" cy="1266825"/>
          </a:xfrm>
          <a:prstGeom prst="roundRect">
            <a:avLst>
              <a:gd name="adj" fmla="val 9022"/>
            </a:avLst>
          </a:prstGeom>
          <a:solidFill>
            <a:srgbClr val="EDF7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Rectangle"/>
          <p:cNvSpPr/>
          <p:nvPr/>
        </p:nvSpPr>
        <p:spPr>
          <a:xfrm>
            <a:off x="666750" y="20450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Path"/>
          <p:cNvSpPr/>
          <p:nvPr/>
        </p:nvSpPr>
        <p:spPr>
          <a:xfrm>
            <a:off x="731864" y="20524738"/>
            <a:ext cx="106068" cy="79398"/>
          </a:xfrm>
          <a:custGeom>
            <a:avLst/>
            <a:gdLst/>
            <a:ahLst/>
            <a:cxnLst/>
            <a:rect l="0" t="0" r="r" b="b"/>
            <a:pathLst>
              <a:path w="106068" h="79398">
                <a:moveTo>
                  <a:pt x="18831" y="31992"/>
                </a:moveTo>
                <a:lnTo>
                  <a:pt x="39529" y="52689"/>
                </a:lnTo>
                <a:lnTo>
                  <a:pt x="87030" y="3549"/>
                </a:lnTo>
                <a:quadBezTo>
                  <a:pt x="90127" y="156"/>
                  <a:pt x="94720" y="210"/>
                </a:quadBezTo>
                <a:quadBezTo>
                  <a:pt x="99309" y="0"/>
                  <a:pt x="102519" y="3287"/>
                </a:quadBezTo>
                <a:quadBezTo>
                  <a:pt x="105912" y="6383"/>
                  <a:pt x="105858" y="10977"/>
                </a:quadBezTo>
                <a:quadBezTo>
                  <a:pt x="106068" y="15566"/>
                  <a:pt x="102782" y="18775"/>
                </a:quadBezTo>
                <a:lnTo>
                  <a:pt x="47537" y="75925"/>
                </a:lnTo>
                <a:quadBezTo>
                  <a:pt x="47504" y="75959"/>
                  <a:pt x="47472" y="75992"/>
                </a:quadBezTo>
                <a:quadBezTo>
                  <a:pt x="47439" y="76025"/>
                  <a:pt x="47406" y="76058"/>
                </a:quadBezTo>
                <a:quadBezTo>
                  <a:pt x="44253" y="79398"/>
                  <a:pt x="39661" y="79266"/>
                </a:quadBezTo>
                <a:quadBezTo>
                  <a:pt x="35069" y="79398"/>
                  <a:pt x="31915" y="76058"/>
                </a:quadBezTo>
                <a:lnTo>
                  <a:pt x="3340" y="47483"/>
                </a:lnTo>
                <a:quadBezTo>
                  <a:pt x="0" y="44329"/>
                  <a:pt x="132" y="39737"/>
                </a:quadBezTo>
                <a:quadBezTo>
                  <a:pt x="0" y="35145"/>
                  <a:pt x="3340" y="31992"/>
                </a:quadBezTo>
                <a:quadBezTo>
                  <a:pt x="6494" y="28651"/>
                  <a:pt x="11086" y="28783"/>
                </a:quadBezTo>
                <a:quadBezTo>
                  <a:pt x="15678" y="28651"/>
                  <a:pt x="18831" y="31992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Box"/>
          <p:cNvSpPr txBox="1"/>
          <p:nvPr/>
        </p:nvSpPr>
        <p:spPr>
          <a:xfrm>
            <a:off x="981075" y="20469225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14602D"/>
                </a:solidFill>
                <a:latin typeface="Noto Sans SC Bold"/>
                <a:ea typeface="Noto Sans SC Bold"/>
                <a:cs typeface="Noto Sans SC Bold"/>
              </a:rPr>
              <a:t>答对了</a:t>
            </a:r>
          </a:p>
        </p:txBody>
      </p:sp>
      <p:sp>
        <p:nvSpPr>
          <p:cNvPr id="187" name="TextBox"/>
          <p:cNvSpPr txBox="1"/>
          <p:nvPr/>
        </p:nvSpPr>
        <p:spPr>
          <a:xfrm>
            <a:off x="666750" y="20764500"/>
            <a:ext cx="25019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2A6046"/>
                </a:solidFill>
                <a:latin typeface="Noto Sans SC"/>
                <a:ea typeface="Noto Sans SC"/>
                <a:cs typeface="Noto Sans SC"/>
              </a:rPr>
              <a:t>· 进度表：次数+1、连对+1、重排下次复习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6046"/>
                </a:solidFill>
                <a:latin typeface="Noto Sans SC"/>
                <a:ea typeface="Noto Sans SC"/>
                <a:cs typeface="Noto Sans SC"/>
              </a:rPr>
              <a:t>· 不进错题本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6046"/>
                </a:solidFill>
                <a:latin typeface="Noto Sans SC"/>
                <a:ea typeface="Noto Sans SC"/>
                <a:cs typeface="Noto Sans SC"/>
              </a:rPr>
              <a:t>· 连对达3 → 需复习；达 5 → 已掌握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6046"/>
                </a:solidFill>
                <a:latin typeface="Noto Sans SC"/>
                <a:ea typeface="Noto Sans SC"/>
                <a:cs typeface="Noto Sans SC"/>
              </a:rPr>
              <a:t>· 自动前进，停留 0.6 秒（分类考试）</a:t>
            </a:r>
          </a:p>
        </p:txBody>
      </p:sp>
      <p:sp>
        <p:nvSpPr>
          <p:cNvPr id="188" name="Rectangle"/>
          <p:cNvSpPr/>
          <p:nvPr/>
        </p:nvSpPr>
        <p:spPr>
          <a:xfrm>
            <a:off x="540544" y="20323969"/>
            <a:ext cx="2754312" cy="1252538"/>
          </a:xfrm>
          <a:prstGeom prst="roundRect">
            <a:avLst>
              <a:gd name="adj" fmla="val 8555"/>
            </a:avLst>
          </a:prstGeom>
          <a:noFill/>
          <a:ln w="14288">
            <a:solidFill>
              <a:srgbClr val="1F7A3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9" name="Rectangle"/>
          <p:cNvSpPr/>
          <p:nvPr/>
        </p:nvSpPr>
        <p:spPr>
          <a:xfrm>
            <a:off x="3438525" y="20316825"/>
            <a:ext cx="2768600" cy="1438275"/>
          </a:xfrm>
          <a:prstGeom prst="roundRect">
            <a:avLst>
              <a:gd name="adj" fmla="val 7947"/>
            </a:avLst>
          </a:prstGeom>
          <a:solidFill>
            <a:srgbClr val="FDF4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Rectangle"/>
          <p:cNvSpPr/>
          <p:nvPr/>
        </p:nvSpPr>
        <p:spPr>
          <a:xfrm>
            <a:off x="3571875" y="20450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22E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Path"/>
          <p:cNvSpPr/>
          <p:nvPr/>
        </p:nvSpPr>
        <p:spPr>
          <a:xfrm>
            <a:off x="3646514" y="20524812"/>
            <a:ext cx="86942" cy="86942"/>
          </a:xfrm>
          <a:custGeom>
            <a:avLst/>
            <a:gdLst/>
            <a:ahLst/>
            <a:cxnLst/>
            <a:rect l="0" t="0" r="r" b="b"/>
            <a:pathLst>
              <a:path w="86942" h="86942">
                <a:moveTo>
                  <a:pt x="83601" y="18831"/>
                </a:moveTo>
                <a:lnTo>
                  <a:pt x="58962" y="43471"/>
                </a:lnTo>
                <a:lnTo>
                  <a:pt x="83601" y="68110"/>
                </a:lnTo>
                <a:quadBezTo>
                  <a:pt x="86942" y="71264"/>
                  <a:pt x="86810" y="75856"/>
                </a:quadBezTo>
                <a:quadBezTo>
                  <a:pt x="86942" y="80448"/>
                  <a:pt x="83601" y="83601"/>
                </a:quadBezTo>
                <a:quadBezTo>
                  <a:pt x="80448" y="86942"/>
                  <a:pt x="75856" y="86810"/>
                </a:quadBezTo>
                <a:quadBezTo>
                  <a:pt x="71264" y="86942"/>
                  <a:pt x="68110" y="83601"/>
                </a:quadBezTo>
                <a:lnTo>
                  <a:pt x="43471" y="58962"/>
                </a:lnTo>
                <a:lnTo>
                  <a:pt x="18831" y="83601"/>
                </a:lnTo>
                <a:quadBezTo>
                  <a:pt x="15678" y="86942"/>
                  <a:pt x="11086" y="86810"/>
                </a:quadBezTo>
                <a:quadBezTo>
                  <a:pt x="6494" y="86942"/>
                  <a:pt x="3340" y="83601"/>
                </a:quadBezTo>
                <a:quadBezTo>
                  <a:pt x="0" y="80448"/>
                  <a:pt x="132" y="75856"/>
                </a:quadBezTo>
                <a:quadBezTo>
                  <a:pt x="0" y="71264"/>
                  <a:pt x="3340" y="68110"/>
                </a:quadBezTo>
                <a:lnTo>
                  <a:pt x="27980" y="43471"/>
                </a:lnTo>
                <a:lnTo>
                  <a:pt x="3340" y="18831"/>
                </a:lnTo>
                <a:quadBezTo>
                  <a:pt x="0" y="15678"/>
                  <a:pt x="132" y="11086"/>
                </a:quadBezTo>
                <a:quadBezTo>
                  <a:pt x="0" y="6494"/>
                  <a:pt x="3340" y="3340"/>
                </a:quadBezTo>
                <a:quadBezTo>
                  <a:pt x="6494" y="0"/>
                  <a:pt x="11086" y="132"/>
                </a:quadBezTo>
                <a:quadBezTo>
                  <a:pt x="15678" y="0"/>
                  <a:pt x="18831" y="3340"/>
                </a:quadBezTo>
                <a:lnTo>
                  <a:pt x="43471" y="27980"/>
                </a:lnTo>
                <a:lnTo>
                  <a:pt x="68110" y="3340"/>
                </a:lnTo>
                <a:quadBezTo>
                  <a:pt x="71264" y="0"/>
                  <a:pt x="75856" y="132"/>
                </a:quadBezTo>
                <a:quadBezTo>
                  <a:pt x="80448" y="0"/>
                  <a:pt x="83601" y="3340"/>
                </a:quadBezTo>
                <a:quadBezTo>
                  <a:pt x="86942" y="6494"/>
                  <a:pt x="86810" y="11086"/>
                </a:quadBezTo>
                <a:quadBezTo>
                  <a:pt x="86942" y="15678"/>
                  <a:pt x="83601" y="18831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Box"/>
          <p:cNvSpPr txBox="1"/>
          <p:nvPr/>
        </p:nvSpPr>
        <p:spPr>
          <a:xfrm>
            <a:off x="3886200" y="20469225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A3221C"/>
                </a:solidFill>
                <a:latin typeface="Noto Sans SC Bold"/>
                <a:ea typeface="Noto Sans SC Bold"/>
                <a:cs typeface="Noto Sans SC Bold"/>
              </a:rPr>
              <a:t>答错了</a:t>
            </a:r>
          </a:p>
        </p:txBody>
      </p:sp>
      <p:sp>
        <p:nvSpPr>
          <p:cNvPr id="193" name="TextBox"/>
          <p:cNvSpPr txBox="1"/>
          <p:nvPr/>
        </p:nvSpPr>
        <p:spPr>
          <a:xfrm>
            <a:off x="3571875" y="20764500"/>
            <a:ext cx="25019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8E3A34"/>
                </a:solidFill>
                <a:latin typeface="Noto Sans SC"/>
                <a:ea typeface="Noto Sans SC"/>
                <a:cs typeface="Noto Sans SC"/>
              </a:rPr>
              <a:t>· 进度表：连对归零、退回learning、下次复习=立即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E3A34"/>
                </a:solidFill>
                <a:latin typeface="Noto Sans SC"/>
                <a:ea typeface="Noto Sans SC"/>
                <a:cs typeface="Noto Sans SC"/>
              </a:rPr>
              <a:t>· 进错题本（按 gid 全局去重，重复入本状态打回 new）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E3A34"/>
                </a:solidFill>
                <a:latin typeface="Noto Sans SC"/>
                <a:ea typeface="Noto Sans SC"/>
                <a:cs typeface="Noto Sans SC"/>
              </a:rPr>
              <a:t>· 已掌握的题降级为 review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8E3A34"/>
                </a:solidFill>
                <a:latin typeface="Noto Sans SC"/>
                <a:ea typeface="Noto Sans SC"/>
                <a:cs typeface="Noto Sans SC"/>
              </a:rPr>
              <a:t>· 立即展示正确答案与解析，停在本题不自动前进</a:t>
            </a:r>
          </a:p>
        </p:txBody>
      </p:sp>
      <p:sp>
        <p:nvSpPr>
          <p:cNvPr id="194" name="Rectangle"/>
          <p:cNvSpPr/>
          <p:nvPr/>
        </p:nvSpPr>
        <p:spPr>
          <a:xfrm>
            <a:off x="3445669" y="20323969"/>
            <a:ext cx="2754312" cy="1423988"/>
          </a:xfrm>
          <a:prstGeom prst="roundRect">
            <a:avLst>
              <a:gd name="adj" fmla="val 7525"/>
            </a:avLst>
          </a:prstGeom>
          <a:noFill/>
          <a:ln w="14288">
            <a:solidFill>
              <a:srgbClr val="C22E2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5" name="Rectangle"/>
          <p:cNvSpPr/>
          <p:nvPr/>
        </p:nvSpPr>
        <p:spPr>
          <a:xfrm>
            <a:off x="6334125" y="20316825"/>
            <a:ext cx="2768600" cy="1266825"/>
          </a:xfrm>
          <a:prstGeom prst="roundRect">
            <a:avLst>
              <a:gd name="adj" fmla="val 9022"/>
            </a:avLst>
          </a:prstGeom>
          <a:solidFill>
            <a:srgbClr val="F3F7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Rectangle"/>
          <p:cNvSpPr/>
          <p:nvPr/>
        </p:nvSpPr>
        <p:spPr>
          <a:xfrm>
            <a:off x="6467475" y="20450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F6B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Ellipse"/>
          <p:cNvSpPr/>
          <p:nvPr/>
        </p:nvSpPr>
        <p:spPr>
          <a:xfrm>
            <a:off x="6543675" y="20526375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Box"/>
          <p:cNvSpPr txBox="1"/>
          <p:nvPr/>
        </p:nvSpPr>
        <p:spPr>
          <a:xfrm>
            <a:off x="6781800" y="20469225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1050">
                <a:solidFill>
                  <a:srgbClr val="1B4A99"/>
                </a:solidFill>
                <a:latin typeface="Noto Sans SC Bold"/>
                <a:ea typeface="Noto Sans SC Bold"/>
                <a:cs typeface="Noto Sans SC Bold"/>
              </a:rPr>
              <a:t>待自评</a:t>
            </a:r>
          </a:p>
        </p:txBody>
      </p:sp>
      <p:sp>
        <p:nvSpPr>
          <p:cNvPr id="199" name="TextBox"/>
          <p:cNvSpPr txBox="1"/>
          <p:nvPr/>
        </p:nvSpPr>
        <p:spPr>
          <a:xfrm>
            <a:off x="6467475" y="20764500"/>
            <a:ext cx="25019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此刻不算错、不计分、不写进度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模拟考试交卷后主观题进入此状态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成绩页逐题对照参考答案评定后才计入</a:t>
            </a:r>
          </a:p>
          <a:p>
            <a:pPr>
              <a:lnSpc>
                <a:spcPts val="1350"/>
              </a:lnSpc>
            </a:pPr>
            <a:r>
              <a:rPr lang="zh-CN" sz="825">
                <a:solidFill>
                  <a:srgbClr val="2A5499"/>
                </a:solidFill>
                <a:latin typeface="Noto Sans SC"/>
                <a:ea typeface="Noto Sans SC"/>
                <a:cs typeface="Noto Sans SC"/>
              </a:rPr>
              <a:t>· 不计入正确率分母（分母=已判分题数）</a:t>
            </a:r>
          </a:p>
        </p:txBody>
      </p:sp>
      <p:sp>
        <p:nvSpPr>
          <p:cNvPr id="200" name="Rectangle"/>
          <p:cNvSpPr/>
          <p:nvPr/>
        </p:nvSpPr>
        <p:spPr>
          <a:xfrm>
            <a:off x="6341269" y="20323969"/>
            <a:ext cx="2754312" cy="1252538"/>
          </a:xfrm>
          <a:prstGeom prst="roundRect">
            <a:avLst>
              <a:gd name="adj" fmla="val 8555"/>
            </a:avLst>
          </a:prstGeom>
          <a:noFill/>
          <a:ln w="14288">
            <a:solidFill>
              <a:srgbClr val="2E6BD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1" name="Rectangle"/>
          <p:cNvSpPr/>
          <p:nvPr/>
        </p:nvSpPr>
        <p:spPr>
          <a:xfrm>
            <a:off x="533400" y="21907500"/>
            <a:ext cx="8572500" cy="1543050"/>
          </a:xfrm>
          <a:prstGeom prst="roundRect">
            <a:avLst>
              <a:gd name="adj" fmla="val 7407"/>
            </a:avLst>
          </a:prstGeom>
          <a:solidFill>
            <a:srgbClr val="F3EF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Box"/>
          <p:cNvSpPr txBox="1"/>
          <p:nvPr/>
        </p:nvSpPr>
        <p:spPr>
          <a:xfrm>
            <a:off x="676275" y="22050375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57504A"/>
                </a:solidFill>
                <a:latin typeface="Noto Sans SC Bold"/>
                <a:ea typeface="Noto Sans SC Bold"/>
                <a:cs typeface="Noto Sans SC Bold"/>
              </a:rPr>
              <a:t>判分逻辑（全局唯一口径，不得产生第二套实现）</a:t>
            </a:r>
          </a:p>
        </p:txBody>
      </p:sp>
      <p:sp>
        <p:nvSpPr>
          <p:cNvPr id="203" name="TextBox"/>
          <p:cNvSpPr txBox="1"/>
          <p:nvPr/>
        </p:nvSpPr>
        <p:spPr>
          <a:xfrm>
            <a:off x="676275" y="22307550"/>
            <a:ext cx="828675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75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判断：所选布尔与标准一致 → 对；未作答 → 错（不送分）</a:t>
            </a:r>
          </a:p>
          <a:p>
            <a:pPr>
              <a:lnSpc>
                <a:spcPts val="1575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单选：所选字母与标准全等 → 对；未作答 → 错</a:t>
            </a:r>
          </a:p>
          <a:p>
            <a:pPr>
              <a:lnSpc>
                <a:spcPts val="1575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多选：所选字母集合排序后全等 → 对；未作答 → 错；漏选、多选、错选均算整题错，无部分给分</a:t>
            </a:r>
          </a:p>
          <a:p>
            <a:pPr>
              <a:lnSpc>
                <a:spcPts val="1575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异常：答案形状不合约定时按空集处理，该题永远判错，但不崩溃</a:t>
            </a:r>
          </a:p>
          <a:p>
            <a:pPr>
              <a:lnSpc>
                <a:spcPts val="1575"/>
              </a:lnSpc>
            </a:pPr>
            <a:r>
              <a:rPr lang="zh-CN" sz="900">
                <a:solidFill>
                  <a:srgbClr val="3D3833"/>
                </a:solidFill>
                <a:latin typeface="Noto Sans SC"/>
                <a:ea typeface="Noto Sans SC"/>
                <a:cs typeface="Noto Sans SC"/>
              </a:rPr>
              <a:t>填空 / 问答 / 专项：无判分逻辑，一律用户自评</a:t>
            </a:r>
          </a:p>
        </p:txBody>
      </p:sp>
      <p:sp>
        <p:nvSpPr>
          <p:cNvPr id="204" name="Rectangle"/>
          <p:cNvSpPr/>
          <p:nvPr/>
        </p:nvSpPr>
        <p:spPr>
          <a:xfrm>
            <a:off x="347663" y="19521488"/>
            <a:ext cx="8943975" cy="4114800"/>
          </a:xfrm>
          <a:prstGeom prst="roundRect">
            <a:avLst>
              <a:gd name="adj" fmla="val 3587"/>
            </a:avLst>
          </a:prstGeom>
          <a:noFill/>
          <a:ln w="9525">
            <a:solidFill>
              <a:srgbClr val="E8E3D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13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